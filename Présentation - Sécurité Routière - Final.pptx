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70" r:id="rId4"/>
    <p:sldId id="259" r:id="rId5"/>
    <p:sldId id="272" r:id="rId6"/>
    <p:sldId id="273" r:id="rId7"/>
    <p:sldId id="260" r:id="rId8"/>
    <p:sldId id="261" r:id="rId9"/>
    <p:sldId id="263" r:id="rId10"/>
    <p:sldId id="265" r:id="rId11"/>
    <p:sldId id="266" r:id="rId12"/>
    <p:sldId id="267" r:id="rId13"/>
    <p:sldId id="268" r:id="rId14"/>
    <p:sldId id="269" r:id="rId15"/>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hF72hTUZuHk4f7Kg/0xBqhr8A67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Merieux" userId="5067b3df0a83f218" providerId="LiveId" clId="{68BDDC16-0242-43AD-A5CF-C0C7FD622F7F}"/>
    <pc:docChg chg="undo custSel addSld modSld sldOrd">
      <pc:chgData name="Paul Merieux" userId="5067b3df0a83f218" providerId="LiveId" clId="{68BDDC16-0242-43AD-A5CF-C0C7FD622F7F}" dt="2026-07-06T11:02:08.881" v="84" actId="5793"/>
      <pc:docMkLst>
        <pc:docMk/>
      </pc:docMkLst>
      <pc:sldChg chg="modSp mod">
        <pc:chgData name="Paul Merieux" userId="5067b3df0a83f218" providerId="LiveId" clId="{68BDDC16-0242-43AD-A5CF-C0C7FD622F7F}" dt="2026-07-06T10:43:56.619" v="1" actId="20577"/>
        <pc:sldMkLst>
          <pc:docMk/>
          <pc:sldMk cId="0" sldId="256"/>
        </pc:sldMkLst>
        <pc:spChg chg="mod">
          <ac:chgData name="Paul Merieux" userId="5067b3df0a83f218" providerId="LiveId" clId="{68BDDC16-0242-43AD-A5CF-C0C7FD622F7F}" dt="2026-07-06T10:43:56.619" v="1" actId="20577"/>
          <ac:spMkLst>
            <pc:docMk/>
            <pc:sldMk cId="0" sldId="256"/>
            <ac:spMk id="18" creationId="{00000000-0000-0000-0000-000000000000}"/>
          </ac:spMkLst>
        </pc:spChg>
      </pc:sldChg>
      <pc:sldChg chg="addSp delSp modSp mod">
        <pc:chgData name="Paul Merieux" userId="5067b3df0a83f218" providerId="LiveId" clId="{68BDDC16-0242-43AD-A5CF-C0C7FD622F7F}" dt="2026-07-06T10:50:35.905" v="31" actId="1076"/>
        <pc:sldMkLst>
          <pc:docMk/>
          <pc:sldMk cId="0" sldId="260"/>
        </pc:sldMkLst>
        <pc:spChg chg="add del mod">
          <ac:chgData name="Paul Merieux" userId="5067b3df0a83f218" providerId="LiveId" clId="{68BDDC16-0242-43AD-A5CF-C0C7FD622F7F}" dt="2026-07-06T10:44:08.319" v="5" actId="478"/>
          <ac:spMkLst>
            <pc:docMk/>
            <pc:sldMk cId="0" sldId="260"/>
            <ac:spMk id="3" creationId="{E6668F71-9B07-8D07-0DDF-75A495460D8F}"/>
          </ac:spMkLst>
        </pc:spChg>
        <pc:grpChg chg="del">
          <ac:chgData name="Paul Merieux" userId="5067b3df0a83f218" providerId="LiveId" clId="{68BDDC16-0242-43AD-A5CF-C0C7FD622F7F}" dt="2026-07-06T10:50:30.784" v="28" actId="478"/>
          <ac:grpSpMkLst>
            <pc:docMk/>
            <pc:sldMk cId="0" sldId="260"/>
            <ac:grpSpMk id="131" creationId="{00000000-0000-0000-0000-000000000000}"/>
          </ac:grpSpMkLst>
        </pc:grpChg>
        <pc:grpChg chg="del">
          <ac:chgData name="Paul Merieux" userId="5067b3df0a83f218" providerId="LiveId" clId="{68BDDC16-0242-43AD-A5CF-C0C7FD622F7F}" dt="2026-07-06T10:50:05.199" v="24" actId="478"/>
          <ac:grpSpMkLst>
            <pc:docMk/>
            <pc:sldMk cId="0" sldId="260"/>
            <ac:grpSpMk id="134" creationId="{00000000-0000-0000-0000-000000000000}"/>
          </ac:grpSpMkLst>
        </pc:grpChg>
        <pc:picChg chg="add mod">
          <ac:chgData name="Paul Merieux" userId="5067b3df0a83f218" providerId="LiveId" clId="{68BDDC16-0242-43AD-A5CF-C0C7FD622F7F}" dt="2026-07-06T10:50:09.954" v="27" actId="1076"/>
          <ac:picMkLst>
            <pc:docMk/>
            <pc:sldMk cId="0" sldId="260"/>
            <ac:picMk id="5" creationId="{ADA05021-F759-0779-E17D-0E7BE5CD1C45}"/>
          </ac:picMkLst>
        </pc:picChg>
        <pc:picChg chg="add mod">
          <ac:chgData name="Paul Merieux" userId="5067b3df0a83f218" providerId="LiveId" clId="{68BDDC16-0242-43AD-A5CF-C0C7FD622F7F}" dt="2026-07-06T10:50:35.905" v="31" actId="1076"/>
          <ac:picMkLst>
            <pc:docMk/>
            <pc:sldMk cId="0" sldId="260"/>
            <ac:picMk id="7" creationId="{3B105513-1BBB-6F71-C7EC-46D668FF80D0}"/>
          </ac:picMkLst>
        </pc:picChg>
      </pc:sldChg>
      <pc:sldChg chg="modSp mod">
        <pc:chgData name="Paul Merieux" userId="5067b3df0a83f218" providerId="LiveId" clId="{68BDDC16-0242-43AD-A5CF-C0C7FD622F7F}" dt="2026-07-06T10:57:37.318" v="32" actId="13926"/>
        <pc:sldMkLst>
          <pc:docMk/>
          <pc:sldMk cId="0" sldId="263"/>
        </pc:sldMkLst>
        <pc:spChg chg="mod">
          <ac:chgData name="Paul Merieux" userId="5067b3df0a83f218" providerId="LiveId" clId="{68BDDC16-0242-43AD-A5CF-C0C7FD622F7F}" dt="2026-07-06T10:57:37.318" v="32" actId="13926"/>
          <ac:spMkLst>
            <pc:docMk/>
            <pc:sldMk cId="0" sldId="263"/>
            <ac:spMk id="223" creationId="{00000000-0000-0000-0000-000000000000}"/>
          </ac:spMkLst>
        </pc:spChg>
      </pc:sldChg>
      <pc:sldChg chg="modSp mod">
        <pc:chgData name="Paul Merieux" userId="5067b3df0a83f218" providerId="LiveId" clId="{68BDDC16-0242-43AD-A5CF-C0C7FD622F7F}" dt="2026-07-06T11:00:18.444" v="77" actId="20577"/>
        <pc:sldMkLst>
          <pc:docMk/>
          <pc:sldMk cId="0" sldId="267"/>
        </pc:sldMkLst>
        <pc:spChg chg="mod">
          <ac:chgData name="Paul Merieux" userId="5067b3df0a83f218" providerId="LiveId" clId="{68BDDC16-0242-43AD-A5CF-C0C7FD622F7F}" dt="2026-07-06T11:00:18.444" v="77" actId="20577"/>
          <ac:spMkLst>
            <pc:docMk/>
            <pc:sldMk cId="0" sldId="267"/>
            <ac:spMk id="304" creationId="{00000000-0000-0000-0000-000000000000}"/>
          </ac:spMkLst>
        </pc:spChg>
        <pc:spChg chg="mod">
          <ac:chgData name="Paul Merieux" userId="5067b3df0a83f218" providerId="LiveId" clId="{68BDDC16-0242-43AD-A5CF-C0C7FD622F7F}" dt="2026-07-06T11:00:02.695" v="34" actId="20577"/>
          <ac:spMkLst>
            <pc:docMk/>
            <pc:sldMk cId="0" sldId="267"/>
            <ac:spMk id="305" creationId="{00000000-0000-0000-0000-000000000000}"/>
          </ac:spMkLst>
        </pc:spChg>
      </pc:sldChg>
      <pc:sldChg chg="modSp mod">
        <pc:chgData name="Paul Merieux" userId="5067b3df0a83f218" providerId="LiveId" clId="{68BDDC16-0242-43AD-A5CF-C0C7FD622F7F}" dt="2026-07-06T11:00:37.098" v="81" actId="20577"/>
        <pc:sldMkLst>
          <pc:docMk/>
          <pc:sldMk cId="0" sldId="268"/>
        </pc:sldMkLst>
        <pc:spChg chg="mod">
          <ac:chgData name="Paul Merieux" userId="5067b3df0a83f218" providerId="LiveId" clId="{68BDDC16-0242-43AD-A5CF-C0C7FD622F7F}" dt="2026-07-06T11:00:37.098" v="81" actId="20577"/>
          <ac:spMkLst>
            <pc:docMk/>
            <pc:sldMk cId="0" sldId="268"/>
            <ac:spMk id="325" creationId="{00000000-0000-0000-0000-000000000000}"/>
          </ac:spMkLst>
        </pc:spChg>
      </pc:sldChg>
      <pc:sldChg chg="modSp mod">
        <pc:chgData name="Paul Merieux" userId="5067b3df0a83f218" providerId="LiveId" clId="{68BDDC16-0242-43AD-A5CF-C0C7FD622F7F}" dt="2026-07-06T11:02:08.881" v="84" actId="5793"/>
        <pc:sldMkLst>
          <pc:docMk/>
          <pc:sldMk cId="2721376558" sldId="270"/>
        </pc:sldMkLst>
        <pc:spChg chg="mod">
          <ac:chgData name="Paul Merieux" userId="5067b3df0a83f218" providerId="LiveId" clId="{68BDDC16-0242-43AD-A5CF-C0C7FD622F7F}" dt="2026-07-06T11:02:08.881" v="84" actId="5793"/>
          <ac:spMkLst>
            <pc:docMk/>
            <pc:sldMk cId="2721376558" sldId="270"/>
            <ac:spMk id="6" creationId="{7E025537-3A91-6017-6FB6-BF03A6544262}"/>
          </ac:spMkLst>
        </pc:spChg>
      </pc:sldChg>
      <pc:sldChg chg="addSp delSp modSp add mod ord modAnim">
        <pc:chgData name="Paul Merieux" userId="5067b3df0a83f218" providerId="LiveId" clId="{68BDDC16-0242-43AD-A5CF-C0C7FD622F7F}" dt="2026-07-06T10:49:41.480" v="23"/>
        <pc:sldMkLst>
          <pc:docMk/>
          <pc:sldMk cId="4289208017" sldId="273"/>
        </pc:sldMkLst>
        <pc:spChg chg="del">
          <ac:chgData name="Paul Merieux" userId="5067b3df0a83f218" providerId="LiveId" clId="{68BDDC16-0242-43AD-A5CF-C0C7FD622F7F}" dt="2026-07-06T10:44:17.474" v="13" actId="478"/>
          <ac:spMkLst>
            <pc:docMk/>
            <pc:sldMk cId="4289208017" sldId="273"/>
            <ac:spMk id="138" creationId="{00000000-0000-0000-0000-000000000000}"/>
          </ac:spMkLst>
        </pc:spChg>
        <pc:spChg chg="del mod">
          <ac:chgData name="Paul Merieux" userId="5067b3df0a83f218" providerId="LiveId" clId="{68BDDC16-0242-43AD-A5CF-C0C7FD622F7F}" dt="2026-07-06T10:44:16.507" v="12" actId="478"/>
          <ac:spMkLst>
            <pc:docMk/>
            <pc:sldMk cId="4289208017" sldId="273"/>
            <ac:spMk id="139" creationId="{00000000-0000-0000-0000-000000000000}"/>
          </ac:spMkLst>
        </pc:spChg>
        <pc:grpChg chg="del">
          <ac:chgData name="Paul Merieux" userId="5067b3df0a83f218" providerId="LiveId" clId="{68BDDC16-0242-43AD-A5CF-C0C7FD622F7F}" dt="2026-07-06T10:44:14.638" v="8" actId="478"/>
          <ac:grpSpMkLst>
            <pc:docMk/>
            <pc:sldMk cId="4289208017" sldId="273"/>
            <ac:grpSpMk id="131" creationId="{00000000-0000-0000-0000-000000000000}"/>
          </ac:grpSpMkLst>
        </pc:grpChg>
        <pc:grpChg chg="del mod">
          <ac:chgData name="Paul Merieux" userId="5067b3df0a83f218" providerId="LiveId" clId="{68BDDC16-0242-43AD-A5CF-C0C7FD622F7F}" dt="2026-07-06T10:44:15.066" v="10" actId="478"/>
          <ac:grpSpMkLst>
            <pc:docMk/>
            <pc:sldMk cId="4289208017" sldId="273"/>
            <ac:grpSpMk id="134" creationId="{00000000-0000-0000-0000-000000000000}"/>
          </ac:grpSpMkLst>
        </pc:grpChg>
        <pc:picChg chg="add mod">
          <ac:chgData name="Paul Merieux" userId="5067b3df0a83f218" providerId="LiveId" clId="{68BDDC16-0242-43AD-A5CF-C0C7FD622F7F}" dt="2026-07-06T10:48:56.587" v="21" actId="14100"/>
          <ac:picMkLst>
            <pc:docMk/>
            <pc:sldMk cId="4289208017" sldId="273"/>
            <ac:picMk id="2" creationId="{FF1C2DA5-8C3A-E562-9E7C-8234EBC0387A}"/>
          </ac:picMkLst>
        </pc:picChg>
        <pc:picChg chg="del">
          <ac:chgData name="Paul Merieux" userId="5067b3df0a83f218" providerId="LiveId" clId="{68BDDC16-0242-43AD-A5CF-C0C7FD622F7F}" dt="2026-07-06T10:44:14.233" v="7" actId="478"/>
          <ac:picMkLst>
            <pc:docMk/>
            <pc:sldMk cId="4289208017" sldId="273"/>
            <ac:picMk id="129" creationId="{00000000-0000-0000-0000-000000000000}"/>
          </ac:picMkLst>
        </pc:picChg>
        <pc:picChg chg="del">
          <ac:chgData name="Paul Merieux" userId="5067b3df0a83f218" providerId="LiveId" clId="{68BDDC16-0242-43AD-A5CF-C0C7FD622F7F}" dt="2026-07-06T10:44:17.992" v="14" actId="478"/>
          <ac:picMkLst>
            <pc:docMk/>
            <pc:sldMk cId="4289208017" sldId="273"/>
            <ac:picMk id="14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onisr.securite-routiere.gouv.fr/accuei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onisr.securite-routiere.gouv.fr/accueil"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 name="Google Shape;23;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4" name="Google Shape;24;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 name="Google Shape;23;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4" name="Google Shape;24;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849499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d91b19f9f7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 name="Google Shape;74;g3d91b19f9f7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BAAC : </a:t>
            </a:r>
            <a:r>
              <a:rPr lang="en-US" sz="1050" b="1">
                <a:solidFill>
                  <a:srgbClr val="767676"/>
                </a:solidFill>
                <a:highlight>
                  <a:srgbClr val="FFFFFF"/>
                </a:highlight>
              </a:rPr>
              <a:t>fichier national des accidents corporels de la circulation</a:t>
            </a:r>
            <a:r>
              <a:rPr lang="en-US">
                <a:solidFill>
                  <a:schemeClr val="dk1"/>
                </a:solidFill>
              </a:rPr>
              <a:t>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ONIR : </a:t>
            </a:r>
            <a:r>
              <a:rPr lang="en-US" sz="1500" u="sng">
                <a:solidFill>
                  <a:srgbClr val="1A0DAB"/>
                </a:solidFill>
                <a:highlight>
                  <a:srgbClr val="FFFFFF"/>
                </a:highlight>
                <a:hlinkClick r:id="rId3">
                  <a:extLst>
                    <a:ext uri="{A12FA001-AC4F-418D-AE19-62706E023703}">
                      <ahyp:hlinkClr xmlns:ahyp="http://schemas.microsoft.com/office/drawing/2018/hyperlinkcolor" val="tx"/>
                    </a:ext>
                  </a:extLst>
                </a:hlinkClick>
              </a:rPr>
              <a:t>Observatoire national interministériel de la sécurité routière</a:t>
            </a:r>
            <a:endParaRPr sz="1500" u="sng">
              <a:solidFill>
                <a:srgbClr val="1A0DAB"/>
              </a:solidFill>
              <a:highlight>
                <a:srgbClr val="FFFFFF"/>
              </a:highlight>
              <a:hlinkClick r:id="rId3">
                <a:extLst>
                  <a:ext uri="{A12FA001-AC4F-418D-AE19-62706E023703}">
                    <ahyp:hlinkClr xmlns:ahyp="http://schemas.microsoft.com/office/drawing/2018/hyperlinkcolor" val="tx"/>
                  </a:ext>
                </a:extLst>
              </a:hlinkClick>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solidFill>
                <a:schemeClr val="dk1"/>
              </a:solidFill>
            </a:endParaRPr>
          </a:p>
        </p:txBody>
      </p:sp>
      <p:sp>
        <p:nvSpPr>
          <p:cNvPr id="75" name="Google Shape;75;g3d91b19f9f7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d91b19f9f7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 name="Google Shape;74;g3d91b19f9f7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BAAC : </a:t>
            </a:r>
            <a:r>
              <a:rPr lang="en-US" sz="1050" b="1">
                <a:solidFill>
                  <a:srgbClr val="767676"/>
                </a:solidFill>
                <a:highlight>
                  <a:srgbClr val="FFFFFF"/>
                </a:highlight>
              </a:rPr>
              <a:t>fichier national des accidents corporels de la circulation</a:t>
            </a:r>
            <a:r>
              <a:rPr lang="en-US">
                <a:solidFill>
                  <a:schemeClr val="dk1"/>
                </a:solidFill>
              </a:rPr>
              <a:t>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ONIR : </a:t>
            </a:r>
            <a:r>
              <a:rPr lang="en-US" sz="1500" u="sng">
                <a:solidFill>
                  <a:srgbClr val="1A0DAB"/>
                </a:solidFill>
                <a:highlight>
                  <a:srgbClr val="FFFFFF"/>
                </a:highlight>
                <a:hlinkClick r:id="rId3">
                  <a:extLst>
                    <a:ext uri="{A12FA001-AC4F-418D-AE19-62706E023703}">
                      <ahyp:hlinkClr xmlns:ahyp="http://schemas.microsoft.com/office/drawing/2018/hyperlinkcolor" val="tx"/>
                    </a:ext>
                  </a:extLst>
                </a:hlinkClick>
              </a:rPr>
              <a:t>Observatoire national interministériel de la sécurité routière</a:t>
            </a:r>
            <a:endParaRPr sz="1500" u="sng">
              <a:solidFill>
                <a:srgbClr val="1A0DAB"/>
              </a:solidFill>
              <a:highlight>
                <a:srgbClr val="FFFFFF"/>
              </a:highlight>
              <a:hlinkClick r:id="rId3">
                <a:extLst>
                  <a:ext uri="{A12FA001-AC4F-418D-AE19-62706E023703}">
                    <ahyp:hlinkClr xmlns:ahyp="http://schemas.microsoft.com/office/drawing/2018/hyperlinkcolor" val="tx"/>
                  </a:ext>
                </a:extLst>
              </a:hlinkClick>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solidFill>
                <a:schemeClr val="dk1"/>
              </a:solidFill>
            </a:endParaRPr>
          </a:p>
        </p:txBody>
      </p:sp>
      <p:sp>
        <p:nvSpPr>
          <p:cNvPr id="75" name="Google Shape;75;g3d91b19f9f7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567747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00"/>
              </a:spcBef>
              <a:spcAft>
                <a:spcPts val="0"/>
              </a:spcAft>
              <a:buClr>
                <a:schemeClr val="dk1"/>
              </a:buClr>
              <a:buSzPts val="1100"/>
              <a:buFont typeface="Arial"/>
              <a:buNone/>
            </a:pPr>
            <a:r>
              <a:rPr lang="en-US" sz="1100">
                <a:solidFill>
                  <a:schemeClr val="dk1"/>
                </a:solidFill>
              </a:rPr>
              <a:t>Nous avons créé un rapport Power BI basé sur une architecture en étoile, avec deux onglets : une vue globale et une vue prévention. Les deux sont interactifs et permettent aux acteurs de la sécurité routière d'accéder rapidement aux informations qui les concernent. Pour notre analyse, nous avons choisi de nous focaliser sur les conducteurs, ce qui nous permet d'avoir une lecture plus ciblée et plus actionnable.</a:t>
            </a:r>
            <a:endParaRPr sz="1100">
              <a:solidFill>
                <a:schemeClr val="dk1"/>
              </a:solidFill>
            </a:endParaRPr>
          </a:p>
          <a:p>
            <a:pPr marL="0" lvl="0" indent="0" algn="l" rtl="0">
              <a:spcBef>
                <a:spcPts val="600"/>
              </a:spcBef>
              <a:spcAft>
                <a:spcPts val="0"/>
              </a:spcAft>
              <a:buClr>
                <a:schemeClr val="dk1"/>
              </a:buClr>
              <a:buSzPts val="1100"/>
              <a:buFont typeface="Arial"/>
              <a:buNone/>
            </a:pPr>
            <a:endParaRPr sz="1100">
              <a:solidFill>
                <a:schemeClr val="dk1"/>
              </a:solidFill>
            </a:endParaRPr>
          </a:p>
          <a:p>
            <a:pPr marL="0" lvl="0" indent="0" algn="l" rtl="0">
              <a:spcBef>
                <a:spcPts val="600"/>
              </a:spcBef>
              <a:spcAft>
                <a:spcPts val="0"/>
              </a:spcAft>
              <a:buClr>
                <a:schemeClr val="dk1"/>
              </a:buClr>
              <a:buSzPts val="1100"/>
              <a:buFont typeface="Arial"/>
              <a:buNone/>
            </a:pPr>
            <a:endParaRPr sz="1100">
              <a:solidFill>
                <a:schemeClr val="dk1"/>
              </a:solidFill>
            </a:endParaRPr>
          </a:p>
          <a:p>
            <a:pPr marL="0" lvl="0" indent="0" algn="l" rtl="0">
              <a:lnSpc>
                <a:spcPct val="100000"/>
              </a:lnSpc>
              <a:spcBef>
                <a:spcPts val="600"/>
              </a:spcBef>
              <a:spcAft>
                <a:spcPts val="0"/>
              </a:spcAft>
              <a:buClr>
                <a:schemeClr val="dk1"/>
              </a:buClr>
              <a:buSzPts val="1100"/>
              <a:buFont typeface="Arial"/>
              <a:buNone/>
            </a:pPr>
            <a:endParaRPr sz="1100">
              <a:solidFill>
                <a:schemeClr val="dk1"/>
              </a:solidFill>
            </a:endParaRPr>
          </a:p>
          <a:p>
            <a:pPr marL="0" marR="0" lvl="0" indent="0" algn="l" rtl="0">
              <a:spcBef>
                <a:spcPts val="600"/>
              </a:spcBef>
              <a:spcAft>
                <a:spcPts val="0"/>
              </a:spcAft>
              <a:buClr>
                <a:schemeClr val="dk1"/>
              </a:buClr>
              <a:buSzPts val="1200"/>
              <a:buFont typeface="Arial"/>
              <a:buNone/>
            </a:pPr>
            <a:endParaRPr sz="1200">
              <a:solidFill>
                <a:schemeClr val="dk1"/>
              </a:solidFill>
            </a:endParaRPr>
          </a:p>
        </p:txBody>
      </p:sp>
      <p:sp>
        <p:nvSpPr>
          <p:cNvPr id="127" name="Google Shape;12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800"/>
              <a:buFont typeface="Arial"/>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124431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00"/>
              </a:spcBef>
              <a:spcAft>
                <a:spcPts val="0"/>
              </a:spcAft>
              <a:buClr>
                <a:schemeClr val="dk1"/>
              </a:buClr>
              <a:buSzPts val="1100"/>
              <a:buFont typeface="Arial"/>
              <a:buNone/>
            </a:pPr>
            <a:r>
              <a:rPr lang="en-US" sz="1100">
                <a:solidFill>
                  <a:schemeClr val="dk1"/>
                </a:solidFill>
              </a:rPr>
              <a:t>Nous avons créé un rapport Power BI basé sur une architecture en étoile, avec deux onglets : une vue globale et une vue prévention. Les deux sont interactifs et permettent aux acteurs de la sécurité routière d'accéder rapidement aux informations qui les concernent. Pour notre analyse, nous avons choisi de nous focaliser sur les conducteurs, ce qui nous permet d'avoir une lecture plus ciblée et plus actionnable.</a:t>
            </a:r>
            <a:endParaRPr sz="1100">
              <a:solidFill>
                <a:schemeClr val="dk1"/>
              </a:solidFill>
            </a:endParaRPr>
          </a:p>
          <a:p>
            <a:pPr marL="0" lvl="0" indent="0" algn="l" rtl="0">
              <a:spcBef>
                <a:spcPts val="600"/>
              </a:spcBef>
              <a:spcAft>
                <a:spcPts val="0"/>
              </a:spcAft>
              <a:buClr>
                <a:schemeClr val="dk1"/>
              </a:buClr>
              <a:buSzPts val="1100"/>
              <a:buFont typeface="Arial"/>
              <a:buNone/>
            </a:pPr>
            <a:endParaRPr sz="1100">
              <a:solidFill>
                <a:schemeClr val="dk1"/>
              </a:solidFill>
            </a:endParaRPr>
          </a:p>
          <a:p>
            <a:pPr marL="0" lvl="0" indent="0" algn="l" rtl="0">
              <a:spcBef>
                <a:spcPts val="600"/>
              </a:spcBef>
              <a:spcAft>
                <a:spcPts val="0"/>
              </a:spcAft>
              <a:buClr>
                <a:schemeClr val="dk1"/>
              </a:buClr>
              <a:buSzPts val="1100"/>
              <a:buFont typeface="Arial"/>
              <a:buNone/>
            </a:pPr>
            <a:endParaRPr sz="1100">
              <a:solidFill>
                <a:schemeClr val="dk1"/>
              </a:solidFill>
            </a:endParaRPr>
          </a:p>
          <a:p>
            <a:pPr marL="0" lvl="0" indent="0" algn="l" rtl="0">
              <a:lnSpc>
                <a:spcPct val="100000"/>
              </a:lnSpc>
              <a:spcBef>
                <a:spcPts val="600"/>
              </a:spcBef>
              <a:spcAft>
                <a:spcPts val="0"/>
              </a:spcAft>
              <a:buClr>
                <a:schemeClr val="dk1"/>
              </a:buClr>
              <a:buSzPts val="1100"/>
              <a:buFont typeface="Arial"/>
              <a:buNone/>
            </a:pPr>
            <a:endParaRPr sz="1100">
              <a:solidFill>
                <a:schemeClr val="dk1"/>
              </a:solidFill>
            </a:endParaRPr>
          </a:p>
          <a:p>
            <a:pPr marL="0" marR="0" lvl="0" indent="0" algn="l" rtl="0">
              <a:spcBef>
                <a:spcPts val="600"/>
              </a:spcBef>
              <a:spcAft>
                <a:spcPts val="0"/>
              </a:spcAft>
              <a:buClr>
                <a:schemeClr val="dk1"/>
              </a:buClr>
              <a:buSzPts val="1200"/>
              <a:buFont typeface="Arial"/>
              <a:buNone/>
            </a:pPr>
            <a:endParaRPr sz="1200">
              <a:solidFill>
                <a:schemeClr val="dk1"/>
              </a:solidFill>
            </a:endParaRPr>
          </a:p>
        </p:txBody>
      </p:sp>
      <p:sp>
        <p:nvSpPr>
          <p:cNvPr id="127" name="Google Shape;12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800"/>
              <a:buFont typeface="Arial"/>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d96eeb11c7_0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5" name="Google Shape;145;g3d96eeb11c7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6" name="Google Shape;146;g3d96eeb11c7_0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d96eeb11c7_0_10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3" name="Google Shape;193;g3d96eeb11c7_0_10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1100">
                <a:solidFill>
                  <a:schemeClr val="dk1"/>
                </a:solidFill>
              </a:rPr>
              <a:t>Commençons par regarder où et quand ont lieux les accidents graves.</a:t>
            </a:r>
            <a:endParaRPr sz="1100">
              <a:solidFill>
                <a:schemeClr val="dk1"/>
              </a:solidFill>
            </a:endParaRPr>
          </a:p>
          <a:p>
            <a:pPr marL="0" lvl="0" indent="0" algn="l" rtl="0">
              <a:spcBef>
                <a:spcPts val="0"/>
              </a:spcBef>
              <a:spcAft>
                <a:spcPts val="0"/>
              </a:spcAft>
              <a:buClr>
                <a:schemeClr val="dk1"/>
              </a:buClr>
              <a:buFont typeface="Arial"/>
              <a:buNone/>
            </a:pPr>
            <a:r>
              <a:rPr lang="en-US" sz="1100">
                <a:solidFill>
                  <a:schemeClr val="dk1"/>
                </a:solidFill>
              </a:rPr>
              <a:t> </a:t>
            </a:r>
            <a:br>
              <a:rPr lang="en-US" sz="1100">
                <a:solidFill>
                  <a:schemeClr val="dk1"/>
                </a:solidFill>
              </a:rPr>
            </a:br>
            <a:r>
              <a:rPr lang="en-US" sz="1100">
                <a:solidFill>
                  <a:schemeClr val="dk1"/>
                </a:solidFill>
              </a:rPr>
              <a:t>On vois ici qu’ils surviennent majoritairement pendant nos loisirs et nos promenades la ou la gravité augmente pour ce type de deplacement de </a:t>
            </a:r>
            <a:r>
              <a:rPr lang="en-US" sz="1100" b="1">
                <a:solidFill>
                  <a:schemeClr val="dk1"/>
                </a:solidFill>
              </a:rPr>
              <a:t>43 %</a:t>
            </a:r>
            <a:r>
              <a:rPr lang="en-US" sz="1100">
                <a:solidFill>
                  <a:schemeClr val="dk1"/>
                </a:solidFill>
              </a:rPr>
              <a:t> . </a:t>
            </a:r>
            <a:br>
              <a:rPr lang="en-US" sz="1100">
                <a:solidFill>
                  <a:schemeClr val="dk1"/>
                </a:solidFill>
              </a:rPr>
            </a:br>
            <a:br>
              <a:rPr lang="en-US" sz="1100">
                <a:solidFill>
                  <a:schemeClr val="dk1"/>
                </a:solidFill>
              </a:rPr>
            </a:br>
            <a:r>
              <a:rPr lang="en-US" sz="1100">
                <a:solidFill>
                  <a:schemeClr val="dk1"/>
                </a:solidFill>
              </a:rPr>
              <a:t>Et ça s’aggrave encore pendant les week-ends ou les vacances où la gravité des risques d’accidents grave bondit de d’environ </a:t>
            </a:r>
            <a:r>
              <a:rPr lang="en-US" sz="1100" b="1">
                <a:solidFill>
                  <a:schemeClr val="dk1"/>
                </a:solidFill>
              </a:rPr>
              <a:t>20 %</a:t>
            </a:r>
            <a:r>
              <a:rPr lang="en-US" sz="1100">
                <a:solidFill>
                  <a:schemeClr val="dk1"/>
                </a:solidFill>
              </a:rPr>
              <a:t>.</a:t>
            </a:r>
            <a:br>
              <a:rPr lang="en-US" sz="1100">
                <a:solidFill>
                  <a:schemeClr val="dk1"/>
                </a:solidFill>
              </a:rPr>
            </a:br>
            <a:endParaRPr sz="1100">
              <a:solidFill>
                <a:schemeClr val="dk1"/>
              </a:solidFill>
            </a:endParaRPr>
          </a:p>
          <a:p>
            <a:pPr marL="0" lvl="0" indent="0" algn="l" rtl="0">
              <a:spcBef>
                <a:spcPts val="0"/>
              </a:spcBef>
              <a:spcAft>
                <a:spcPts val="0"/>
              </a:spcAft>
              <a:buClr>
                <a:schemeClr val="dk1"/>
              </a:buClr>
              <a:buFont typeface="Arial"/>
              <a:buNone/>
            </a:pPr>
            <a:r>
              <a:rPr lang="en-US" sz="1100">
                <a:solidFill>
                  <a:schemeClr val="dk1"/>
                </a:solidFill>
              </a:rPr>
              <a:t>C’est précisément au moment où l’on se relâche que le risque, lui, continue d'augmenter. </a:t>
            </a:r>
            <a:endParaRPr sz="1200">
              <a:solidFill>
                <a:schemeClr val="dk1"/>
              </a:solidFill>
            </a:endParaRPr>
          </a:p>
          <a:p>
            <a:pPr marL="0" marR="0" lvl="0" indent="0" algn="l" rtl="0">
              <a:spcBef>
                <a:spcPts val="0"/>
              </a:spcBef>
              <a:spcAft>
                <a:spcPts val="0"/>
              </a:spcAft>
              <a:buNone/>
            </a:pPr>
            <a:endParaRPr sz="1200">
              <a:solidFill>
                <a:schemeClr val="dk1"/>
              </a:solidFill>
            </a:endParaRPr>
          </a:p>
        </p:txBody>
      </p:sp>
      <p:sp>
        <p:nvSpPr>
          <p:cNvPr id="194" name="Google Shape;194;g3d96eeb11c7_0_10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6" name="Google Shape;236;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a:solidFill>
                  <a:schemeClr val="dk1"/>
                </a:solidFill>
              </a:rPr>
              <a:t>D’un côté les jeunes de moins de</a:t>
            </a:r>
            <a:r>
              <a:rPr lang="en-US" sz="1100" b="1">
                <a:solidFill>
                  <a:schemeClr val="dk1"/>
                </a:solidFill>
              </a:rPr>
              <a:t> 18 ans</a:t>
            </a:r>
            <a:r>
              <a:rPr lang="en-US" sz="1100">
                <a:solidFill>
                  <a:schemeClr val="dk1"/>
                </a:solidFill>
              </a:rPr>
              <a:t>, souvent moins expérimentés, et de l’autre les </a:t>
            </a:r>
            <a:r>
              <a:rPr lang="en-US" sz="1100" b="1">
                <a:solidFill>
                  <a:schemeClr val="dk1"/>
                </a:solidFill>
              </a:rPr>
              <a:t>seniors de plus de 65 ans</a:t>
            </a:r>
            <a:r>
              <a:rPr lang="en-US" sz="1100">
                <a:solidFill>
                  <a:schemeClr val="dk1"/>
                </a:solidFill>
              </a:rPr>
              <a:t> qui certe plus expérimenté, sont eux, beaucoup plus fragiles physiquement. </a:t>
            </a:r>
            <a:endParaRPr sz="1100">
              <a:solidFill>
                <a:schemeClr val="dk1"/>
              </a:solidFill>
            </a:endParaRPr>
          </a:p>
          <a:p>
            <a:pPr marL="0" marR="0" lvl="0" indent="0" algn="l" rtl="0">
              <a:spcBef>
                <a:spcPts val="0"/>
              </a:spcBef>
              <a:spcAft>
                <a:spcPts val="0"/>
              </a:spcAft>
              <a:buNone/>
            </a:pPr>
            <a:endParaRPr sz="1100">
              <a:solidFill>
                <a:schemeClr val="dk1"/>
              </a:solidFill>
            </a:endParaRPr>
          </a:p>
          <a:p>
            <a:pPr marL="0" marR="0" lvl="0" indent="0" algn="l" rtl="0">
              <a:spcBef>
                <a:spcPts val="0"/>
              </a:spcBef>
              <a:spcAft>
                <a:spcPts val="0"/>
              </a:spcAft>
              <a:buNone/>
            </a:pPr>
            <a:r>
              <a:rPr lang="en-US" sz="1100">
                <a:solidFill>
                  <a:schemeClr val="dk1"/>
                </a:solidFill>
              </a:rPr>
              <a:t>On noteras aussi , qu’en plus de ces caractéristiques, les hommes ont un sur-risque de </a:t>
            </a:r>
            <a:r>
              <a:rPr lang="en-US" sz="1100" b="1">
                <a:solidFill>
                  <a:schemeClr val="dk1"/>
                </a:solidFill>
              </a:rPr>
              <a:t>45 %</a:t>
            </a:r>
            <a:r>
              <a:rPr lang="en-US" sz="1100">
                <a:solidFill>
                  <a:schemeClr val="dk1"/>
                </a:solidFill>
              </a:rPr>
              <a:t> d’implication dans un accident grave.</a:t>
            </a:r>
            <a:endParaRPr sz="1100">
              <a:solidFill>
                <a:schemeClr val="dk1"/>
              </a:solidFill>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37" name="Google Shape;237;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d96eeb11c7_0_5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6" name="Google Shape;256;g3d96eeb11c7_0_5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a:solidFill>
                  <a:schemeClr val="dk1"/>
                </a:solidFill>
              </a:rPr>
              <a:t>Et enfin, le facteur réduisant significativement les risques : l'équipement. </a:t>
            </a:r>
            <a:endParaRPr sz="1100">
              <a:solidFill>
                <a:schemeClr val="dk1"/>
              </a:solidFill>
            </a:endParaRPr>
          </a:p>
          <a:p>
            <a:pPr marL="0" marR="0" lvl="0" indent="0" algn="l" rtl="0">
              <a:spcBef>
                <a:spcPts val="0"/>
              </a:spcBef>
              <a:spcAft>
                <a:spcPts val="0"/>
              </a:spcAft>
              <a:buNone/>
            </a:pPr>
            <a:r>
              <a:rPr lang="en-US" sz="1100">
                <a:solidFill>
                  <a:schemeClr val="dk1"/>
                </a:solidFill>
              </a:rPr>
              <a:t>Boucler sa ceinture, c’est </a:t>
            </a:r>
            <a:r>
              <a:rPr lang="en-US" sz="1100" b="1">
                <a:solidFill>
                  <a:schemeClr val="dk1"/>
                </a:solidFill>
              </a:rPr>
              <a:t>67 %</a:t>
            </a:r>
            <a:r>
              <a:rPr lang="en-US" sz="1100">
                <a:solidFill>
                  <a:schemeClr val="dk1"/>
                </a:solidFill>
              </a:rPr>
              <a:t> de risque en moins. </a:t>
            </a:r>
            <a:endParaRPr sz="1100">
              <a:solidFill>
                <a:schemeClr val="dk1"/>
              </a:solidFill>
            </a:endParaRPr>
          </a:p>
          <a:p>
            <a:pPr marL="0" marR="0" lvl="0" indent="0" algn="l" rtl="0">
              <a:spcBef>
                <a:spcPts val="0"/>
              </a:spcBef>
              <a:spcAft>
                <a:spcPts val="0"/>
              </a:spcAft>
              <a:buNone/>
            </a:pPr>
            <a:r>
              <a:rPr lang="en-US" sz="1100">
                <a:solidFill>
                  <a:schemeClr val="dk1"/>
                </a:solidFill>
              </a:rPr>
              <a:t>C'est indispensable. Mais la plus grande vulnérabilité est sur deux roues qui eux n’ont pas d’acier pour les proteger.</a:t>
            </a:r>
            <a:endParaRPr sz="1100">
              <a:solidFill>
                <a:schemeClr val="dk1"/>
              </a:solidFill>
            </a:endParaRPr>
          </a:p>
          <a:p>
            <a:pPr marL="0" marR="0" lvl="0" indent="0" algn="l" rtl="0">
              <a:spcBef>
                <a:spcPts val="0"/>
              </a:spcBef>
              <a:spcAft>
                <a:spcPts val="0"/>
              </a:spcAft>
              <a:buNone/>
            </a:pPr>
            <a:endParaRPr sz="1100">
              <a:solidFill>
                <a:schemeClr val="dk1"/>
              </a:solidFill>
            </a:endParaRPr>
          </a:p>
          <a:p>
            <a:pPr marL="0" marR="0" lvl="0" indent="0" algn="l" rtl="0">
              <a:spcBef>
                <a:spcPts val="0"/>
              </a:spcBef>
              <a:spcAft>
                <a:spcPts val="0"/>
              </a:spcAft>
              <a:buNone/>
            </a:pPr>
            <a:r>
              <a:rPr lang="en-US" sz="1100">
                <a:solidFill>
                  <a:schemeClr val="dk1"/>
                </a:solidFill>
              </a:rPr>
              <a:t>Le taux de gravité pour les grosses motos atteint </a:t>
            </a:r>
            <a:r>
              <a:rPr lang="en-US" sz="1100" b="1">
                <a:solidFill>
                  <a:schemeClr val="dk1"/>
                </a:solidFill>
              </a:rPr>
              <a:t>42 %</a:t>
            </a:r>
            <a:r>
              <a:rPr lang="en-US" sz="1100">
                <a:solidFill>
                  <a:schemeClr val="dk1"/>
                </a:solidFill>
              </a:rPr>
              <a:t>, c’est </a:t>
            </a:r>
            <a:r>
              <a:rPr lang="en-US" sz="1100" b="1">
                <a:solidFill>
                  <a:schemeClr val="dk1"/>
                </a:solidFill>
              </a:rPr>
              <a:t>trois fois plus élevé</a:t>
            </a:r>
            <a:r>
              <a:rPr lang="en-US" sz="1100">
                <a:solidFill>
                  <a:schemeClr val="dk1"/>
                </a:solidFill>
              </a:rPr>
              <a:t> qu’en voiture.</a:t>
            </a:r>
            <a:endParaRPr sz="1100">
              <a:solidFill>
                <a:schemeClr val="dk1"/>
              </a:solidFill>
            </a:endParaRPr>
          </a:p>
          <a:p>
            <a:pPr marL="0" marR="0" lvl="0" indent="0" algn="l" rtl="0">
              <a:spcBef>
                <a:spcPts val="0"/>
              </a:spcBef>
              <a:spcAft>
                <a:spcPts val="0"/>
              </a:spcAft>
              <a:buNone/>
            </a:pPr>
            <a:endParaRPr sz="1100">
              <a:solidFill>
                <a:schemeClr val="dk1"/>
              </a:solidFill>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57" name="Google Shape;257;g3d96eeb11c7_0_5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d91b19f9f7_4_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3" name="Google Shape;293;g3d91b19f9f7_4_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SzPts val="1100"/>
              <a:buNone/>
            </a:pPr>
            <a:r>
              <a:rPr lang="en-US" sz="1100">
                <a:solidFill>
                  <a:schemeClr val="dk1"/>
                </a:solidFill>
              </a:rPr>
              <a:t>Notre analyse nous permet de formuler 4 recommandations concrètes au gouvernement.</a:t>
            </a:r>
            <a:endParaRPr sz="1100">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en-US" sz="1100">
                <a:solidFill>
                  <a:schemeClr val="dk1"/>
                </a:solidFill>
              </a:rPr>
              <a:t>D'abord, </a:t>
            </a:r>
            <a:r>
              <a:rPr lang="en-US" sz="1100" b="1">
                <a:solidFill>
                  <a:schemeClr val="dk1"/>
                </a:solidFill>
              </a:rPr>
              <a:t>renforcer la sensibilisation sur les populations à risque</a:t>
            </a:r>
            <a:r>
              <a:rPr lang="en-US" sz="1100">
                <a:solidFill>
                  <a:schemeClr val="dk1"/>
                </a:solidFill>
              </a:rPr>
              <a:t>. Pour les jeunes 15-25 ans, il s'agit de canaliser la prise de risque : formation, prévention alcool-drogue-fatigue, réduction des distractions comme le téléphone, gestion de l'influence du groupe. Pour les seniors 65 ans et plus, on anticipe le déclin des capacités : bilans de conduite réguliers, adaptation des trajets, aménagement du véhicule, suivi médical. Et pour les motards, réduire leur vulnérabilité structurelle : meilleure formation, visibilité, protection individuelle et maîtrise des conditions difficiles.</a:t>
            </a:r>
            <a:endParaRPr sz="1100">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en-US" sz="1100">
                <a:solidFill>
                  <a:schemeClr val="dk1"/>
                </a:solidFill>
              </a:rPr>
              <a:t>Ensuite, </a:t>
            </a:r>
            <a:r>
              <a:rPr lang="en-US" sz="1100" b="1">
                <a:solidFill>
                  <a:schemeClr val="dk1"/>
                </a:solidFill>
              </a:rPr>
              <a:t>renforcer les infrastructures</a:t>
            </a:r>
            <a:r>
              <a:rPr lang="en-US" sz="1100">
                <a:solidFill>
                  <a:schemeClr val="dk1"/>
                </a:solidFill>
              </a:rPr>
              <a:t> : éclairage dans les zones sombres, glissières préventives, et suppression des arbres sur les axes les plus accidentogènes.</a:t>
            </a:r>
            <a:endParaRPr sz="1100">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en-US" sz="1100">
                <a:solidFill>
                  <a:schemeClr val="dk1"/>
                </a:solidFill>
              </a:rPr>
              <a:t>Troisièmement, </a:t>
            </a:r>
            <a:r>
              <a:rPr lang="en-US" sz="1100" b="1">
                <a:solidFill>
                  <a:schemeClr val="dk1"/>
                </a:solidFill>
              </a:rPr>
              <a:t>des campagnes chocs ciblées</a:t>
            </a:r>
            <a:r>
              <a:rPr lang="en-US" sz="1100">
                <a:solidFill>
                  <a:schemeClr val="dk1"/>
                </a:solidFill>
              </a:rPr>
              <a:t> sur les moments les plus dangereux : entre 0h et 5h, pic de gravité. Les weekends, les vacances scolaires, les sorties étudiantes. Des interventions directement aux abords des bars et des lieux de sortie.</a:t>
            </a:r>
            <a:endParaRPr sz="1100">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en-US" sz="1100">
                <a:solidFill>
                  <a:schemeClr val="dk1"/>
                </a:solidFill>
              </a:rPr>
              <a:t>Enfin, </a:t>
            </a:r>
            <a:r>
              <a:rPr lang="en-US" sz="1100" b="1">
                <a:solidFill>
                  <a:schemeClr val="dk1"/>
                </a:solidFill>
              </a:rPr>
              <a:t>renforcer les contrôles sur les routes départementales</a:t>
            </a:r>
            <a:r>
              <a:rPr lang="en-US" sz="1100">
                <a:solidFill>
                  <a:schemeClr val="dk1"/>
                </a:solidFill>
              </a:rPr>
              <a:t> : plus de radars, plus de contrôles mobiles, vidéo-verbalisation pour le port de la ceinture.</a:t>
            </a:r>
            <a:endParaRPr sz="1100">
              <a:solidFill>
                <a:schemeClr val="dk1"/>
              </a:solidFill>
            </a:endParaRPr>
          </a:p>
          <a:p>
            <a:pPr marL="0" lvl="0" indent="0" algn="l" rtl="0">
              <a:lnSpc>
                <a:spcPct val="115000"/>
              </a:lnSpc>
              <a:spcBef>
                <a:spcPts val="400"/>
              </a:spcBef>
              <a:spcAft>
                <a:spcPts val="0"/>
              </a:spcAft>
              <a:buClr>
                <a:schemeClr val="dk1"/>
              </a:buClr>
              <a:buSzPts val="1100"/>
              <a:buFont typeface="Arial"/>
              <a:buNone/>
            </a:pPr>
            <a:r>
              <a:rPr lang="en-US" sz="1100">
                <a:solidFill>
                  <a:schemeClr val="dk1"/>
                </a:solidFill>
              </a:rPr>
              <a:t>En résumé : les données nous donnent le bon message, la bonne cible, le bon endroit, le bon moment.</a:t>
            </a:r>
            <a:endParaRPr sz="1100">
              <a:solidFill>
                <a:schemeClr val="dk1"/>
              </a:solidFill>
            </a:endParaRPr>
          </a:p>
          <a:p>
            <a:pPr marL="0" lvl="0" indent="0" algn="l" rtl="0">
              <a:spcBef>
                <a:spcPts val="400"/>
              </a:spcBef>
              <a:spcAft>
                <a:spcPts val="0"/>
              </a:spcAft>
              <a:buSzPts val="1100"/>
              <a:buNone/>
            </a:pPr>
            <a:endParaRPr sz="1000" b="1">
              <a:solidFill>
                <a:schemeClr val="dk1"/>
              </a:solidFill>
              <a:latin typeface="Calibri"/>
              <a:ea typeface="Calibri"/>
              <a:cs typeface="Calibri"/>
              <a:sym typeface="Calibri"/>
            </a:endParaRPr>
          </a:p>
        </p:txBody>
      </p:sp>
      <p:sp>
        <p:nvSpPr>
          <p:cNvPr id="294" name="Google Shape;294;g3d91b19f9f7_4_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8" name="Google Shape;318;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100">
                <a:solidFill>
                  <a:schemeClr val="dk1"/>
                </a:solidFill>
              </a:rPr>
              <a:t>Notre analyse ouvre également des perspectives d'amélioration sur quatre axes.</a:t>
            </a:r>
            <a:endParaRPr sz="1100">
              <a:solidFill>
                <a:schemeClr val="dk1"/>
              </a:solidFill>
            </a:endParaRPr>
          </a:p>
          <a:p>
            <a:pPr marL="457200" lvl="0" indent="-298450" algn="l" rtl="0">
              <a:lnSpc>
                <a:spcPct val="115000"/>
              </a:lnSpc>
              <a:spcBef>
                <a:spcPts val="200"/>
              </a:spcBef>
              <a:spcAft>
                <a:spcPts val="0"/>
              </a:spcAft>
              <a:buClr>
                <a:schemeClr val="dk1"/>
              </a:buClr>
              <a:buSzPts val="1100"/>
              <a:buChar char="-"/>
            </a:pPr>
            <a:r>
              <a:rPr lang="en-US" sz="1100">
                <a:solidFill>
                  <a:schemeClr val="dk1"/>
                </a:solidFill>
              </a:rPr>
              <a:t>Premier axe : </a:t>
            </a:r>
            <a:r>
              <a:rPr lang="en-US" sz="1100" b="1">
                <a:solidFill>
                  <a:schemeClr val="dk1"/>
                </a:solidFill>
              </a:rPr>
              <a:t>intégrer des données supplémentaires décisives</a:t>
            </a:r>
            <a:r>
              <a:rPr lang="en-US" sz="1100">
                <a:solidFill>
                  <a:schemeClr val="dk1"/>
                </a:solidFill>
              </a:rPr>
              <a:t>. Aujourd'hui nos données BAAC ne capturent pas les facteurs comportementaux comme l'alcoolémie, la fatigue ou l'inattention, ni les facteurs légaux comme la vétusté du véhicule ou le solde de points. Les intégrer permettrait de passer d'une analyse des circonstances à une analyse des causes réelles.</a:t>
            </a:r>
            <a:endParaRPr sz="1100">
              <a:solidFill>
                <a:schemeClr val="dk1"/>
              </a:solidFill>
            </a:endParaRPr>
          </a:p>
          <a:p>
            <a:pPr marL="457200" lvl="0" indent="-298450" algn="l" rtl="0">
              <a:lnSpc>
                <a:spcPct val="115000"/>
              </a:lnSpc>
              <a:spcBef>
                <a:spcPts val="400"/>
              </a:spcBef>
              <a:spcAft>
                <a:spcPts val="0"/>
              </a:spcAft>
              <a:buClr>
                <a:schemeClr val="dk1"/>
              </a:buClr>
              <a:buSzPts val="1100"/>
              <a:buChar char="-"/>
            </a:pPr>
            <a:r>
              <a:rPr lang="en-US" sz="1100">
                <a:solidFill>
                  <a:schemeClr val="dk1"/>
                </a:solidFill>
              </a:rPr>
              <a:t>Deuxième axe : </a:t>
            </a:r>
            <a:r>
              <a:rPr lang="en-US" sz="1100" b="1">
                <a:solidFill>
                  <a:schemeClr val="dk1"/>
                </a:solidFill>
              </a:rPr>
              <a:t>croiser nos zones accidentogènes avec les dispositifs de contrôle existants</a:t>
            </a:r>
            <a:r>
              <a:rPr lang="en-US" sz="1100">
                <a:solidFill>
                  <a:schemeClr val="dk1"/>
                </a:solidFill>
              </a:rPr>
              <a:t>. Est-ce que les radars sont bien placés là où les accidents sont les plus graves ? Est-ce que les verbalisations suivent ? Ce croisement permettrait d'évaluer l'efficacité réelle des moyens déployés.</a:t>
            </a:r>
            <a:endParaRPr sz="1100">
              <a:solidFill>
                <a:schemeClr val="dk1"/>
              </a:solidFill>
            </a:endParaRPr>
          </a:p>
          <a:p>
            <a:pPr marL="457200" lvl="0" indent="-298450" algn="l" rtl="0">
              <a:lnSpc>
                <a:spcPct val="115000"/>
              </a:lnSpc>
              <a:spcBef>
                <a:spcPts val="400"/>
              </a:spcBef>
              <a:spcAft>
                <a:spcPts val="0"/>
              </a:spcAft>
              <a:buClr>
                <a:schemeClr val="dk1"/>
              </a:buClr>
              <a:buSzPts val="1100"/>
              <a:buChar char="-"/>
            </a:pPr>
            <a:r>
              <a:rPr lang="en-US" sz="1100">
                <a:solidFill>
                  <a:schemeClr val="dk1"/>
                </a:solidFill>
              </a:rPr>
              <a:t>Troisième axe : </a:t>
            </a:r>
            <a:r>
              <a:rPr lang="en-US" sz="1100" b="1">
                <a:solidFill>
                  <a:schemeClr val="dk1"/>
                </a:solidFill>
              </a:rPr>
              <a:t>évaluer l'impact du passage aux 80 km/h</a:t>
            </a:r>
            <a:r>
              <a:rPr lang="en-US" sz="1100">
                <a:solidFill>
                  <a:schemeClr val="dk1"/>
                </a:solidFill>
              </a:rPr>
              <a:t> sur les routes départementales depuis 2018. Nos données commencent en 2021, on ne voit pas l'avant. Une analyse rétrospective permettrait de mesurer si cette mesure a réellement infléchi la courbe de gravité sur le long terme — et d'en tirer des conclusions politiques.</a:t>
            </a:r>
            <a:endParaRPr sz="1100">
              <a:solidFill>
                <a:schemeClr val="dk1"/>
              </a:solidFill>
            </a:endParaRPr>
          </a:p>
          <a:p>
            <a:pPr marL="457200" lvl="0" indent="-298450" algn="l" rtl="0">
              <a:lnSpc>
                <a:spcPct val="115000"/>
              </a:lnSpc>
              <a:spcBef>
                <a:spcPts val="400"/>
              </a:spcBef>
              <a:spcAft>
                <a:spcPts val="0"/>
              </a:spcAft>
              <a:buClr>
                <a:schemeClr val="dk1"/>
              </a:buClr>
              <a:buSzPts val="1100"/>
              <a:buChar char="-"/>
            </a:pPr>
            <a:r>
              <a:rPr lang="en-US" sz="1100">
                <a:solidFill>
                  <a:schemeClr val="dk1"/>
                </a:solidFill>
              </a:rPr>
              <a:t>Enfin, quatrième axe : </a:t>
            </a:r>
            <a:r>
              <a:rPr lang="en-US" sz="1100" b="1">
                <a:solidFill>
                  <a:schemeClr val="dk1"/>
                </a:solidFill>
              </a:rPr>
              <a:t>optimiser nos modèles de Machine Learning</a:t>
            </a:r>
            <a:r>
              <a:rPr lang="en-US" sz="1100">
                <a:solidFill>
                  <a:schemeClr val="dk1"/>
                </a:solidFill>
              </a:rPr>
              <a:t>. L'objectif à terme est un modèle prédictif capable d'anticiper les pics de risque en fonction de la météo et du calendrier scolaire — pour que les forces de l'ordre puissent se déployer au bon endroit, au bon moment, avant que l'accident ne survienne.</a:t>
            </a:r>
            <a:endParaRPr sz="1100">
              <a:solidFill>
                <a:schemeClr val="dk1"/>
              </a:solidFill>
            </a:endParaRPr>
          </a:p>
          <a:p>
            <a:pPr marL="0" marR="0" lvl="0" indent="0" algn="l" rtl="0">
              <a:spcBef>
                <a:spcPts val="400"/>
              </a:spcBef>
              <a:spcAft>
                <a:spcPts val="0"/>
              </a:spcAft>
              <a:buNone/>
            </a:pPr>
            <a:endParaRPr sz="1200">
              <a:solidFill>
                <a:schemeClr val="dk1"/>
              </a:solidFill>
            </a:endParaRPr>
          </a:p>
        </p:txBody>
      </p:sp>
      <p:sp>
        <p:nvSpPr>
          <p:cNvPr id="319" name="Google Shape;319;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d98e0c5024_2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g3d98e0c5024_2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g3d98e0c5024_2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4.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4.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video" Target="https://www.youtube.com/embed/73xVnam0FEI?feature=oembed" TargetMode="Externa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11"/>
        <p:cNvGrpSpPr/>
        <p:nvPr/>
      </p:nvGrpSpPr>
      <p:grpSpPr>
        <a:xfrm>
          <a:off x="0" y="0"/>
          <a:ext cx="0" cy="0"/>
          <a:chOff x="0" y="0"/>
          <a:chExt cx="0" cy="0"/>
        </a:xfrm>
      </p:grpSpPr>
      <p:sp>
        <p:nvSpPr>
          <p:cNvPr id="12" name="Google Shape;12;p1"/>
          <p:cNvSpPr/>
          <p:nvPr/>
        </p:nvSpPr>
        <p:spPr>
          <a:xfrm>
            <a:off x="5943600" y="0"/>
            <a:ext cx="3200400" cy="5143500"/>
          </a:xfrm>
          <a:prstGeom prst="rect">
            <a:avLst/>
          </a:prstGeom>
          <a:solidFill>
            <a:srgbClr val="C0392B">
              <a:alpha val="85100"/>
            </a:srgbClr>
          </a:solidFill>
          <a:ln w="12700" cap="flat" cmpd="sng">
            <a:solidFill>
              <a:srgbClr val="C0392B">
                <a:alpha val="851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1"/>
          <p:cNvSpPr/>
          <p:nvPr/>
        </p:nvSpPr>
        <p:spPr>
          <a:xfrm>
            <a:off x="6583680" y="0"/>
            <a:ext cx="2560200" cy="5143500"/>
          </a:xfrm>
          <a:prstGeom prst="rect">
            <a:avLst/>
          </a:prstGeom>
          <a:solidFill>
            <a:srgbClr val="C0392B">
              <a:alpha val="70200"/>
            </a:srgbClr>
          </a:solidFill>
          <a:ln w="12700" cap="flat" cmpd="sng">
            <a:solidFill>
              <a:srgbClr val="C0392B">
                <a:alpha val="702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1"/>
          <p:cNvSpPr/>
          <p:nvPr/>
        </p:nvSpPr>
        <p:spPr>
          <a:xfrm>
            <a:off x="297992" y="285470"/>
            <a:ext cx="914400" cy="914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4200"/>
              <a:buFont typeface="Calibri"/>
              <a:buNone/>
            </a:pPr>
            <a:r>
              <a:rPr lang="en-US" sz="4200" b="0" i="0" u="none" strike="noStrike" cap="none">
                <a:solidFill>
                  <a:srgbClr val="000000"/>
                </a:solidFill>
                <a:latin typeface="Calibri"/>
                <a:ea typeface="Calibri"/>
                <a:cs typeface="Calibri"/>
                <a:sym typeface="Calibri"/>
              </a:rPr>
              <a:t>🚨</a:t>
            </a:r>
            <a:endParaRPr sz="4200" b="0" i="0" u="none" strike="noStrike" cap="none">
              <a:solidFill>
                <a:schemeClr val="dk1"/>
              </a:solidFill>
              <a:latin typeface="Calibri"/>
              <a:ea typeface="Calibri"/>
              <a:cs typeface="Calibri"/>
              <a:sym typeface="Calibri"/>
            </a:endParaRPr>
          </a:p>
        </p:txBody>
      </p:sp>
      <p:sp>
        <p:nvSpPr>
          <p:cNvPr id="15" name="Google Shape;15;p1"/>
          <p:cNvSpPr/>
          <p:nvPr/>
        </p:nvSpPr>
        <p:spPr>
          <a:xfrm>
            <a:off x="457200" y="1501145"/>
            <a:ext cx="5486400" cy="777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4000"/>
              <a:buFont typeface="Calibri"/>
              <a:buNone/>
            </a:pPr>
            <a:r>
              <a:rPr lang="en-US" sz="4000" b="1" i="0" u="none" strike="noStrike" cap="none">
                <a:solidFill>
                  <a:srgbClr val="FFFFFF"/>
                </a:solidFill>
                <a:latin typeface="Calibri"/>
                <a:ea typeface="Calibri"/>
                <a:cs typeface="Calibri"/>
                <a:sym typeface="Calibri"/>
              </a:rPr>
              <a:t>Sécurité Routière</a:t>
            </a:r>
            <a:endParaRPr sz="4000" b="0" i="0" u="none" strike="noStrike" cap="none">
              <a:solidFill>
                <a:schemeClr val="dk1"/>
              </a:solidFill>
              <a:latin typeface="Calibri"/>
              <a:ea typeface="Calibri"/>
              <a:cs typeface="Calibri"/>
              <a:sym typeface="Calibri"/>
            </a:endParaRPr>
          </a:p>
        </p:txBody>
      </p:sp>
      <p:sp>
        <p:nvSpPr>
          <p:cNvPr id="16" name="Google Shape;16;p1"/>
          <p:cNvSpPr/>
          <p:nvPr/>
        </p:nvSpPr>
        <p:spPr>
          <a:xfrm>
            <a:off x="457200" y="2232665"/>
            <a:ext cx="51795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1C40F"/>
              </a:buClr>
              <a:buSzPts val="2400"/>
              <a:buFont typeface="Calibri"/>
              <a:buNone/>
            </a:pPr>
            <a:r>
              <a:rPr lang="en-US" sz="2400" b="0" i="0" u="none" strike="noStrike" cap="none">
                <a:solidFill>
                  <a:srgbClr val="F1C40F"/>
                </a:solidFill>
                <a:latin typeface="Calibri"/>
                <a:ea typeface="Calibri"/>
                <a:cs typeface="Calibri"/>
                <a:sym typeface="Calibri"/>
              </a:rPr>
              <a:t>en France Métropolitaine • 2021–2024</a:t>
            </a:r>
            <a:endParaRPr sz="2400" b="0" i="0" u="none" strike="noStrike" cap="none">
              <a:solidFill>
                <a:schemeClr val="dk1"/>
              </a:solidFill>
              <a:latin typeface="Calibri"/>
              <a:ea typeface="Calibri"/>
              <a:cs typeface="Calibri"/>
              <a:sym typeface="Calibri"/>
            </a:endParaRPr>
          </a:p>
        </p:txBody>
      </p:sp>
      <p:sp>
        <p:nvSpPr>
          <p:cNvPr id="17" name="Google Shape;17;p1"/>
          <p:cNvSpPr/>
          <p:nvPr/>
        </p:nvSpPr>
        <p:spPr>
          <a:xfrm>
            <a:off x="457200" y="3520440"/>
            <a:ext cx="1097280" cy="73152"/>
          </a:xfrm>
          <a:prstGeom prst="rect">
            <a:avLst/>
          </a:prstGeom>
          <a:solidFill>
            <a:srgbClr val="E67E22"/>
          </a:solidFill>
          <a:ln w="12700"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303750" y="4583340"/>
            <a:ext cx="5486400" cy="365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899A6"/>
              </a:buClr>
              <a:buSzPts val="1200"/>
              <a:buFont typeface="Calibri"/>
              <a:buNone/>
            </a:pPr>
            <a:r>
              <a:rPr lang="en-US" sz="1200" dirty="0" err="1">
                <a:solidFill>
                  <a:srgbClr val="8899A6"/>
                </a:solidFill>
                <a:latin typeface="Calibri"/>
                <a:ea typeface="Calibri"/>
                <a:cs typeface="Calibri"/>
                <a:sym typeface="Calibri"/>
              </a:rPr>
              <a:t>Ulrick</a:t>
            </a:r>
            <a:r>
              <a:rPr lang="en-US" sz="1200" dirty="0">
                <a:solidFill>
                  <a:srgbClr val="8899A6"/>
                </a:solidFill>
                <a:latin typeface="Calibri"/>
                <a:ea typeface="Calibri"/>
                <a:cs typeface="Calibri"/>
                <a:sym typeface="Calibri"/>
              </a:rPr>
              <a:t> CUADRA, Baptiste SACUTO, Alexandra VENDEVILLE, Paul MERIEUX </a:t>
            </a:r>
            <a:br>
              <a:rPr lang="en-US" sz="1200" dirty="0">
                <a:solidFill>
                  <a:srgbClr val="8899A6"/>
                </a:solidFill>
                <a:latin typeface="Calibri"/>
                <a:ea typeface="Calibri"/>
                <a:cs typeface="Calibri"/>
                <a:sym typeface="Calibri"/>
              </a:rPr>
            </a:br>
            <a:r>
              <a:rPr lang="en-US" sz="1200" b="0" i="0" u="none" strike="noStrike" cap="none" dirty="0">
                <a:solidFill>
                  <a:srgbClr val="8899A6"/>
                </a:solidFill>
                <a:latin typeface="Calibri"/>
                <a:ea typeface="Calibri"/>
                <a:cs typeface="Calibri"/>
                <a:sym typeface="Calibri"/>
              </a:rPr>
              <a:t>Avril 2026 </a:t>
            </a:r>
            <a:r>
              <a:rPr lang="en-US" sz="1200" dirty="0">
                <a:solidFill>
                  <a:srgbClr val="8899A6"/>
                </a:solidFill>
                <a:latin typeface="Calibri"/>
                <a:ea typeface="Calibri"/>
                <a:cs typeface="Calibri"/>
                <a:sym typeface="Calibri"/>
              </a:rPr>
              <a:t>/ </a:t>
            </a:r>
            <a:r>
              <a:rPr lang="en-US" sz="1200" b="0" i="0" u="none" strike="noStrike" cap="none" dirty="0">
                <a:solidFill>
                  <a:srgbClr val="8899A6"/>
                </a:solidFill>
                <a:latin typeface="Calibri"/>
                <a:ea typeface="Calibri"/>
                <a:cs typeface="Calibri"/>
                <a:sym typeface="Calibri"/>
              </a:rPr>
              <a:t>dafs</a:t>
            </a:r>
            <a:r>
              <a:rPr lang="en-US" sz="1200" dirty="0">
                <a:solidFill>
                  <a:srgbClr val="8899A6"/>
                </a:solidFill>
                <a:latin typeface="Calibri"/>
                <a:ea typeface="Calibri"/>
                <a:cs typeface="Calibri"/>
                <a:sym typeface="Calibri"/>
              </a:rPr>
              <a:t>-ft-18</a:t>
            </a:r>
            <a:endParaRPr sz="1200" b="0" i="0" u="none" strike="noStrike" cap="none" dirty="0">
              <a:solidFill>
                <a:schemeClr val="dk1"/>
              </a:solidFill>
              <a:latin typeface="Calibri"/>
              <a:ea typeface="Calibri"/>
              <a:cs typeface="Calibri"/>
              <a:sym typeface="Calibri"/>
            </a:endParaRPr>
          </a:p>
        </p:txBody>
      </p:sp>
      <p:sp>
        <p:nvSpPr>
          <p:cNvPr id="19" name="Google Shape;19;p1"/>
          <p:cNvSpPr/>
          <p:nvPr/>
        </p:nvSpPr>
        <p:spPr>
          <a:xfrm>
            <a:off x="457200" y="2781380"/>
            <a:ext cx="5292300" cy="73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2"/>
              </a:buClr>
              <a:buSzPts val="1500"/>
              <a:buFont typeface="Calibri"/>
              <a:buNone/>
            </a:pPr>
            <a:r>
              <a:rPr lang="en-US" sz="1500" b="0" i="0" u="none" strike="noStrike" cap="none">
                <a:solidFill>
                  <a:schemeClr val="lt2"/>
                </a:solidFill>
                <a:latin typeface="Calibri"/>
                <a:ea typeface="Calibri"/>
                <a:cs typeface="Calibri"/>
                <a:sym typeface="Calibri"/>
              </a:rPr>
              <a:t>Analyse des </a:t>
            </a:r>
            <a:r>
              <a:rPr lang="en-US" sz="1500" b="1" i="0" u="none" strike="noStrike" cap="none">
                <a:solidFill>
                  <a:schemeClr val="lt2"/>
                </a:solidFill>
                <a:latin typeface="Calibri"/>
                <a:ea typeface="Calibri"/>
                <a:cs typeface="Calibri"/>
                <a:sym typeface="Calibri"/>
              </a:rPr>
              <a:t>facteurs de gravité des accidents routie</a:t>
            </a:r>
            <a:r>
              <a:rPr lang="en-US" sz="1500" b="1">
                <a:solidFill>
                  <a:schemeClr val="lt2"/>
                </a:solidFill>
                <a:latin typeface="Calibri"/>
                <a:ea typeface="Calibri"/>
                <a:cs typeface="Calibri"/>
                <a:sym typeface="Calibri"/>
              </a:rPr>
              <a:t>rs</a:t>
            </a:r>
            <a:r>
              <a:rPr lang="en-US" sz="1500">
                <a:solidFill>
                  <a:schemeClr val="lt2"/>
                </a:solidFill>
                <a:latin typeface="Calibri"/>
                <a:ea typeface="Calibri"/>
                <a:cs typeface="Calibri"/>
                <a:sym typeface="Calibri"/>
              </a:rPr>
              <a:t> pour les conducteurs, </a:t>
            </a:r>
            <a:r>
              <a:rPr lang="en-US" sz="1500" b="0" i="0" u="none" strike="noStrike" cap="none">
                <a:solidFill>
                  <a:schemeClr val="lt2"/>
                </a:solidFill>
                <a:latin typeface="Calibri"/>
                <a:ea typeface="Calibri"/>
                <a:cs typeface="Calibri"/>
                <a:sym typeface="Calibri"/>
              </a:rPr>
              <a:t>et recommandations d'actions</a:t>
            </a:r>
            <a:endParaRPr sz="1500">
              <a:solidFill>
                <a:schemeClr val="lt2"/>
              </a:solidFill>
              <a:latin typeface="Calibri"/>
              <a:ea typeface="Calibri"/>
              <a:cs typeface="Calibri"/>
              <a:sym typeface="Calibri"/>
            </a:endParaRPr>
          </a:p>
        </p:txBody>
      </p:sp>
      <p:pic>
        <p:nvPicPr>
          <p:cNvPr id="20" name="Google Shape;20;p1" title="square_colored.png"/>
          <p:cNvPicPr preferRelativeResize="0"/>
          <p:nvPr/>
        </p:nvPicPr>
        <p:blipFill>
          <a:blip r:embed="rId3">
            <a:alphaModFix/>
          </a:blip>
          <a:stretch>
            <a:fillRect/>
          </a:stretch>
        </p:blipFill>
        <p:spPr>
          <a:xfrm>
            <a:off x="8250675" y="4297825"/>
            <a:ext cx="731400" cy="731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25"/>
        <p:cNvGrpSpPr/>
        <p:nvPr/>
      </p:nvGrpSpPr>
      <p:grpSpPr>
        <a:xfrm>
          <a:off x="0" y="0"/>
          <a:ext cx="0" cy="0"/>
          <a:chOff x="0" y="0"/>
          <a:chExt cx="0" cy="0"/>
        </a:xfrm>
      </p:grpSpPr>
      <p:sp>
        <p:nvSpPr>
          <p:cNvPr id="26" name="Google Shape;26;p2"/>
          <p:cNvSpPr/>
          <p:nvPr/>
        </p:nvSpPr>
        <p:spPr>
          <a:xfrm>
            <a:off x="0" y="0"/>
            <a:ext cx="9144000" cy="64008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365760" y="91440"/>
            <a:ext cx="8412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Calibri"/>
              <a:buNone/>
            </a:pPr>
            <a:r>
              <a:rPr lang="en-US" sz="1600" b="1" dirty="0">
                <a:solidFill>
                  <a:srgbClr val="FFFFFF"/>
                </a:solidFill>
                <a:latin typeface="Calibri"/>
                <a:ea typeface="Calibri"/>
                <a:cs typeface="Calibri"/>
                <a:sym typeface="Calibri"/>
              </a:rPr>
              <a:t>LE CONSTAT  •  </a:t>
            </a:r>
            <a:r>
              <a:rPr lang="en-US" sz="1600" b="1" dirty="0" err="1">
                <a:solidFill>
                  <a:srgbClr val="FFFFFF"/>
                </a:solidFill>
                <a:latin typeface="Calibri"/>
                <a:ea typeface="Calibri"/>
                <a:cs typeface="Calibri"/>
                <a:sym typeface="Calibri"/>
              </a:rPr>
              <a:t>Aucun</a:t>
            </a:r>
            <a:r>
              <a:rPr lang="en-US" sz="1600" b="1" dirty="0">
                <a:solidFill>
                  <a:srgbClr val="FFFFFF"/>
                </a:solidFill>
                <a:latin typeface="Calibri"/>
                <a:ea typeface="Calibri"/>
                <a:cs typeface="Calibri"/>
                <a:sym typeface="Calibri"/>
              </a:rPr>
              <a:t> </a:t>
            </a:r>
            <a:r>
              <a:rPr lang="en-US" sz="1600" b="1" dirty="0" err="1">
                <a:solidFill>
                  <a:srgbClr val="FFFFFF"/>
                </a:solidFill>
                <a:latin typeface="Calibri"/>
                <a:ea typeface="Calibri"/>
                <a:cs typeface="Calibri"/>
                <a:sym typeface="Calibri"/>
              </a:rPr>
              <a:t>progrès</a:t>
            </a:r>
            <a:r>
              <a:rPr lang="en-US" sz="1600" b="1" dirty="0">
                <a:solidFill>
                  <a:srgbClr val="FFFFFF"/>
                </a:solidFill>
                <a:latin typeface="Calibri"/>
                <a:ea typeface="Calibri"/>
                <a:cs typeface="Calibri"/>
                <a:sym typeface="Calibri"/>
              </a:rPr>
              <a:t> notable </a:t>
            </a:r>
            <a:r>
              <a:rPr lang="en-US" sz="1600" b="1" dirty="0" err="1">
                <a:solidFill>
                  <a:srgbClr val="FFFFFF"/>
                </a:solidFill>
                <a:latin typeface="Calibri"/>
                <a:ea typeface="Calibri"/>
                <a:cs typeface="Calibri"/>
                <a:sym typeface="Calibri"/>
              </a:rPr>
              <a:t>en</a:t>
            </a:r>
            <a:r>
              <a:rPr lang="en-US" sz="1600" b="1" dirty="0">
                <a:solidFill>
                  <a:srgbClr val="FFFFFF"/>
                </a:solidFill>
                <a:latin typeface="Calibri"/>
                <a:ea typeface="Calibri"/>
                <a:cs typeface="Calibri"/>
                <a:sym typeface="Calibri"/>
              </a:rPr>
              <a:t> 4 </a:t>
            </a:r>
            <a:r>
              <a:rPr lang="en-US" sz="1600" b="1" dirty="0" err="1">
                <a:solidFill>
                  <a:srgbClr val="FFFFFF"/>
                </a:solidFill>
                <a:latin typeface="Calibri"/>
                <a:ea typeface="Calibri"/>
                <a:cs typeface="Calibri"/>
                <a:sym typeface="Calibri"/>
              </a:rPr>
              <a:t>ans</a:t>
            </a:r>
            <a:r>
              <a:rPr lang="en-US" sz="1600" b="1" dirty="0">
                <a:solidFill>
                  <a:srgbClr val="FFFFFF"/>
                </a:solidFill>
                <a:latin typeface="Calibri"/>
                <a:ea typeface="Calibri"/>
                <a:cs typeface="Calibri"/>
                <a:sym typeface="Calibri"/>
              </a:rPr>
              <a:t> de données (2021–2024)</a:t>
            </a:r>
            <a:endParaRPr sz="1600" dirty="0">
              <a:solidFill>
                <a:schemeClr val="dk1"/>
              </a:solidFill>
              <a:latin typeface="Calibri"/>
              <a:ea typeface="Calibri"/>
              <a:cs typeface="Calibri"/>
              <a:sym typeface="Calibri"/>
            </a:endParaRPr>
          </a:p>
        </p:txBody>
      </p:sp>
      <p:sp>
        <p:nvSpPr>
          <p:cNvPr id="28" name="Google Shape;28;p2"/>
          <p:cNvSpPr/>
          <p:nvPr/>
        </p:nvSpPr>
        <p:spPr>
          <a:xfrm>
            <a:off x="2138372" y="1895032"/>
            <a:ext cx="1920300" cy="10209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2138372" y="1895032"/>
            <a:ext cx="63900" cy="10209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1166" y="1468836"/>
            <a:ext cx="9002100" cy="2742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Nous </a:t>
            </a:r>
            <a:r>
              <a:rPr lang="en-US" sz="1200" dirty="0" err="1">
                <a:solidFill>
                  <a:schemeClr val="dk1"/>
                </a:solidFill>
                <a:latin typeface="Calibri"/>
                <a:ea typeface="Calibri"/>
                <a:cs typeface="Calibri"/>
                <a:sym typeface="Calibri"/>
              </a:rPr>
              <a:t>faisons</a:t>
            </a:r>
            <a:r>
              <a:rPr lang="en-US" sz="1200" dirty="0">
                <a:solidFill>
                  <a:schemeClr val="dk1"/>
                </a:solidFill>
                <a:latin typeface="Calibri"/>
                <a:ea typeface="Calibri"/>
                <a:cs typeface="Calibri"/>
                <a:sym typeface="Calibri"/>
              </a:rPr>
              <a:t> un choix : nous </a:t>
            </a:r>
            <a:r>
              <a:rPr lang="en-US" sz="1200" dirty="0" err="1">
                <a:solidFill>
                  <a:schemeClr val="dk1"/>
                </a:solidFill>
                <a:latin typeface="Calibri"/>
                <a:ea typeface="Calibri"/>
                <a:cs typeface="Calibri"/>
                <a:sym typeface="Calibri"/>
              </a:rPr>
              <a:t>concentrer</a:t>
            </a:r>
            <a:r>
              <a:rPr lang="en-US" sz="1200" dirty="0">
                <a:solidFill>
                  <a:schemeClr val="dk1"/>
                </a:solidFill>
                <a:latin typeface="Calibri"/>
                <a:ea typeface="Calibri"/>
                <a:cs typeface="Calibri"/>
                <a:sym typeface="Calibri"/>
              </a:rPr>
              <a:t> sur les </a:t>
            </a:r>
            <a:r>
              <a:rPr lang="en-US" sz="1200" b="1" dirty="0" err="1">
                <a:solidFill>
                  <a:srgbClr val="C0392B"/>
                </a:solidFill>
                <a:latin typeface="Calibri"/>
                <a:ea typeface="Calibri"/>
                <a:cs typeface="Calibri"/>
                <a:sym typeface="Calibri"/>
              </a:rPr>
              <a:t>conducteurs</a:t>
            </a:r>
            <a:r>
              <a:rPr lang="en-US" sz="1200" dirty="0">
                <a:solidFill>
                  <a:schemeClr val="dk1"/>
                </a:solidFill>
                <a:latin typeface="Calibri"/>
                <a:ea typeface="Calibri"/>
                <a:cs typeface="Calibri"/>
                <a:sym typeface="Calibri"/>
              </a:rPr>
              <a:t>, levier de </a:t>
            </a:r>
            <a:r>
              <a:rPr lang="en-US" sz="1200" dirty="0" err="1">
                <a:solidFill>
                  <a:schemeClr val="dk1"/>
                </a:solidFill>
                <a:latin typeface="Calibri"/>
                <a:ea typeface="Calibri"/>
                <a:cs typeface="Calibri"/>
                <a:sym typeface="Calibri"/>
              </a:rPr>
              <a:t>changement</a:t>
            </a:r>
            <a:r>
              <a:rPr lang="en-US" sz="1200" dirty="0">
                <a:solidFill>
                  <a:schemeClr val="dk1"/>
                </a:solidFill>
                <a:latin typeface="Calibri"/>
                <a:ea typeface="Calibri"/>
                <a:cs typeface="Calibri"/>
                <a:sym typeface="Calibri"/>
              </a:rPr>
              <a:t> le plus </a:t>
            </a:r>
            <a:r>
              <a:rPr lang="en-US" sz="1200" dirty="0" err="1">
                <a:solidFill>
                  <a:schemeClr val="dk1"/>
                </a:solidFill>
                <a:latin typeface="Calibri"/>
                <a:ea typeface="Calibri"/>
                <a:cs typeface="Calibri"/>
                <a:sym typeface="Calibri"/>
              </a:rPr>
              <a:t>actionnable</a:t>
            </a:r>
            <a:r>
              <a:rPr lang="en-US" sz="1200" dirty="0">
                <a:solidFill>
                  <a:schemeClr val="dk1"/>
                </a:solidFill>
                <a:latin typeface="Calibri"/>
                <a:ea typeface="Calibri"/>
                <a:cs typeface="Calibri"/>
                <a:sym typeface="Calibri"/>
              </a:rPr>
              <a:t>.</a:t>
            </a:r>
            <a:endParaRPr sz="1200" dirty="0">
              <a:solidFill>
                <a:schemeClr val="dk1"/>
              </a:solidFill>
              <a:latin typeface="Calibri"/>
              <a:ea typeface="Calibri"/>
              <a:cs typeface="Calibri"/>
              <a:sym typeface="Calibri"/>
            </a:endParaRPr>
          </a:p>
        </p:txBody>
      </p:sp>
      <p:sp>
        <p:nvSpPr>
          <p:cNvPr id="31" name="Google Shape;31;p2"/>
          <p:cNvSpPr/>
          <p:nvPr/>
        </p:nvSpPr>
        <p:spPr>
          <a:xfrm>
            <a:off x="2275532" y="2402814"/>
            <a:ext cx="2144100" cy="640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1B2A"/>
              </a:buClr>
              <a:buSzPts val="1100"/>
              <a:buFont typeface="Calibri"/>
              <a:buNone/>
            </a:pPr>
            <a:r>
              <a:rPr lang="en-US" sz="1100" dirty="0">
                <a:solidFill>
                  <a:srgbClr val="0D1B2A"/>
                </a:solidFill>
                <a:latin typeface="Calibri"/>
                <a:ea typeface="Calibri"/>
                <a:cs typeface="Calibri"/>
                <a:sym typeface="Calibri"/>
              </a:rPr>
              <a:t>accidents / an </a:t>
            </a:r>
            <a:endParaRPr sz="1100" dirty="0">
              <a:solidFill>
                <a:srgbClr val="0D1B2A"/>
              </a:solidFill>
              <a:latin typeface="Calibri"/>
              <a:ea typeface="Calibri"/>
              <a:cs typeface="Calibri"/>
              <a:sym typeface="Calibri"/>
            </a:endParaRPr>
          </a:p>
          <a:p>
            <a:pPr marL="0" marR="0" lvl="0" indent="0" algn="l" rtl="0">
              <a:spcBef>
                <a:spcPts val="500"/>
              </a:spcBef>
              <a:spcAft>
                <a:spcPts val="0"/>
              </a:spcAft>
              <a:buClr>
                <a:srgbClr val="0D1B2A"/>
              </a:buClr>
              <a:buSzPts val="1100"/>
              <a:buFont typeface="Calibri"/>
              <a:buNone/>
            </a:pPr>
            <a:r>
              <a:rPr lang="en-US" sz="1200" b="1" dirty="0">
                <a:solidFill>
                  <a:srgbClr val="C0392B"/>
                </a:solidFill>
                <a:latin typeface="Calibri"/>
                <a:ea typeface="Calibri"/>
                <a:cs typeface="Calibri"/>
                <a:sym typeface="Calibri"/>
              </a:rPr>
              <a:t>⇒ chiffre stable</a:t>
            </a:r>
            <a:endParaRPr sz="1200" b="1" dirty="0">
              <a:solidFill>
                <a:srgbClr val="C0392B"/>
              </a:solidFill>
              <a:latin typeface="Calibri"/>
              <a:ea typeface="Calibri"/>
              <a:cs typeface="Calibri"/>
              <a:sym typeface="Calibri"/>
            </a:endParaRPr>
          </a:p>
        </p:txBody>
      </p:sp>
      <p:sp>
        <p:nvSpPr>
          <p:cNvPr id="32" name="Google Shape;32;p2"/>
          <p:cNvSpPr/>
          <p:nvPr/>
        </p:nvSpPr>
        <p:spPr>
          <a:xfrm>
            <a:off x="5519815" y="1847095"/>
            <a:ext cx="2194500" cy="10209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519815" y="1847095"/>
            <a:ext cx="63900" cy="1020900"/>
          </a:xfrm>
          <a:prstGeom prst="rect">
            <a:avLst/>
          </a:prstGeom>
          <a:solidFill>
            <a:srgbClr val="E67E22"/>
          </a:solidFill>
          <a:ln w="12700"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656975" y="1647825"/>
            <a:ext cx="2194500" cy="6657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rgbClr val="C0392B"/>
              </a:buClr>
              <a:buSzPts val="3000"/>
              <a:buFont typeface="Calibri"/>
              <a:buNone/>
            </a:pPr>
            <a:r>
              <a:rPr lang="en-US" sz="3000" b="1">
                <a:solidFill>
                  <a:srgbClr val="E67E22"/>
                </a:solidFill>
                <a:latin typeface="Calibri"/>
                <a:ea typeface="Calibri"/>
                <a:cs typeface="Calibri"/>
                <a:sym typeface="Calibri"/>
              </a:rPr>
              <a:t>36%</a:t>
            </a:r>
            <a:endParaRPr sz="3000">
              <a:solidFill>
                <a:srgbClr val="E67E22"/>
              </a:solidFill>
              <a:latin typeface="Calibri"/>
              <a:ea typeface="Calibri"/>
              <a:cs typeface="Calibri"/>
              <a:sym typeface="Calibri"/>
            </a:endParaRPr>
          </a:p>
        </p:txBody>
      </p:sp>
      <p:sp>
        <p:nvSpPr>
          <p:cNvPr id="35" name="Google Shape;35;p2"/>
          <p:cNvSpPr/>
          <p:nvPr/>
        </p:nvSpPr>
        <p:spPr>
          <a:xfrm>
            <a:off x="5656975" y="2353382"/>
            <a:ext cx="2194500" cy="512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1B2A"/>
              </a:buClr>
              <a:buSzPts val="1100"/>
              <a:buFont typeface="Calibri"/>
              <a:buNone/>
            </a:pPr>
            <a:r>
              <a:rPr lang="en-US" sz="1100" dirty="0">
                <a:solidFill>
                  <a:srgbClr val="0D1B2A"/>
                </a:solidFill>
                <a:latin typeface="Calibri"/>
                <a:ea typeface="Calibri"/>
                <a:cs typeface="Calibri"/>
                <a:sym typeface="Calibri"/>
              </a:rPr>
              <a:t>accidents graves / an</a:t>
            </a:r>
            <a:endParaRPr sz="1100" dirty="0">
              <a:solidFill>
                <a:schemeClr val="dk1"/>
              </a:solidFill>
              <a:latin typeface="Calibri"/>
              <a:ea typeface="Calibri"/>
              <a:cs typeface="Calibri"/>
              <a:sym typeface="Calibri"/>
            </a:endParaRPr>
          </a:p>
          <a:p>
            <a:pPr marL="0" marR="0" lvl="0" indent="0" algn="l" rtl="0">
              <a:spcBef>
                <a:spcPts val="600"/>
              </a:spcBef>
              <a:spcAft>
                <a:spcPts val="0"/>
              </a:spcAft>
              <a:buClr>
                <a:srgbClr val="0D1B2A"/>
              </a:buClr>
              <a:buSzPts val="1100"/>
              <a:buFont typeface="Calibri"/>
              <a:buNone/>
            </a:pPr>
            <a:r>
              <a:rPr lang="en-US" sz="1100" dirty="0">
                <a:solidFill>
                  <a:srgbClr val="0D1B2A"/>
                </a:solidFill>
                <a:latin typeface="Calibri"/>
                <a:ea typeface="Calibri"/>
                <a:cs typeface="Calibri"/>
                <a:sym typeface="Calibri"/>
              </a:rPr>
              <a:t>(</a:t>
            </a:r>
            <a:r>
              <a:rPr lang="en-US" sz="1100" b="1" dirty="0" err="1">
                <a:solidFill>
                  <a:srgbClr val="0D1B2A"/>
                </a:solidFill>
                <a:latin typeface="Calibri"/>
                <a:ea typeface="Calibri"/>
                <a:cs typeface="Calibri"/>
                <a:sym typeface="Calibri"/>
              </a:rPr>
              <a:t>hospitalisation</a:t>
            </a:r>
            <a:r>
              <a:rPr lang="en-US" sz="1100" b="1" dirty="0">
                <a:solidFill>
                  <a:srgbClr val="0D1B2A"/>
                </a:solidFill>
                <a:latin typeface="Calibri"/>
                <a:ea typeface="Calibri"/>
                <a:cs typeface="Calibri"/>
                <a:sym typeface="Calibri"/>
              </a:rPr>
              <a:t> </a:t>
            </a:r>
            <a:r>
              <a:rPr lang="en-US" sz="1100" b="1" dirty="0" err="1">
                <a:solidFill>
                  <a:srgbClr val="0D1B2A"/>
                </a:solidFill>
                <a:latin typeface="Calibri"/>
                <a:ea typeface="Calibri"/>
                <a:cs typeface="Calibri"/>
                <a:sym typeface="Calibri"/>
              </a:rPr>
              <a:t>ou</a:t>
            </a:r>
            <a:r>
              <a:rPr lang="en-US" sz="1100" b="1" dirty="0">
                <a:solidFill>
                  <a:srgbClr val="0D1B2A"/>
                </a:solidFill>
                <a:latin typeface="Calibri"/>
                <a:ea typeface="Calibri"/>
                <a:cs typeface="Calibri"/>
                <a:sym typeface="Calibri"/>
              </a:rPr>
              <a:t> mort</a:t>
            </a:r>
            <a:r>
              <a:rPr lang="en-US" sz="1100" dirty="0">
                <a:solidFill>
                  <a:srgbClr val="0D1B2A"/>
                </a:solidFill>
                <a:latin typeface="Calibri"/>
                <a:ea typeface="Calibri"/>
                <a:cs typeface="Calibri"/>
                <a:sym typeface="Calibri"/>
              </a:rPr>
              <a:t>)</a:t>
            </a:r>
            <a:endParaRPr sz="1100" dirty="0">
              <a:solidFill>
                <a:schemeClr val="dk1"/>
              </a:solidFill>
              <a:latin typeface="Calibri"/>
              <a:ea typeface="Calibri"/>
              <a:cs typeface="Calibri"/>
              <a:sym typeface="Calibri"/>
            </a:endParaRPr>
          </a:p>
        </p:txBody>
      </p:sp>
      <p:sp>
        <p:nvSpPr>
          <p:cNvPr id="36" name="Google Shape;36;p2"/>
          <p:cNvSpPr/>
          <p:nvPr/>
        </p:nvSpPr>
        <p:spPr>
          <a:xfrm>
            <a:off x="2321372" y="819671"/>
            <a:ext cx="5530103" cy="365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899A6"/>
              </a:buClr>
              <a:buSzPts val="1000"/>
              <a:buFont typeface="Calibri"/>
              <a:buNone/>
            </a:pPr>
            <a:r>
              <a:rPr lang="en-US" sz="1000" i="1" dirty="0">
                <a:solidFill>
                  <a:schemeClr val="tx1"/>
                </a:solidFill>
                <a:latin typeface="Calibri"/>
                <a:ea typeface="Calibri"/>
                <a:cs typeface="Calibri"/>
                <a:sym typeface="Calibri"/>
              </a:rPr>
              <a:t> </a:t>
            </a:r>
            <a:r>
              <a:rPr lang="en-US" sz="1200" dirty="0">
                <a:solidFill>
                  <a:schemeClr val="tx1"/>
                </a:solidFill>
                <a:latin typeface="Calibri"/>
                <a:ea typeface="Calibri"/>
                <a:cs typeface="Calibri"/>
                <a:sym typeface="Calibri"/>
              </a:rPr>
              <a:t>Données des </a:t>
            </a:r>
            <a:r>
              <a:rPr lang="en-US" sz="1200" b="1" dirty="0" err="1">
                <a:solidFill>
                  <a:schemeClr val="tx1"/>
                </a:solidFill>
                <a:latin typeface="Calibri"/>
                <a:ea typeface="Calibri"/>
                <a:cs typeface="Calibri"/>
                <a:sym typeface="Calibri"/>
              </a:rPr>
              <a:t>fichiers</a:t>
            </a:r>
            <a:r>
              <a:rPr lang="en-US" sz="1200" dirty="0">
                <a:solidFill>
                  <a:schemeClr val="tx1"/>
                </a:solidFill>
                <a:latin typeface="Calibri"/>
                <a:ea typeface="Calibri"/>
                <a:cs typeface="Calibri"/>
                <a:sym typeface="Calibri"/>
              </a:rPr>
              <a:t> </a:t>
            </a:r>
            <a:r>
              <a:rPr lang="en-US" sz="1200" b="1" dirty="0">
                <a:solidFill>
                  <a:schemeClr val="tx1"/>
                </a:solidFill>
                <a:latin typeface="Calibri"/>
                <a:ea typeface="Calibri"/>
                <a:cs typeface="Calibri"/>
                <a:sym typeface="Calibri"/>
              </a:rPr>
              <a:t>BAAC</a:t>
            </a:r>
            <a:r>
              <a:rPr lang="en-US" sz="1200" dirty="0">
                <a:solidFill>
                  <a:schemeClr val="tx1"/>
                </a:solidFill>
                <a:latin typeface="Calibri"/>
                <a:ea typeface="Calibri"/>
                <a:cs typeface="Calibri"/>
                <a:sym typeface="Calibri"/>
              </a:rPr>
              <a:t> </a:t>
            </a:r>
            <a:r>
              <a:rPr lang="en-US" sz="1050" i="1" dirty="0">
                <a:solidFill>
                  <a:schemeClr val="tx1"/>
                </a:solidFill>
                <a:latin typeface="Calibri"/>
                <a:ea typeface="Calibri"/>
                <a:cs typeface="Calibri"/>
                <a:sym typeface="Calibri"/>
              </a:rPr>
              <a:t>(Bulletin </a:t>
            </a:r>
            <a:r>
              <a:rPr lang="en-US" sz="1050" i="1" dirty="0" err="1">
                <a:solidFill>
                  <a:schemeClr val="tx1"/>
                </a:solidFill>
                <a:latin typeface="Calibri"/>
                <a:ea typeface="Calibri"/>
                <a:cs typeface="Calibri"/>
                <a:sym typeface="Calibri"/>
              </a:rPr>
              <a:t>d’Analyse</a:t>
            </a:r>
            <a:r>
              <a:rPr lang="en-US" sz="1050" i="1" dirty="0">
                <a:solidFill>
                  <a:schemeClr val="tx1"/>
                </a:solidFill>
                <a:latin typeface="Calibri"/>
                <a:ea typeface="Calibri"/>
                <a:cs typeface="Calibri"/>
                <a:sym typeface="Calibri"/>
              </a:rPr>
              <a:t> des Accidents de la Circulation) </a:t>
            </a:r>
            <a:r>
              <a:rPr lang="en-US" sz="1200" dirty="0">
                <a:solidFill>
                  <a:schemeClr val="tx1"/>
                </a:solidFill>
                <a:latin typeface="Calibri"/>
                <a:ea typeface="Calibri"/>
                <a:cs typeface="Calibri"/>
                <a:sym typeface="Calibri"/>
              </a:rPr>
              <a:t>de </a:t>
            </a:r>
            <a:r>
              <a:rPr lang="en-US" sz="1200" b="1" dirty="0">
                <a:solidFill>
                  <a:schemeClr val="tx1"/>
                </a:solidFill>
                <a:latin typeface="Calibri"/>
                <a:ea typeface="Calibri"/>
                <a:cs typeface="Calibri"/>
                <a:sym typeface="Calibri"/>
              </a:rPr>
              <a:t>ONISR</a:t>
            </a:r>
            <a:r>
              <a:rPr lang="en-US" sz="1200" dirty="0">
                <a:solidFill>
                  <a:schemeClr val="tx1"/>
                </a:solidFill>
                <a:latin typeface="Calibri"/>
                <a:ea typeface="Calibri"/>
                <a:cs typeface="Calibri"/>
                <a:sym typeface="Calibri"/>
              </a:rPr>
              <a:t> </a:t>
            </a:r>
            <a:r>
              <a:rPr lang="en-US" sz="1050" i="1" dirty="0">
                <a:solidFill>
                  <a:schemeClr val="tx1"/>
                </a:solidFill>
                <a:latin typeface="Calibri"/>
                <a:ea typeface="Calibri"/>
                <a:cs typeface="Calibri"/>
                <a:sym typeface="Calibri"/>
              </a:rPr>
              <a:t>(Observatoire National </a:t>
            </a:r>
            <a:r>
              <a:rPr lang="en-US" sz="1050" i="1" dirty="0" err="1">
                <a:solidFill>
                  <a:schemeClr val="tx1"/>
                </a:solidFill>
                <a:latin typeface="Calibri"/>
                <a:ea typeface="Calibri"/>
                <a:cs typeface="Calibri"/>
                <a:sym typeface="Calibri"/>
              </a:rPr>
              <a:t>Interministériel</a:t>
            </a:r>
            <a:r>
              <a:rPr lang="en-US" sz="1050" i="1" dirty="0">
                <a:solidFill>
                  <a:schemeClr val="tx1"/>
                </a:solidFill>
                <a:latin typeface="Calibri"/>
                <a:ea typeface="Calibri"/>
                <a:cs typeface="Calibri"/>
                <a:sym typeface="Calibri"/>
              </a:rPr>
              <a:t> de la </a:t>
            </a:r>
            <a:r>
              <a:rPr lang="en-US" sz="1050" i="1" dirty="0" err="1">
                <a:solidFill>
                  <a:schemeClr val="tx1"/>
                </a:solidFill>
                <a:latin typeface="Calibri"/>
                <a:ea typeface="Calibri"/>
                <a:cs typeface="Calibri"/>
                <a:sym typeface="Calibri"/>
              </a:rPr>
              <a:t>Sécurité</a:t>
            </a:r>
            <a:r>
              <a:rPr lang="en-US" sz="1050" i="1" dirty="0">
                <a:solidFill>
                  <a:schemeClr val="tx1"/>
                </a:solidFill>
                <a:latin typeface="Calibri"/>
                <a:ea typeface="Calibri"/>
                <a:cs typeface="Calibri"/>
                <a:sym typeface="Calibri"/>
              </a:rPr>
              <a:t> </a:t>
            </a:r>
            <a:r>
              <a:rPr lang="en-US" sz="1050" i="1" dirty="0" err="1">
                <a:solidFill>
                  <a:schemeClr val="tx1"/>
                </a:solidFill>
                <a:latin typeface="Calibri"/>
                <a:ea typeface="Calibri"/>
                <a:cs typeface="Calibri"/>
                <a:sym typeface="Calibri"/>
              </a:rPr>
              <a:t>Routière</a:t>
            </a:r>
            <a:r>
              <a:rPr lang="en-US" sz="1050" i="1" dirty="0">
                <a:solidFill>
                  <a:schemeClr val="tx1"/>
                </a:solidFill>
                <a:latin typeface="Calibri"/>
                <a:ea typeface="Calibri"/>
                <a:cs typeface="Calibri"/>
                <a:sym typeface="Calibri"/>
              </a:rPr>
              <a:t>)</a:t>
            </a:r>
            <a:endParaRPr sz="800" i="1" dirty="0">
              <a:solidFill>
                <a:schemeClr val="tx1"/>
              </a:solidFill>
              <a:latin typeface="Calibri"/>
              <a:ea typeface="Calibri"/>
              <a:cs typeface="Calibri"/>
              <a:sym typeface="Calibri"/>
            </a:endParaRPr>
          </a:p>
        </p:txBody>
      </p:sp>
      <p:pic>
        <p:nvPicPr>
          <p:cNvPr id="37" name="Google Shape;37;p2"/>
          <p:cNvPicPr preferRelativeResize="0"/>
          <p:nvPr/>
        </p:nvPicPr>
        <p:blipFill rotWithShape="1">
          <a:blip r:embed="rId3">
            <a:alphaModFix/>
          </a:blip>
          <a:srcRect l="1641"/>
          <a:stretch/>
        </p:blipFill>
        <p:spPr>
          <a:xfrm>
            <a:off x="4747016" y="3047586"/>
            <a:ext cx="3896625" cy="1810303"/>
          </a:xfrm>
          <a:prstGeom prst="roundRect">
            <a:avLst>
              <a:gd name="adj" fmla="val 8594"/>
            </a:avLst>
          </a:prstGeom>
          <a:solidFill>
            <a:srgbClr val="ECECEC"/>
          </a:solidFill>
          <a:ln>
            <a:noFill/>
          </a:ln>
        </p:spPr>
      </p:pic>
      <p:pic>
        <p:nvPicPr>
          <p:cNvPr id="38" name="Google Shape;38;p2"/>
          <p:cNvPicPr preferRelativeResize="0"/>
          <p:nvPr/>
        </p:nvPicPr>
        <p:blipFill>
          <a:blip r:embed="rId4">
            <a:alphaModFix/>
          </a:blip>
          <a:stretch>
            <a:fillRect/>
          </a:stretch>
        </p:blipFill>
        <p:spPr>
          <a:xfrm>
            <a:off x="701868" y="1835067"/>
            <a:ext cx="1020900" cy="1020900"/>
          </a:xfrm>
          <a:prstGeom prst="rect">
            <a:avLst/>
          </a:prstGeom>
          <a:noFill/>
          <a:ln>
            <a:noFill/>
          </a:ln>
        </p:spPr>
      </p:pic>
      <p:sp>
        <p:nvSpPr>
          <p:cNvPr id="39" name="Google Shape;39;p2"/>
          <p:cNvSpPr/>
          <p:nvPr/>
        </p:nvSpPr>
        <p:spPr>
          <a:xfrm>
            <a:off x="2321372" y="1647825"/>
            <a:ext cx="1737300" cy="7131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rgbClr val="C0392B"/>
              </a:buClr>
              <a:buSzPts val="3000"/>
              <a:buFont typeface="Calibri"/>
              <a:buNone/>
            </a:pPr>
            <a:r>
              <a:rPr lang="en-US" sz="3000" b="1" dirty="0">
                <a:solidFill>
                  <a:srgbClr val="C0392B"/>
                </a:solidFill>
                <a:latin typeface="Calibri"/>
                <a:ea typeface="Calibri"/>
                <a:cs typeface="Calibri"/>
                <a:sym typeface="Calibri"/>
              </a:rPr>
              <a:t>~55 000</a:t>
            </a:r>
            <a:endParaRPr dirty="0"/>
          </a:p>
        </p:txBody>
      </p:sp>
      <p:pic>
        <p:nvPicPr>
          <p:cNvPr id="2" name="Google Shape;85;g3d91b19f9f7_0_5" descr="Data.gouv.fr , portail des données ouvertes national - Réutilisations ...">
            <a:extLst>
              <a:ext uri="{FF2B5EF4-FFF2-40B4-BE49-F238E27FC236}">
                <a16:creationId xmlns:a16="http://schemas.microsoft.com/office/drawing/2014/main" id="{2C741699-5FFE-A2A6-8775-44C7A7412C9C}"/>
              </a:ext>
            </a:extLst>
          </p:cNvPr>
          <p:cNvPicPr preferRelativeResize="0"/>
          <p:nvPr/>
        </p:nvPicPr>
        <p:blipFill rotWithShape="1">
          <a:blip r:embed="rId5">
            <a:alphaModFix/>
          </a:blip>
          <a:srcRect/>
          <a:stretch/>
        </p:blipFill>
        <p:spPr>
          <a:xfrm>
            <a:off x="717449" y="789468"/>
            <a:ext cx="1452873" cy="439255"/>
          </a:xfrm>
          <a:prstGeom prst="rect">
            <a:avLst/>
          </a:prstGeom>
          <a:noFill/>
          <a:ln>
            <a:noFill/>
          </a:ln>
        </p:spPr>
      </p:pic>
      <p:cxnSp>
        <p:nvCxnSpPr>
          <p:cNvPr id="4" name="Connecteur droit avec flèche 3">
            <a:extLst>
              <a:ext uri="{FF2B5EF4-FFF2-40B4-BE49-F238E27FC236}">
                <a16:creationId xmlns:a16="http://schemas.microsoft.com/office/drawing/2014/main" id="{5ADD416D-C1EC-7F0A-60D6-03B489B4CD88}"/>
              </a:ext>
            </a:extLst>
          </p:cNvPr>
          <p:cNvCxnSpPr/>
          <p:nvPr/>
        </p:nvCxnSpPr>
        <p:spPr>
          <a:xfrm flipV="1">
            <a:off x="4483100" y="2353382"/>
            <a:ext cx="774700" cy="75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25"/>
        <p:cNvGrpSpPr/>
        <p:nvPr/>
      </p:nvGrpSpPr>
      <p:grpSpPr>
        <a:xfrm>
          <a:off x="0" y="0"/>
          <a:ext cx="0" cy="0"/>
          <a:chOff x="0" y="0"/>
          <a:chExt cx="0" cy="0"/>
        </a:xfrm>
      </p:grpSpPr>
      <p:sp>
        <p:nvSpPr>
          <p:cNvPr id="26" name="Google Shape;26;p2"/>
          <p:cNvSpPr/>
          <p:nvPr/>
        </p:nvSpPr>
        <p:spPr>
          <a:xfrm>
            <a:off x="0" y="0"/>
            <a:ext cx="9144000" cy="64008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365760" y="91440"/>
            <a:ext cx="8412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Calibri"/>
              <a:buNone/>
            </a:pPr>
            <a:r>
              <a:rPr lang="en-US" sz="1600" b="1" dirty="0">
                <a:solidFill>
                  <a:srgbClr val="FFFFFF"/>
                </a:solidFill>
                <a:latin typeface="Calibri"/>
                <a:ea typeface="Calibri"/>
                <a:cs typeface="Calibri"/>
                <a:sym typeface="Calibri"/>
              </a:rPr>
              <a:t>LE PROJET  • </a:t>
            </a:r>
            <a:r>
              <a:rPr lang="en-US" sz="1600" b="1" dirty="0" err="1">
                <a:solidFill>
                  <a:srgbClr val="FFFFFF"/>
                </a:solidFill>
                <a:latin typeface="Calibri"/>
                <a:ea typeface="Calibri"/>
                <a:cs typeface="Calibri"/>
                <a:sym typeface="Calibri"/>
              </a:rPr>
              <a:t>Comprendre</a:t>
            </a:r>
            <a:r>
              <a:rPr lang="en-US" sz="1600" b="1" dirty="0">
                <a:solidFill>
                  <a:srgbClr val="FFFFFF"/>
                </a:solidFill>
                <a:latin typeface="Calibri"/>
                <a:ea typeface="Calibri"/>
                <a:cs typeface="Calibri"/>
                <a:sym typeface="Calibri"/>
              </a:rPr>
              <a:t> les </a:t>
            </a:r>
            <a:r>
              <a:rPr lang="en-US" sz="1600" b="1" dirty="0" err="1">
                <a:solidFill>
                  <a:srgbClr val="FFFFFF"/>
                </a:solidFill>
                <a:latin typeface="Calibri"/>
                <a:ea typeface="Calibri"/>
                <a:cs typeface="Calibri"/>
                <a:sym typeface="Calibri"/>
              </a:rPr>
              <a:t>facteurs</a:t>
            </a:r>
            <a:r>
              <a:rPr lang="en-US" sz="1600" b="1" dirty="0">
                <a:solidFill>
                  <a:srgbClr val="FFFFFF"/>
                </a:solidFill>
                <a:latin typeface="Calibri"/>
                <a:ea typeface="Calibri"/>
                <a:cs typeface="Calibri"/>
                <a:sym typeface="Calibri"/>
              </a:rPr>
              <a:t> de </a:t>
            </a:r>
            <a:r>
              <a:rPr lang="en-US" sz="1600" b="1" dirty="0" err="1">
                <a:solidFill>
                  <a:srgbClr val="FFFFFF"/>
                </a:solidFill>
                <a:latin typeface="Calibri"/>
                <a:ea typeface="Calibri"/>
                <a:cs typeface="Calibri"/>
                <a:sym typeface="Calibri"/>
              </a:rPr>
              <a:t>gravités</a:t>
            </a:r>
            <a:r>
              <a:rPr lang="en-US" sz="1600" b="1" dirty="0">
                <a:solidFill>
                  <a:srgbClr val="FFFFFF"/>
                </a:solidFill>
                <a:latin typeface="Calibri"/>
                <a:ea typeface="Calibri"/>
                <a:cs typeface="Calibri"/>
                <a:sym typeface="Calibri"/>
              </a:rPr>
              <a:t> pour </a:t>
            </a:r>
            <a:r>
              <a:rPr lang="en-US" sz="1600" b="1" dirty="0" err="1">
                <a:solidFill>
                  <a:srgbClr val="FFFFFF"/>
                </a:solidFill>
                <a:latin typeface="Calibri"/>
                <a:ea typeface="Calibri"/>
                <a:cs typeface="Calibri"/>
                <a:sym typeface="Calibri"/>
              </a:rPr>
              <a:t>mieux</a:t>
            </a:r>
            <a:r>
              <a:rPr lang="en-US" sz="1600" b="1" dirty="0">
                <a:solidFill>
                  <a:srgbClr val="FFFFFF"/>
                </a:solidFill>
                <a:latin typeface="Calibri"/>
                <a:ea typeface="Calibri"/>
                <a:cs typeface="Calibri"/>
                <a:sym typeface="Calibri"/>
              </a:rPr>
              <a:t> </a:t>
            </a:r>
            <a:r>
              <a:rPr lang="en-US" sz="1600" b="1" dirty="0" err="1">
                <a:solidFill>
                  <a:srgbClr val="FFFFFF"/>
                </a:solidFill>
                <a:latin typeface="Calibri"/>
                <a:ea typeface="Calibri"/>
                <a:cs typeface="Calibri"/>
                <a:sym typeface="Calibri"/>
              </a:rPr>
              <a:t>agir</a:t>
            </a:r>
            <a:endParaRPr sz="1600" dirty="0">
              <a:solidFill>
                <a:schemeClr val="dk1"/>
              </a:solidFill>
              <a:latin typeface="Calibri"/>
              <a:ea typeface="Calibri"/>
              <a:cs typeface="Calibri"/>
              <a:sym typeface="Calibri"/>
            </a:endParaRPr>
          </a:p>
        </p:txBody>
      </p:sp>
      <p:sp>
        <p:nvSpPr>
          <p:cNvPr id="36" name="Google Shape;36;p2"/>
          <p:cNvSpPr/>
          <p:nvPr/>
        </p:nvSpPr>
        <p:spPr>
          <a:xfrm>
            <a:off x="94210" y="4907852"/>
            <a:ext cx="84126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899A6"/>
              </a:buClr>
              <a:buSzPts val="1000"/>
              <a:buFont typeface="Calibri"/>
              <a:buNone/>
            </a:pPr>
            <a:r>
              <a:rPr lang="en-US" sz="1000">
                <a:solidFill>
                  <a:srgbClr val="8899A6"/>
                </a:solidFill>
                <a:latin typeface="Calibri"/>
                <a:ea typeface="Calibri"/>
                <a:cs typeface="Calibri"/>
                <a:sym typeface="Calibri"/>
              </a:rPr>
              <a:t>📊</a:t>
            </a:r>
            <a:r>
              <a:rPr lang="en-US" sz="1000" i="1">
                <a:solidFill>
                  <a:srgbClr val="8899A6"/>
                </a:solidFill>
                <a:latin typeface="Calibri"/>
                <a:ea typeface="Calibri"/>
                <a:cs typeface="Calibri"/>
                <a:sym typeface="Calibri"/>
              </a:rPr>
              <a:t>  Source : Fichier BAAC — ONISR — données 2021 à 2024</a:t>
            </a:r>
            <a:endParaRPr sz="1000">
              <a:solidFill>
                <a:schemeClr val="dk1"/>
              </a:solidFill>
              <a:latin typeface="Calibri"/>
              <a:ea typeface="Calibri"/>
              <a:cs typeface="Calibri"/>
              <a:sym typeface="Calibri"/>
            </a:endParaRPr>
          </a:p>
        </p:txBody>
      </p:sp>
      <p:sp>
        <p:nvSpPr>
          <p:cNvPr id="6" name="Rectangle 4">
            <a:extLst>
              <a:ext uri="{FF2B5EF4-FFF2-40B4-BE49-F238E27FC236}">
                <a16:creationId xmlns:a16="http://schemas.microsoft.com/office/drawing/2014/main" id="{7E025537-3A91-6017-6FB6-BF03A6544262}"/>
              </a:ext>
            </a:extLst>
          </p:cNvPr>
          <p:cNvSpPr>
            <a:spLocks noChangeArrowheads="1"/>
          </p:cNvSpPr>
          <p:nvPr/>
        </p:nvSpPr>
        <p:spPr bwMode="auto">
          <a:xfrm>
            <a:off x="365760" y="1258166"/>
            <a:ext cx="8412601" cy="303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strike="noStrike" cap="none" normalizeH="0" baseline="0" dirty="0">
                <a:ln>
                  <a:noFill/>
                </a:ln>
                <a:solidFill>
                  <a:schemeClr val="tx1"/>
                </a:solidFill>
                <a:effectLst/>
                <a:highlight>
                  <a:srgbClr val="C0C0C0"/>
                </a:highlight>
                <a:latin typeface="Google Sans Text"/>
              </a:rPr>
              <a:t>TIMINGS</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Google Sans Text"/>
              </a:rPr>
              <a:t>Jour 1 : Kick-off &amp; Cadrage</a:t>
            </a:r>
            <a:endParaRPr kumimoji="0" lang="fr-FR" altLang="fr-FR" sz="12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100" b="0" i="0" u="none" strike="noStrike" cap="none" normalizeH="0" baseline="0" dirty="0">
                <a:ln>
                  <a:noFill/>
                </a:ln>
                <a:solidFill>
                  <a:schemeClr val="tx1"/>
                </a:solidFill>
                <a:effectLst/>
                <a:latin typeface="Google Sans Text"/>
              </a:rPr>
              <a:t>Alignement de l'équipe (rôles, planification, clarification MVP)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100" b="0" i="0" u="none" strike="noStrike" cap="none" normalizeH="0" baseline="0" dirty="0">
                <a:ln>
                  <a:noFill/>
                </a:ln>
                <a:solidFill>
                  <a:schemeClr val="tx1"/>
                </a:solidFill>
                <a:effectLst/>
                <a:latin typeface="Google Sans Text"/>
              </a:rPr>
              <a:t>Identification des </a:t>
            </a:r>
            <a:r>
              <a:rPr kumimoji="0" lang="fr-FR" altLang="fr-FR" sz="1100" b="0" i="0" u="none" strike="noStrike" cap="none" normalizeH="0" baseline="0" dirty="0" err="1">
                <a:ln>
                  <a:noFill/>
                </a:ln>
                <a:solidFill>
                  <a:schemeClr val="tx1"/>
                </a:solidFill>
                <a:effectLst/>
                <a:latin typeface="Google Sans Text"/>
              </a:rPr>
              <a:t>personas</a:t>
            </a:r>
            <a:endParaRPr kumimoji="0" lang="fr-FR" altLang="fr-FR" sz="11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tabLst/>
            </a:pPr>
            <a:endParaRPr kumimoji="0" lang="fr-FR" altLang="fr-FR" sz="11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1200" b="1" i="0" u="none" strike="noStrike" cap="none" normalizeH="0" baseline="0" dirty="0">
                <a:ln>
                  <a:noFill/>
                </a:ln>
                <a:solidFill>
                  <a:schemeClr val="tx1"/>
                </a:solidFill>
                <a:effectLst/>
                <a:latin typeface="Google Sans Text"/>
              </a:rPr>
              <a:t>Jours 2 à 9 : </a:t>
            </a:r>
            <a:r>
              <a:rPr kumimoji="0" lang="fr-FR" altLang="fr-FR" sz="1200" b="1" i="0" u="none" strike="noStrike" cap="none" normalizeH="0" baseline="0" dirty="0">
                <a:ln>
                  <a:noFill/>
                </a:ln>
                <a:solidFill>
                  <a:srgbClr val="7030A0"/>
                </a:solidFill>
                <a:effectLst/>
                <a:latin typeface="Google Sans Text"/>
              </a:rPr>
              <a:t>LOT 1 — Création du MVP</a:t>
            </a:r>
            <a:endParaRPr kumimoji="0" lang="fr-FR" altLang="fr-FR" sz="1200" b="0" i="0" u="none" strike="noStrike" cap="none" normalizeH="0" baseline="0" dirty="0">
              <a:ln>
                <a:noFill/>
              </a:ln>
              <a:solidFill>
                <a:srgbClr val="7030A0"/>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100" b="0" i="0" u="none" strike="noStrike" cap="none" normalizeH="0" baseline="0" dirty="0">
                <a:ln>
                  <a:noFill/>
                </a:ln>
                <a:solidFill>
                  <a:schemeClr val="tx1"/>
                </a:solidFill>
                <a:effectLst/>
                <a:latin typeface="Google Sans Text"/>
              </a:rPr>
              <a:t>Développement d’une première pipeline : script ETL en Python </a:t>
            </a:r>
            <a:r>
              <a:rPr lang="fr-FR" altLang="fr-FR" sz="1100" dirty="0">
                <a:solidFill>
                  <a:schemeClr val="tx1"/>
                </a:solidFill>
                <a:latin typeface="Google Sans Text"/>
                <a:sym typeface="Wingdings" panose="05000000000000000000" pitchFamily="2" charset="2"/>
              </a:rPr>
              <a:t> </a:t>
            </a:r>
            <a:r>
              <a:rPr kumimoji="0" lang="fr-FR" altLang="fr-FR" sz="1100" b="0" i="0" u="none" strike="noStrike" cap="none" normalizeH="0" baseline="0" dirty="0">
                <a:ln>
                  <a:noFill/>
                </a:ln>
                <a:solidFill>
                  <a:schemeClr val="tx1"/>
                </a:solidFill>
                <a:effectLst/>
                <a:latin typeface="Google Sans Text"/>
              </a:rPr>
              <a:t>Base relationnelle AWS RDS </a:t>
            </a:r>
            <a:r>
              <a:rPr kumimoji="0" lang="fr-FR" altLang="fr-FR" sz="1100" b="0" i="0" u="none" strike="noStrike" cap="none" normalizeH="0" baseline="0" dirty="0">
                <a:ln>
                  <a:noFill/>
                </a:ln>
                <a:solidFill>
                  <a:schemeClr val="tx1"/>
                </a:solidFill>
                <a:effectLst/>
                <a:latin typeface="Google Sans Text"/>
                <a:sym typeface="Wingdings" panose="05000000000000000000" pitchFamily="2" charset="2"/>
              </a:rPr>
              <a:t> </a:t>
            </a:r>
            <a:r>
              <a:rPr kumimoji="0" lang="fr-FR" altLang="fr-FR" sz="1100" b="0" i="0" u="none" strike="noStrike" cap="none" normalizeH="0" baseline="0" dirty="0">
                <a:ln>
                  <a:noFill/>
                </a:ln>
                <a:solidFill>
                  <a:schemeClr val="tx1"/>
                </a:solidFill>
                <a:effectLst/>
                <a:latin typeface="Google Sans Text"/>
              </a:rPr>
              <a:t>Tableau de bord </a:t>
            </a:r>
            <a:r>
              <a:rPr kumimoji="0" lang="fr-FR" altLang="fr-FR" sz="1100" b="0" i="0" u="none" strike="noStrike" cap="none" normalizeH="0" baseline="0" dirty="0" err="1">
                <a:ln>
                  <a:noFill/>
                </a:ln>
                <a:solidFill>
                  <a:schemeClr val="tx1"/>
                </a:solidFill>
                <a:effectLst/>
                <a:latin typeface="Google Sans Text"/>
              </a:rPr>
              <a:t>PowerBI</a:t>
            </a:r>
            <a:r>
              <a:rPr kumimoji="0" lang="fr-FR" altLang="fr-FR" sz="1100" b="0" i="0" u="none" strike="noStrike" cap="none" normalizeH="0" baseline="0" dirty="0">
                <a:ln>
                  <a:noFill/>
                </a:ln>
                <a:solidFill>
                  <a:schemeClr val="tx1"/>
                </a:solidFill>
                <a:effectLst/>
                <a:latin typeface="Google Sans Tex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100" b="0" i="0" u="none" strike="noStrike" cap="none" normalizeH="0" baseline="0" dirty="0">
                <a:ln>
                  <a:noFill/>
                </a:ln>
                <a:solidFill>
                  <a:schemeClr val="tx1"/>
                </a:solidFill>
                <a:effectLst/>
                <a:latin typeface="Google Sans Text"/>
              </a:rPr>
              <a:t>Conception du support de présentation</a:t>
            </a:r>
          </a:p>
          <a:p>
            <a:pPr marL="457200" marR="0" lvl="1" indent="0" algn="l" defTabSz="914400" rtl="0" eaLnBrk="0" fontAlgn="base" latinLnBrk="0" hangingPunct="0">
              <a:lnSpc>
                <a:spcPct val="100000"/>
              </a:lnSpc>
              <a:spcBef>
                <a:spcPct val="0"/>
              </a:spcBef>
              <a:spcAft>
                <a:spcPct val="0"/>
              </a:spcAft>
              <a:buClrTx/>
              <a:buSzTx/>
              <a:tabLst/>
            </a:pPr>
            <a:endParaRPr kumimoji="0" lang="fr-FR" altLang="fr-FR" sz="12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1200" b="1" i="0" u="none" strike="noStrike" cap="none" normalizeH="0" baseline="0" dirty="0">
                <a:ln>
                  <a:noFill/>
                </a:ln>
                <a:solidFill>
                  <a:schemeClr val="tx1"/>
                </a:solidFill>
                <a:effectLst/>
                <a:latin typeface="Google Sans Text"/>
              </a:rPr>
              <a:t>Jours 10 : </a:t>
            </a:r>
            <a:r>
              <a:rPr kumimoji="0" lang="fr-FR" altLang="fr-FR" sz="1200" b="1" i="0" u="none" strike="noStrike" cap="none" normalizeH="0" baseline="0" dirty="0">
                <a:ln>
                  <a:noFill/>
                </a:ln>
                <a:solidFill>
                  <a:schemeClr val="accent1"/>
                </a:solidFill>
                <a:effectLst/>
                <a:latin typeface="Google Sans Text"/>
              </a:rPr>
              <a:t>LOT 2 — Automatisation </a:t>
            </a:r>
            <a:endParaRPr kumimoji="0" lang="fr-FR" altLang="fr-FR" sz="1200" b="0" i="0" u="none" strike="noStrike" cap="none" normalizeH="0" baseline="0" dirty="0">
              <a:ln>
                <a:noFill/>
              </a:ln>
              <a:solidFill>
                <a:schemeClr val="accent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100" b="0" i="0" u="none" strike="noStrike" cap="none" normalizeH="0" baseline="0" dirty="0">
                <a:ln>
                  <a:noFill/>
                </a:ln>
                <a:solidFill>
                  <a:schemeClr val="tx1"/>
                </a:solidFill>
                <a:effectLst/>
                <a:latin typeface="Google Sans Text"/>
              </a:rPr>
              <a:t>Industrialisation du pipeline grâce à GitHub Actions.</a:t>
            </a:r>
          </a:p>
          <a:p>
            <a:pPr marL="457200" marR="0" lvl="1" indent="0" algn="l" defTabSz="914400" rtl="0" eaLnBrk="0" fontAlgn="base" latinLnBrk="0" hangingPunct="0">
              <a:lnSpc>
                <a:spcPct val="100000"/>
              </a:lnSpc>
              <a:spcBef>
                <a:spcPct val="0"/>
              </a:spcBef>
              <a:spcAft>
                <a:spcPct val="0"/>
              </a:spcAft>
              <a:buClrTx/>
              <a:buSzTx/>
              <a:tabLst/>
            </a:pPr>
            <a:endParaRPr kumimoji="0" lang="fr-FR" altLang="fr-FR" sz="11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1200" b="1" i="0" u="none" strike="noStrike" cap="none" normalizeH="0" baseline="0" dirty="0">
                <a:ln>
                  <a:noFill/>
                </a:ln>
                <a:solidFill>
                  <a:schemeClr val="tx1"/>
                </a:solidFill>
                <a:effectLst/>
                <a:latin typeface="Google Sans Text"/>
              </a:rPr>
              <a:t>Jour 11 : </a:t>
            </a:r>
            <a:r>
              <a:rPr kumimoji="0" lang="fr-FR" altLang="fr-FR" sz="1200" b="1" i="0" u="none" strike="noStrike" cap="none" normalizeH="0" baseline="0" dirty="0">
                <a:ln>
                  <a:noFill/>
                </a:ln>
                <a:solidFill>
                  <a:schemeClr val="accent6">
                    <a:lumMod val="75000"/>
                  </a:schemeClr>
                </a:solidFill>
                <a:effectLst/>
                <a:latin typeface="Google Sans Text"/>
              </a:rPr>
              <a:t>LOT 3 — Intégration API Calendrier Scolaire</a:t>
            </a:r>
            <a:endParaRPr kumimoji="0" lang="fr-FR" altLang="fr-FR" sz="1200" b="0" i="0" u="none" strike="noStrike" cap="none" normalizeH="0" baseline="0" dirty="0">
              <a:ln>
                <a:noFill/>
              </a:ln>
              <a:solidFill>
                <a:schemeClr val="accent6">
                  <a:lumMod val="75000"/>
                </a:schemeClr>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100" b="0" i="0" u="none" strike="noStrike" cap="none" normalizeH="0" baseline="0" dirty="0">
                <a:ln>
                  <a:noFill/>
                </a:ln>
                <a:solidFill>
                  <a:schemeClr val="tx1"/>
                </a:solidFill>
                <a:effectLst/>
                <a:latin typeface="Google Sans Text"/>
              </a:rPr>
              <a:t>Croisement de la donnée initiale avec une source externe via l'API officielle des vacances scolaires. </a:t>
            </a:r>
          </a:p>
          <a:p>
            <a:pPr marL="457200" marR="0" lvl="1" indent="0" algn="l" defTabSz="914400" rtl="0" eaLnBrk="0" fontAlgn="base" latinLnBrk="0" hangingPunct="0">
              <a:lnSpc>
                <a:spcPct val="100000"/>
              </a:lnSpc>
              <a:spcBef>
                <a:spcPct val="0"/>
              </a:spcBef>
              <a:spcAft>
                <a:spcPct val="0"/>
              </a:spcAft>
              <a:buClrTx/>
              <a:buSzTx/>
              <a:tabLst/>
            </a:pPr>
            <a:endParaRPr kumimoji="0" lang="fr-FR" altLang="fr-FR" sz="11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1200" b="1" i="0" u="none" strike="noStrike" cap="none" normalizeH="0" baseline="0" dirty="0">
                <a:ln>
                  <a:noFill/>
                </a:ln>
                <a:solidFill>
                  <a:schemeClr val="tx1"/>
                </a:solidFill>
                <a:effectLst/>
                <a:latin typeface="Google Sans Text"/>
              </a:rPr>
              <a:t>Jour 12 : </a:t>
            </a:r>
            <a:r>
              <a:rPr kumimoji="0" lang="fr-FR" altLang="fr-FR" sz="1200" b="1" i="0" u="none" strike="noStrike" cap="none" normalizeH="0" baseline="0" dirty="0">
                <a:ln>
                  <a:noFill/>
                </a:ln>
                <a:solidFill>
                  <a:schemeClr val="accent2">
                    <a:lumMod val="75000"/>
                  </a:schemeClr>
                </a:solidFill>
                <a:effectLst/>
                <a:latin typeface="Google Sans Text"/>
              </a:rPr>
              <a:t>LOT 4 — Data Engineering AWS S3</a:t>
            </a:r>
            <a:endParaRPr kumimoji="0" lang="fr-FR" altLang="fr-FR" sz="1200" b="0" i="0" u="none" strike="noStrike" cap="none" normalizeH="0" baseline="0" dirty="0">
              <a:ln>
                <a:noFill/>
              </a:ln>
              <a:solidFill>
                <a:schemeClr val="accent2">
                  <a:lumMod val="75000"/>
                </a:schemeClr>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100" b="0" i="0" u="none" strike="noStrike" cap="none" normalizeH="0" baseline="0" dirty="0">
                <a:ln>
                  <a:noFill/>
                </a:ln>
                <a:solidFill>
                  <a:schemeClr val="tx1"/>
                </a:solidFill>
                <a:effectLst/>
                <a:latin typeface="Google Sans Text"/>
              </a:rPr>
              <a:t>Évolution de l'infrastructure vers une architecture moderne (</a:t>
            </a:r>
            <a:r>
              <a:rPr kumimoji="0" lang="fr-FR" altLang="fr-FR" sz="1100" b="0" i="1" u="none" strike="noStrike" cap="none" normalizeH="0" baseline="0" dirty="0" err="1">
                <a:ln>
                  <a:noFill/>
                </a:ln>
                <a:solidFill>
                  <a:schemeClr val="tx1"/>
                </a:solidFill>
                <a:effectLst/>
                <a:latin typeface="Google Sans Text"/>
              </a:rPr>
              <a:t>Medallion</a:t>
            </a:r>
            <a:r>
              <a:rPr kumimoji="0" lang="fr-FR" altLang="fr-FR" sz="1100" b="0" i="1" u="none" strike="noStrike" cap="none" normalizeH="0" baseline="0" dirty="0">
                <a:ln>
                  <a:noFill/>
                </a:ln>
                <a:solidFill>
                  <a:schemeClr val="tx1"/>
                </a:solidFill>
                <a:effectLst/>
                <a:latin typeface="Google Sans Text"/>
              </a:rPr>
              <a:t> Architecture</a:t>
            </a:r>
            <a:r>
              <a:rPr kumimoji="0" lang="fr-FR" altLang="fr-FR" sz="1100" b="0" i="0" u="none" strike="noStrike" cap="none" normalizeH="0" baseline="0" dirty="0">
                <a:ln>
                  <a:noFill/>
                </a:ln>
                <a:solidFill>
                  <a:schemeClr val="tx1"/>
                </a:solidFill>
                <a:effectLst/>
                <a:latin typeface="Google Sans Text"/>
              </a:rPr>
              <a:t>)</a:t>
            </a:r>
            <a:endParaRPr kumimoji="0" lang="fr-FR" altLang="fr-FR" sz="1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1376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76"/>
        <p:cNvGrpSpPr/>
        <p:nvPr/>
      </p:nvGrpSpPr>
      <p:grpSpPr>
        <a:xfrm>
          <a:off x="0" y="0"/>
          <a:ext cx="0" cy="0"/>
          <a:chOff x="0" y="0"/>
          <a:chExt cx="0" cy="0"/>
        </a:xfrm>
      </p:grpSpPr>
      <p:sp>
        <p:nvSpPr>
          <p:cNvPr id="77" name="Google Shape;77;g3d91b19f9f7_0_5"/>
          <p:cNvSpPr/>
          <p:nvPr/>
        </p:nvSpPr>
        <p:spPr>
          <a:xfrm>
            <a:off x="5648764" y="1001989"/>
            <a:ext cx="1717800" cy="2313000"/>
          </a:xfrm>
          <a:prstGeom prst="roundRect">
            <a:avLst>
              <a:gd name="adj" fmla="val 3448"/>
            </a:avLst>
          </a:prstGeom>
          <a:solidFill>
            <a:srgbClr val="1A2E45"/>
          </a:solidFill>
          <a:ln w="25400" cap="flat" cmpd="sng">
            <a:solidFill>
              <a:srgbClr val="FFD700"/>
            </a:solidFill>
            <a:prstDash val="solid"/>
            <a:round/>
            <a:headEnd type="none" w="sm" len="sm"/>
            <a:tailEnd type="none" w="sm" len="sm"/>
          </a:ln>
          <a:effectLst>
            <a:outerShdw blurRad="152400" dist="50800" dir="8100000" algn="bl" rotWithShape="0">
              <a:srgbClr val="000000">
                <a:alpha val="2509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g3d91b19f9f7_0_5"/>
          <p:cNvSpPr/>
          <p:nvPr/>
        </p:nvSpPr>
        <p:spPr>
          <a:xfrm>
            <a:off x="4341250" y="1013737"/>
            <a:ext cx="1088100" cy="1625100"/>
          </a:xfrm>
          <a:prstGeom prst="roundRect">
            <a:avLst>
              <a:gd name="adj" fmla="val 3448"/>
            </a:avLst>
          </a:prstGeom>
          <a:solidFill>
            <a:srgbClr val="1A2E45"/>
          </a:solidFill>
          <a:ln w="25400" cap="flat" cmpd="sng">
            <a:solidFill>
              <a:srgbClr val="C0C0C0"/>
            </a:solidFill>
            <a:prstDash val="solid"/>
            <a:round/>
            <a:headEnd type="none" w="sm" len="sm"/>
            <a:tailEnd type="none" w="sm" len="sm"/>
          </a:ln>
          <a:effectLst>
            <a:outerShdw blurRad="152400" dist="50800" dir="8100000" algn="bl" rotWithShape="0">
              <a:srgbClr val="000000">
                <a:alpha val="25099"/>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79" name="Google Shape;79;g3d91b19f9f7_0_5"/>
          <p:cNvSpPr/>
          <p:nvPr/>
        </p:nvSpPr>
        <p:spPr>
          <a:xfrm>
            <a:off x="561488" y="119473"/>
            <a:ext cx="8229600" cy="549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000"/>
              <a:buFont typeface="Calibri"/>
              <a:buNone/>
            </a:pPr>
            <a:r>
              <a:rPr lang="en-US" sz="3000" b="1" i="0" u="none" strike="noStrike" cap="none">
                <a:solidFill>
                  <a:srgbClr val="FFFFFF"/>
                </a:solidFill>
                <a:latin typeface="Calibri"/>
                <a:ea typeface="Calibri"/>
                <a:cs typeface="Calibri"/>
                <a:sym typeface="Calibri"/>
              </a:rPr>
              <a:t>Une architecture de donnée robuste (médaillon)</a:t>
            </a:r>
            <a:endParaRPr sz="3000" b="0" i="0" u="none" strike="noStrike" cap="none">
              <a:solidFill>
                <a:schemeClr val="dk1"/>
              </a:solidFill>
              <a:latin typeface="Calibri"/>
              <a:ea typeface="Calibri"/>
              <a:cs typeface="Calibri"/>
              <a:sym typeface="Calibri"/>
            </a:endParaRPr>
          </a:p>
        </p:txBody>
      </p:sp>
      <p:sp>
        <p:nvSpPr>
          <p:cNvPr id="80" name="Google Shape;80;g3d91b19f9f7_0_5"/>
          <p:cNvSpPr/>
          <p:nvPr/>
        </p:nvSpPr>
        <p:spPr>
          <a:xfrm>
            <a:off x="2968213" y="1001987"/>
            <a:ext cx="1037400" cy="1625100"/>
          </a:xfrm>
          <a:prstGeom prst="roundRect">
            <a:avLst>
              <a:gd name="adj" fmla="val 3448"/>
            </a:avLst>
          </a:prstGeom>
          <a:solidFill>
            <a:srgbClr val="1A2E45"/>
          </a:solidFill>
          <a:ln w="25400" cap="flat" cmpd="sng">
            <a:solidFill>
              <a:srgbClr val="CD7F32"/>
            </a:solidFill>
            <a:prstDash val="solid"/>
            <a:round/>
            <a:headEnd type="none" w="sm" len="sm"/>
            <a:tailEnd type="none" w="sm" len="sm"/>
          </a:ln>
          <a:effectLst>
            <a:outerShdw blurRad="152400" dist="50800" dir="8100000" algn="bl" rotWithShape="0">
              <a:srgbClr val="000000">
                <a:alpha val="25099"/>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81" name="Google Shape;81;g3d91b19f9f7_0_5" descr="preencoded.png"/>
          <p:cNvPicPr preferRelativeResize="0"/>
          <p:nvPr/>
        </p:nvPicPr>
        <p:blipFill rotWithShape="1">
          <a:blip r:embed="rId3">
            <a:alphaModFix/>
          </a:blip>
          <a:srcRect/>
          <a:stretch/>
        </p:blipFill>
        <p:spPr>
          <a:xfrm>
            <a:off x="3285421" y="1687549"/>
            <a:ext cx="414924" cy="438735"/>
          </a:xfrm>
          <a:prstGeom prst="rect">
            <a:avLst/>
          </a:prstGeom>
          <a:noFill/>
          <a:ln>
            <a:noFill/>
          </a:ln>
        </p:spPr>
      </p:pic>
      <p:sp>
        <p:nvSpPr>
          <p:cNvPr id="82" name="Google Shape;82;g3d91b19f9f7_0_5"/>
          <p:cNvSpPr/>
          <p:nvPr/>
        </p:nvSpPr>
        <p:spPr>
          <a:xfrm>
            <a:off x="2854049" y="1053014"/>
            <a:ext cx="1277700" cy="276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D7F32"/>
              </a:buClr>
              <a:buSzPts val="2000"/>
              <a:buFont typeface="Calibri"/>
              <a:buNone/>
            </a:pPr>
            <a:r>
              <a:rPr lang="en-US" sz="2000" b="1" i="0" u="none" strike="noStrike" cap="none">
                <a:solidFill>
                  <a:srgbClr val="CD7F32"/>
                </a:solidFill>
                <a:latin typeface="Calibri"/>
                <a:ea typeface="Calibri"/>
                <a:cs typeface="Calibri"/>
                <a:sym typeface="Calibri"/>
              </a:rPr>
              <a:t>BRONZE</a:t>
            </a:r>
            <a:endParaRPr sz="2000" b="0" i="0" u="none" strike="noStrike" cap="none">
              <a:solidFill>
                <a:schemeClr val="dk1"/>
              </a:solidFill>
              <a:latin typeface="Calibri"/>
              <a:ea typeface="Calibri"/>
              <a:cs typeface="Calibri"/>
              <a:sym typeface="Calibri"/>
            </a:endParaRPr>
          </a:p>
        </p:txBody>
      </p:sp>
      <p:sp>
        <p:nvSpPr>
          <p:cNvPr id="83" name="Google Shape;83;g3d91b19f9f7_0_5"/>
          <p:cNvSpPr/>
          <p:nvPr/>
        </p:nvSpPr>
        <p:spPr>
          <a:xfrm>
            <a:off x="205800" y="955689"/>
            <a:ext cx="1430100" cy="69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1">
                <a:solidFill>
                  <a:srgbClr val="E8F0F7"/>
                </a:solidFill>
                <a:latin typeface="Calibri"/>
                <a:ea typeface="Calibri"/>
                <a:cs typeface="Calibri"/>
                <a:sym typeface="Calibri"/>
              </a:rPr>
              <a:t>B</a:t>
            </a:r>
            <a:r>
              <a:rPr lang="en-US" sz="1300">
                <a:solidFill>
                  <a:srgbClr val="E8F0F7"/>
                </a:solidFill>
                <a:latin typeface="Calibri"/>
                <a:ea typeface="Calibri"/>
                <a:cs typeface="Calibri"/>
                <a:sym typeface="Calibri"/>
              </a:rPr>
              <a:t>ase de données </a:t>
            </a:r>
            <a:r>
              <a:rPr lang="en-US" sz="1300" b="1">
                <a:solidFill>
                  <a:srgbClr val="E8F0F7"/>
                </a:solidFill>
                <a:latin typeface="Calibri"/>
                <a:ea typeface="Calibri"/>
                <a:cs typeface="Calibri"/>
                <a:sym typeface="Calibri"/>
              </a:rPr>
              <a:t>A</a:t>
            </a:r>
            <a:r>
              <a:rPr lang="en-US" sz="1300">
                <a:solidFill>
                  <a:srgbClr val="E8F0F7"/>
                </a:solidFill>
                <a:latin typeface="Calibri"/>
                <a:ea typeface="Calibri"/>
                <a:cs typeface="Calibri"/>
                <a:sym typeface="Calibri"/>
              </a:rPr>
              <a:t>nnuelles </a:t>
            </a:r>
            <a:r>
              <a:rPr lang="en-US" sz="1300" b="1">
                <a:solidFill>
                  <a:srgbClr val="E8F0F7"/>
                </a:solidFill>
                <a:latin typeface="Calibri"/>
                <a:ea typeface="Calibri"/>
                <a:cs typeface="Calibri"/>
                <a:sym typeface="Calibri"/>
              </a:rPr>
              <a:t>A</a:t>
            </a:r>
            <a:r>
              <a:rPr lang="en-US" sz="1300">
                <a:solidFill>
                  <a:srgbClr val="E8F0F7"/>
                </a:solidFill>
                <a:latin typeface="Calibri"/>
                <a:ea typeface="Calibri"/>
                <a:cs typeface="Calibri"/>
                <a:sym typeface="Calibri"/>
              </a:rPr>
              <a:t>ccidents </a:t>
            </a:r>
            <a:r>
              <a:rPr lang="en-US" sz="1300" b="1">
                <a:solidFill>
                  <a:srgbClr val="E8F0F7"/>
                </a:solidFill>
                <a:latin typeface="Calibri"/>
                <a:ea typeface="Calibri"/>
                <a:cs typeface="Calibri"/>
                <a:sym typeface="Calibri"/>
              </a:rPr>
              <a:t>C</a:t>
            </a:r>
            <a:r>
              <a:rPr lang="en-US" sz="1300">
                <a:solidFill>
                  <a:srgbClr val="E8F0F7"/>
                </a:solidFill>
                <a:latin typeface="Calibri"/>
                <a:ea typeface="Calibri"/>
                <a:cs typeface="Calibri"/>
                <a:sym typeface="Calibri"/>
              </a:rPr>
              <a:t>orporels </a:t>
            </a:r>
            <a:r>
              <a:rPr lang="en-US" sz="1300" b="0" i="0" u="none" strike="noStrike" cap="none">
                <a:solidFill>
                  <a:srgbClr val="E8F0F7"/>
                </a:solidFill>
                <a:latin typeface="Calibri"/>
                <a:ea typeface="Calibri"/>
                <a:cs typeface="Calibri"/>
                <a:sym typeface="Calibri"/>
              </a:rPr>
              <a:t>(csv)</a:t>
            </a:r>
            <a:endParaRPr sz="1300" b="0" i="0" u="none" strike="noStrike" cap="none">
              <a:solidFill>
                <a:schemeClr val="dk1"/>
              </a:solidFill>
              <a:latin typeface="Calibri"/>
              <a:ea typeface="Calibri"/>
              <a:cs typeface="Calibri"/>
              <a:sym typeface="Calibri"/>
            </a:endParaRPr>
          </a:p>
        </p:txBody>
      </p:sp>
      <p:sp>
        <p:nvSpPr>
          <p:cNvPr id="84" name="Google Shape;84;g3d91b19f9f7_0_5"/>
          <p:cNvSpPr/>
          <p:nvPr/>
        </p:nvSpPr>
        <p:spPr>
          <a:xfrm>
            <a:off x="4308190" y="1036462"/>
            <a:ext cx="11607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0C0C0"/>
              </a:buClr>
              <a:buSzPts val="2000"/>
              <a:buFont typeface="Calibri"/>
              <a:buNone/>
            </a:pPr>
            <a:r>
              <a:rPr lang="en-US" sz="2000" b="1" i="0" u="none" strike="noStrike" cap="none">
                <a:solidFill>
                  <a:srgbClr val="C0C0C0"/>
                </a:solidFill>
                <a:latin typeface="Calibri"/>
                <a:ea typeface="Calibri"/>
                <a:cs typeface="Calibri"/>
                <a:sym typeface="Calibri"/>
              </a:rPr>
              <a:t>SILVER</a:t>
            </a:r>
            <a:endParaRPr sz="2000" b="0" i="0" u="none" strike="noStrike" cap="none">
              <a:solidFill>
                <a:schemeClr val="dk1"/>
              </a:solidFill>
              <a:latin typeface="Calibri"/>
              <a:ea typeface="Calibri"/>
              <a:cs typeface="Calibri"/>
              <a:sym typeface="Calibri"/>
            </a:endParaRPr>
          </a:p>
        </p:txBody>
      </p:sp>
      <p:pic>
        <p:nvPicPr>
          <p:cNvPr id="85" name="Google Shape;85;g3d91b19f9f7_0_5" descr="Data.gouv.fr , portail des données ouvertes national - Réutilisations ..."/>
          <p:cNvPicPr preferRelativeResize="0"/>
          <p:nvPr/>
        </p:nvPicPr>
        <p:blipFill rotWithShape="1">
          <a:blip r:embed="rId4">
            <a:alphaModFix/>
          </a:blip>
          <a:srcRect/>
          <a:stretch/>
        </p:blipFill>
        <p:spPr>
          <a:xfrm>
            <a:off x="268174" y="1634721"/>
            <a:ext cx="1277700" cy="365048"/>
          </a:xfrm>
          <a:prstGeom prst="rect">
            <a:avLst/>
          </a:prstGeom>
          <a:noFill/>
          <a:ln>
            <a:noFill/>
          </a:ln>
        </p:spPr>
      </p:pic>
      <p:sp>
        <p:nvSpPr>
          <p:cNvPr id="86" name="Google Shape;86;g3d91b19f9f7_0_5"/>
          <p:cNvSpPr/>
          <p:nvPr/>
        </p:nvSpPr>
        <p:spPr>
          <a:xfrm>
            <a:off x="229622" y="2833951"/>
            <a:ext cx="16728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Calendrier Scolaire (API)</a:t>
            </a:r>
            <a:endParaRPr sz="1300" b="0" i="0" u="none" strike="noStrike" cap="none">
              <a:solidFill>
                <a:schemeClr val="dk1"/>
              </a:solidFill>
              <a:latin typeface="Calibri"/>
              <a:ea typeface="Calibri"/>
              <a:cs typeface="Calibri"/>
              <a:sym typeface="Calibri"/>
            </a:endParaRPr>
          </a:p>
        </p:txBody>
      </p:sp>
      <p:pic>
        <p:nvPicPr>
          <p:cNvPr id="87" name="Google Shape;87;g3d91b19f9f7_0_5" descr="Data.gouv.fr , portail des données ouvertes national - Réutilisations ..."/>
          <p:cNvPicPr preferRelativeResize="0"/>
          <p:nvPr/>
        </p:nvPicPr>
        <p:blipFill rotWithShape="1">
          <a:blip r:embed="rId4">
            <a:alphaModFix/>
          </a:blip>
          <a:srcRect/>
          <a:stretch/>
        </p:blipFill>
        <p:spPr>
          <a:xfrm>
            <a:off x="276487" y="3154001"/>
            <a:ext cx="1277700" cy="365048"/>
          </a:xfrm>
          <a:prstGeom prst="rect">
            <a:avLst/>
          </a:prstGeom>
          <a:noFill/>
          <a:ln>
            <a:noFill/>
          </a:ln>
        </p:spPr>
      </p:pic>
      <p:sp>
        <p:nvSpPr>
          <p:cNvPr id="88" name="Google Shape;88;g3d91b19f9f7_0_5"/>
          <p:cNvSpPr/>
          <p:nvPr/>
        </p:nvSpPr>
        <p:spPr>
          <a:xfrm>
            <a:off x="2968210" y="2213675"/>
            <a:ext cx="1037400" cy="320100"/>
          </a:xfrm>
          <a:prstGeom prst="rect">
            <a:avLst/>
          </a:prstGeom>
          <a:solidFill>
            <a:srgbClr val="AEABAB"/>
          </a:solid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    AWS S3</a:t>
            </a:r>
            <a:endParaRPr sz="1300" b="0" i="0" u="none" strike="noStrike" cap="none">
              <a:solidFill>
                <a:schemeClr val="dk1"/>
              </a:solidFill>
              <a:latin typeface="Calibri"/>
              <a:ea typeface="Calibri"/>
              <a:cs typeface="Calibri"/>
              <a:sym typeface="Calibri"/>
            </a:endParaRPr>
          </a:p>
        </p:txBody>
      </p:sp>
      <p:sp>
        <p:nvSpPr>
          <p:cNvPr id="89" name="Google Shape;89;g3d91b19f9f7_0_5"/>
          <p:cNvSpPr/>
          <p:nvPr/>
        </p:nvSpPr>
        <p:spPr>
          <a:xfrm>
            <a:off x="3679833" y="3040650"/>
            <a:ext cx="686100" cy="576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Python</a:t>
            </a:r>
            <a:endParaRPr/>
          </a:p>
          <a:p>
            <a:pPr marL="0" marR="0" lvl="0" indent="0" algn="ctr" rtl="0">
              <a:spcBef>
                <a:spcPts val="0"/>
              </a:spcBef>
              <a:spcAft>
                <a:spcPts val="0"/>
              </a:spcAft>
              <a:buClr>
                <a:srgbClr val="E8F0F7"/>
              </a:buClr>
              <a:buSzPts val="1300"/>
              <a:buFont typeface="Calibri"/>
              <a:buNone/>
            </a:pPr>
            <a:r>
              <a:rPr lang="en-US" sz="1100">
                <a:solidFill>
                  <a:srgbClr val="E8F0F7"/>
                </a:solidFill>
                <a:latin typeface="Calibri"/>
                <a:ea typeface="Calibri"/>
                <a:cs typeface="Calibri"/>
                <a:sym typeface="Calibri"/>
              </a:rPr>
              <a:t>(Boto3)</a:t>
            </a:r>
            <a:endParaRPr sz="1100" b="0" i="0" u="none" strike="noStrike" cap="none">
              <a:solidFill>
                <a:schemeClr val="dk1"/>
              </a:solidFill>
              <a:latin typeface="Calibri"/>
              <a:ea typeface="Calibri"/>
              <a:cs typeface="Calibri"/>
              <a:sym typeface="Calibri"/>
            </a:endParaRPr>
          </a:p>
        </p:txBody>
      </p:sp>
      <p:cxnSp>
        <p:nvCxnSpPr>
          <p:cNvPr id="90" name="Google Shape;90;g3d91b19f9f7_0_5"/>
          <p:cNvCxnSpPr>
            <a:stCxn id="80" idx="2"/>
            <a:endCxn id="89" idx="1"/>
          </p:cNvCxnSpPr>
          <p:nvPr/>
        </p:nvCxnSpPr>
        <p:spPr>
          <a:xfrm rot="-5400000" flipH="1">
            <a:off x="3232363" y="2881637"/>
            <a:ext cx="702000" cy="192900"/>
          </a:xfrm>
          <a:prstGeom prst="bentConnector2">
            <a:avLst/>
          </a:prstGeom>
          <a:noFill/>
          <a:ln w="9525" cap="flat" cmpd="sng">
            <a:solidFill>
              <a:schemeClr val="accent1"/>
            </a:solidFill>
            <a:prstDash val="solid"/>
            <a:miter lim="800000"/>
            <a:headEnd type="none" w="sm" len="sm"/>
            <a:tailEnd type="triangle" w="med" len="med"/>
          </a:ln>
        </p:spPr>
      </p:cxnSp>
      <p:sp>
        <p:nvSpPr>
          <p:cNvPr id="91" name="Google Shape;91;g3d91b19f9f7_0_5"/>
          <p:cNvSpPr/>
          <p:nvPr/>
        </p:nvSpPr>
        <p:spPr>
          <a:xfrm>
            <a:off x="7979016" y="1891581"/>
            <a:ext cx="1037400" cy="320100"/>
          </a:xfrm>
          <a:prstGeom prst="rect">
            <a:avLst/>
          </a:prstGeom>
          <a:solidFill>
            <a:srgbClr val="AEABAB"/>
          </a:solid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      Power BI</a:t>
            </a:r>
            <a:endParaRPr sz="1300" b="0" i="0" u="none" strike="noStrike" cap="none">
              <a:solidFill>
                <a:schemeClr val="dk1"/>
              </a:solidFill>
              <a:latin typeface="Calibri"/>
              <a:ea typeface="Calibri"/>
              <a:cs typeface="Calibri"/>
              <a:sym typeface="Calibri"/>
            </a:endParaRPr>
          </a:p>
        </p:txBody>
      </p:sp>
      <p:cxnSp>
        <p:nvCxnSpPr>
          <p:cNvPr id="92" name="Google Shape;92;g3d91b19f9f7_0_5"/>
          <p:cNvCxnSpPr>
            <a:stCxn id="89" idx="3"/>
            <a:endCxn id="78" idx="2"/>
          </p:cNvCxnSpPr>
          <p:nvPr/>
        </p:nvCxnSpPr>
        <p:spPr>
          <a:xfrm rot="10800000" flipH="1">
            <a:off x="4365933" y="2638950"/>
            <a:ext cx="519300" cy="690000"/>
          </a:xfrm>
          <a:prstGeom prst="bentConnector2">
            <a:avLst/>
          </a:prstGeom>
          <a:noFill/>
          <a:ln w="9525" cap="flat" cmpd="sng">
            <a:solidFill>
              <a:schemeClr val="accent1"/>
            </a:solidFill>
            <a:prstDash val="solid"/>
            <a:miter lim="800000"/>
            <a:headEnd type="none" w="sm" len="sm"/>
            <a:tailEnd type="triangle" w="med" len="med"/>
          </a:ln>
        </p:spPr>
      </p:cxnSp>
      <p:sp>
        <p:nvSpPr>
          <p:cNvPr id="93" name="Google Shape;93;g3d91b19f9f7_0_5"/>
          <p:cNvSpPr/>
          <p:nvPr/>
        </p:nvSpPr>
        <p:spPr>
          <a:xfrm>
            <a:off x="4381644" y="2203026"/>
            <a:ext cx="1037400" cy="320100"/>
          </a:xfrm>
          <a:prstGeom prst="rect">
            <a:avLst/>
          </a:prstGeom>
          <a:solidFill>
            <a:srgbClr val="AEABAB"/>
          </a:solid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      AWS S3</a:t>
            </a:r>
            <a:endParaRPr sz="1300" b="0" i="0" u="none" strike="noStrike" cap="none">
              <a:solidFill>
                <a:schemeClr val="dk1"/>
              </a:solidFill>
              <a:latin typeface="Calibri"/>
              <a:ea typeface="Calibri"/>
              <a:cs typeface="Calibri"/>
              <a:sym typeface="Calibri"/>
            </a:endParaRPr>
          </a:p>
        </p:txBody>
      </p:sp>
      <p:cxnSp>
        <p:nvCxnSpPr>
          <p:cNvPr id="94" name="Google Shape;94;g3d91b19f9f7_0_5"/>
          <p:cNvCxnSpPr/>
          <p:nvPr/>
        </p:nvCxnSpPr>
        <p:spPr>
          <a:xfrm rot="-5400000" flipH="1">
            <a:off x="4798700" y="2905200"/>
            <a:ext cx="1224300" cy="701400"/>
          </a:xfrm>
          <a:prstGeom prst="bentConnector3">
            <a:avLst>
              <a:gd name="adj1" fmla="val 99379"/>
            </a:avLst>
          </a:prstGeom>
          <a:noFill/>
          <a:ln w="9525" cap="flat" cmpd="sng">
            <a:solidFill>
              <a:schemeClr val="accent1"/>
            </a:solidFill>
            <a:prstDash val="solid"/>
            <a:miter lim="800000"/>
            <a:headEnd type="none" w="sm" len="sm"/>
            <a:tailEnd type="triangle" w="med" len="med"/>
          </a:ln>
        </p:spPr>
      </p:cxnSp>
      <p:sp>
        <p:nvSpPr>
          <p:cNvPr id="95" name="Google Shape;95;g3d91b19f9f7_0_5"/>
          <p:cNvSpPr/>
          <p:nvPr/>
        </p:nvSpPr>
        <p:spPr>
          <a:xfrm>
            <a:off x="5664269" y="3572690"/>
            <a:ext cx="1717800" cy="590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Python</a:t>
            </a:r>
            <a:endParaRPr/>
          </a:p>
          <a:p>
            <a:pPr marL="0" marR="0" lvl="0" indent="0" algn="ctr" rtl="0">
              <a:spcBef>
                <a:spcPts val="0"/>
              </a:spcBef>
              <a:spcAft>
                <a:spcPts val="0"/>
              </a:spcAft>
              <a:buClr>
                <a:srgbClr val="E8F0F7"/>
              </a:buClr>
              <a:buSzPts val="1300"/>
              <a:buFont typeface="Calibri"/>
              <a:buNone/>
            </a:pPr>
            <a:r>
              <a:rPr lang="en-US" sz="1100">
                <a:solidFill>
                  <a:srgbClr val="E8F0F7"/>
                </a:solidFill>
                <a:latin typeface="Calibri"/>
                <a:ea typeface="Calibri"/>
                <a:cs typeface="Calibri"/>
                <a:sym typeface="Calibri"/>
              </a:rPr>
              <a:t>(Boto3, SQLAlchemy)</a:t>
            </a:r>
            <a:endParaRPr sz="1100" b="0" i="0" u="none" strike="noStrike" cap="none">
              <a:solidFill>
                <a:schemeClr val="dk1"/>
              </a:solidFill>
              <a:latin typeface="Calibri"/>
              <a:ea typeface="Calibri"/>
              <a:cs typeface="Calibri"/>
              <a:sym typeface="Calibri"/>
            </a:endParaRPr>
          </a:p>
        </p:txBody>
      </p:sp>
      <p:sp>
        <p:nvSpPr>
          <p:cNvPr id="96" name="Google Shape;96;g3d91b19f9f7_0_5"/>
          <p:cNvSpPr/>
          <p:nvPr/>
        </p:nvSpPr>
        <p:spPr>
          <a:xfrm>
            <a:off x="5899367" y="2176540"/>
            <a:ext cx="1277700" cy="700500"/>
          </a:xfrm>
          <a:prstGeom prst="rect">
            <a:avLst/>
          </a:prstGeom>
          <a:solidFill>
            <a:srgbClr val="AEABAB"/>
          </a:solid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     AWS RDS</a:t>
            </a:r>
            <a:endParaRPr sz="1300" b="0" i="0" u="none" strike="noStrike" cap="none">
              <a:solidFill>
                <a:srgbClr val="E8F0F7"/>
              </a:solidFill>
              <a:latin typeface="Calibri"/>
              <a:ea typeface="Calibri"/>
              <a:cs typeface="Calibri"/>
              <a:sym typeface="Calibri"/>
            </a:endParaRPr>
          </a:p>
          <a:p>
            <a:pPr marL="0" marR="0" lvl="0" indent="0" algn="ctr" rtl="0">
              <a:spcBef>
                <a:spcPts val="0"/>
              </a:spcBef>
              <a:spcAft>
                <a:spcPts val="0"/>
              </a:spcAft>
              <a:buClr>
                <a:srgbClr val="E8F0F7"/>
              </a:buClr>
              <a:buSzPts val="1300"/>
              <a:buFont typeface="Calibri"/>
              <a:buNone/>
            </a:pPr>
            <a:r>
              <a:rPr lang="en-US" sz="1300" b="1">
                <a:solidFill>
                  <a:srgbClr val="E8F0F7"/>
                </a:solidFill>
                <a:latin typeface="Calibri"/>
                <a:ea typeface="Calibri"/>
                <a:cs typeface="Calibri"/>
                <a:sym typeface="Calibri"/>
              </a:rPr>
              <a:t>PostgreSQL (engine)</a:t>
            </a:r>
            <a:endParaRPr sz="1300" b="1">
              <a:solidFill>
                <a:srgbClr val="E8F0F7"/>
              </a:solidFill>
              <a:latin typeface="Calibri"/>
              <a:ea typeface="Calibri"/>
              <a:cs typeface="Calibri"/>
              <a:sym typeface="Calibri"/>
            </a:endParaRPr>
          </a:p>
        </p:txBody>
      </p:sp>
      <p:pic>
        <p:nvPicPr>
          <p:cNvPr id="97" name="Google Shape;97;g3d91b19f9f7_0_5" descr="Microsoft Power BI Logo and symbol, meaning, history, PNG, brand"/>
          <p:cNvPicPr preferRelativeResize="0"/>
          <p:nvPr/>
        </p:nvPicPr>
        <p:blipFill rotWithShape="1">
          <a:blip r:embed="rId5">
            <a:alphaModFix/>
          </a:blip>
          <a:srcRect/>
          <a:stretch/>
        </p:blipFill>
        <p:spPr>
          <a:xfrm>
            <a:off x="7651942" y="1787792"/>
            <a:ext cx="801822" cy="451022"/>
          </a:xfrm>
          <a:prstGeom prst="rect">
            <a:avLst/>
          </a:prstGeom>
          <a:noFill/>
          <a:ln>
            <a:noFill/>
          </a:ln>
        </p:spPr>
      </p:pic>
      <p:pic>
        <p:nvPicPr>
          <p:cNvPr id="98" name="Google Shape;98;g3d91b19f9f7_0_5" descr="AWS RDS Logo PNG Transparent – Brands Logos"/>
          <p:cNvPicPr preferRelativeResize="0"/>
          <p:nvPr/>
        </p:nvPicPr>
        <p:blipFill rotWithShape="1">
          <a:blip r:embed="rId6">
            <a:alphaModFix/>
          </a:blip>
          <a:srcRect/>
          <a:stretch/>
        </p:blipFill>
        <p:spPr>
          <a:xfrm>
            <a:off x="5853797" y="2072171"/>
            <a:ext cx="377809" cy="426515"/>
          </a:xfrm>
          <a:prstGeom prst="rect">
            <a:avLst/>
          </a:prstGeom>
          <a:noFill/>
          <a:ln>
            <a:noFill/>
          </a:ln>
        </p:spPr>
      </p:pic>
      <p:pic>
        <p:nvPicPr>
          <p:cNvPr id="99" name="Google Shape;99;g3d91b19f9f7_0_5" descr="AWS S3 Logo PNG Transparent – Brands Logos"/>
          <p:cNvPicPr preferRelativeResize="0"/>
          <p:nvPr/>
        </p:nvPicPr>
        <p:blipFill rotWithShape="1">
          <a:blip r:embed="rId7">
            <a:alphaModFix/>
          </a:blip>
          <a:srcRect/>
          <a:stretch/>
        </p:blipFill>
        <p:spPr>
          <a:xfrm>
            <a:off x="2811276" y="2163480"/>
            <a:ext cx="339852" cy="411482"/>
          </a:xfrm>
          <a:prstGeom prst="rect">
            <a:avLst/>
          </a:prstGeom>
          <a:noFill/>
          <a:ln>
            <a:noFill/>
          </a:ln>
        </p:spPr>
      </p:pic>
      <p:pic>
        <p:nvPicPr>
          <p:cNvPr id="100" name="Google Shape;100;g3d91b19f9f7_0_5" descr="AWS S3 Logo PNG Transparent – Brands Logos"/>
          <p:cNvPicPr preferRelativeResize="0"/>
          <p:nvPr/>
        </p:nvPicPr>
        <p:blipFill rotWithShape="1">
          <a:blip r:embed="rId7">
            <a:alphaModFix/>
          </a:blip>
          <a:srcRect/>
          <a:stretch/>
        </p:blipFill>
        <p:spPr>
          <a:xfrm>
            <a:off x="4327980" y="2156134"/>
            <a:ext cx="339852" cy="411482"/>
          </a:xfrm>
          <a:prstGeom prst="rect">
            <a:avLst/>
          </a:prstGeom>
          <a:noFill/>
          <a:ln>
            <a:noFill/>
          </a:ln>
        </p:spPr>
      </p:pic>
      <p:cxnSp>
        <p:nvCxnSpPr>
          <p:cNvPr id="101" name="Google Shape;101;g3d91b19f9f7_0_5"/>
          <p:cNvCxnSpPr>
            <a:stCxn id="77" idx="3"/>
          </p:cNvCxnSpPr>
          <p:nvPr/>
        </p:nvCxnSpPr>
        <p:spPr>
          <a:xfrm>
            <a:off x="7366564" y="2158489"/>
            <a:ext cx="502500" cy="6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sp>
        <p:nvSpPr>
          <p:cNvPr id="102" name="Google Shape;102;g3d91b19f9f7_0_5"/>
          <p:cNvSpPr txBox="1"/>
          <p:nvPr/>
        </p:nvSpPr>
        <p:spPr>
          <a:xfrm>
            <a:off x="3624355" y="3664878"/>
            <a:ext cx="8514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rgbClr val="9CC2E5"/>
                </a:solidFill>
                <a:latin typeface="Calibri"/>
                <a:ea typeface="Calibri"/>
                <a:cs typeface="Calibri"/>
                <a:sym typeface="Calibri"/>
              </a:rPr>
              <a:t>Nettoyage &amp; typage</a:t>
            </a:r>
            <a:endParaRPr/>
          </a:p>
        </p:txBody>
      </p:sp>
      <p:cxnSp>
        <p:nvCxnSpPr>
          <p:cNvPr id="103" name="Google Shape;103;g3d91b19f9f7_0_5"/>
          <p:cNvCxnSpPr>
            <a:stCxn id="87" idx="3"/>
            <a:endCxn id="89" idx="1"/>
          </p:cNvCxnSpPr>
          <p:nvPr/>
        </p:nvCxnSpPr>
        <p:spPr>
          <a:xfrm rot="10800000" flipH="1">
            <a:off x="1554186" y="3329025"/>
            <a:ext cx="2125500" cy="75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04" name="Google Shape;104;g3d91b19f9f7_0_5"/>
          <p:cNvCxnSpPr>
            <a:stCxn id="95" idx="0"/>
            <a:endCxn id="77" idx="2"/>
          </p:cNvCxnSpPr>
          <p:nvPr/>
        </p:nvCxnSpPr>
        <p:spPr>
          <a:xfrm rot="10800000">
            <a:off x="6507569" y="3314990"/>
            <a:ext cx="15600" cy="257700"/>
          </a:xfrm>
          <a:prstGeom prst="straightConnector1">
            <a:avLst/>
          </a:prstGeom>
          <a:noFill/>
          <a:ln w="9525" cap="flat" cmpd="sng">
            <a:solidFill>
              <a:schemeClr val="accent1"/>
            </a:solidFill>
            <a:prstDash val="solid"/>
            <a:miter lim="800000"/>
            <a:headEnd type="none" w="sm" len="sm"/>
            <a:tailEnd type="triangle" w="med" len="med"/>
          </a:ln>
        </p:spPr>
      </p:cxnSp>
      <p:sp>
        <p:nvSpPr>
          <p:cNvPr id="105" name="Google Shape;105;g3d91b19f9f7_0_5"/>
          <p:cNvSpPr txBox="1"/>
          <p:nvPr/>
        </p:nvSpPr>
        <p:spPr>
          <a:xfrm>
            <a:off x="1406125" y="4496778"/>
            <a:ext cx="65274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solidFill>
                  <a:schemeClr val="lt1"/>
                </a:solidFill>
                <a:latin typeface="Calibri"/>
                <a:ea typeface="Calibri"/>
                <a:cs typeface="Calibri"/>
                <a:sym typeface="Calibri"/>
              </a:rPr>
              <a:t>Processus </a:t>
            </a:r>
            <a:r>
              <a:rPr lang="en-US" b="1">
                <a:solidFill>
                  <a:schemeClr val="lt1"/>
                </a:solidFill>
                <a:latin typeface="Calibri"/>
                <a:ea typeface="Calibri"/>
                <a:cs typeface="Calibri"/>
                <a:sym typeface="Calibri"/>
              </a:rPr>
              <a:t>ETLT </a:t>
            </a:r>
            <a:r>
              <a:rPr lang="en-US">
                <a:solidFill>
                  <a:schemeClr val="lt1"/>
                </a:solidFill>
                <a:latin typeface="Calibri"/>
                <a:ea typeface="Calibri"/>
                <a:cs typeface="Calibri"/>
                <a:sym typeface="Calibri"/>
              </a:rPr>
              <a:t>automatisé, garantissant l'intégrité et la traçabilité des données</a:t>
            </a:r>
            <a:endParaRPr sz="1600">
              <a:solidFill>
                <a:schemeClr val="lt1"/>
              </a:solidFill>
            </a:endParaRPr>
          </a:p>
        </p:txBody>
      </p:sp>
      <p:sp>
        <p:nvSpPr>
          <p:cNvPr id="106" name="Google Shape;106;g3d91b19f9f7_0_5"/>
          <p:cNvSpPr/>
          <p:nvPr/>
        </p:nvSpPr>
        <p:spPr>
          <a:xfrm>
            <a:off x="5956367" y="1029132"/>
            <a:ext cx="1046700" cy="276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D700"/>
              </a:buClr>
              <a:buSzPts val="2000"/>
              <a:buFont typeface="Calibri"/>
              <a:buNone/>
            </a:pPr>
            <a:r>
              <a:rPr lang="en-US" sz="2000" b="1" i="0" u="none" strike="noStrike" cap="none">
                <a:solidFill>
                  <a:srgbClr val="FFD700"/>
                </a:solidFill>
                <a:latin typeface="Calibri"/>
                <a:ea typeface="Calibri"/>
                <a:cs typeface="Calibri"/>
                <a:sym typeface="Calibri"/>
              </a:rPr>
              <a:t>GOLD</a:t>
            </a:r>
            <a:endParaRPr sz="2000" b="0" i="0" u="none" strike="noStrike" cap="none">
              <a:solidFill>
                <a:srgbClr val="000000"/>
              </a:solidFill>
              <a:latin typeface="Calibri"/>
              <a:ea typeface="Calibri"/>
              <a:cs typeface="Calibri"/>
              <a:sym typeface="Calibri"/>
            </a:endParaRPr>
          </a:p>
        </p:txBody>
      </p:sp>
      <p:pic>
        <p:nvPicPr>
          <p:cNvPr id="107" name="Google Shape;107;g3d91b19f9f7_0_5" descr="preencoded.png"/>
          <p:cNvPicPr preferRelativeResize="0"/>
          <p:nvPr/>
        </p:nvPicPr>
        <p:blipFill rotWithShape="1">
          <a:blip r:embed="rId8">
            <a:alphaModFix/>
          </a:blip>
          <a:srcRect/>
          <a:stretch/>
        </p:blipFill>
        <p:spPr>
          <a:xfrm>
            <a:off x="4688162" y="1677587"/>
            <a:ext cx="414924" cy="438735"/>
          </a:xfrm>
          <a:prstGeom prst="rect">
            <a:avLst/>
          </a:prstGeom>
          <a:noFill/>
          <a:ln>
            <a:noFill/>
          </a:ln>
        </p:spPr>
      </p:pic>
      <p:pic>
        <p:nvPicPr>
          <p:cNvPr id="108" name="Google Shape;108;g3d91b19f9f7_0_5" descr="preencoded.png"/>
          <p:cNvPicPr preferRelativeResize="0"/>
          <p:nvPr/>
        </p:nvPicPr>
        <p:blipFill rotWithShape="1">
          <a:blip r:embed="rId9">
            <a:alphaModFix/>
          </a:blip>
          <a:srcRect/>
          <a:stretch/>
        </p:blipFill>
        <p:spPr>
          <a:xfrm>
            <a:off x="6323179" y="1663611"/>
            <a:ext cx="414924" cy="438735"/>
          </a:xfrm>
          <a:prstGeom prst="rect">
            <a:avLst/>
          </a:prstGeom>
          <a:noFill/>
          <a:ln>
            <a:noFill/>
          </a:ln>
        </p:spPr>
      </p:pic>
      <p:sp>
        <p:nvSpPr>
          <p:cNvPr id="109" name="Google Shape;109;g3d91b19f9f7_0_5"/>
          <p:cNvSpPr txBox="1"/>
          <p:nvPr/>
        </p:nvSpPr>
        <p:spPr>
          <a:xfrm>
            <a:off x="3297105" y="1323235"/>
            <a:ext cx="4524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rgbClr val="9CC2E5"/>
                </a:solidFill>
                <a:latin typeface="Calibri"/>
                <a:ea typeface="Calibri"/>
                <a:cs typeface="Calibri"/>
                <a:sym typeface="Calibri"/>
              </a:rPr>
              <a:t>raw</a:t>
            </a:r>
            <a:endParaRPr/>
          </a:p>
        </p:txBody>
      </p:sp>
      <p:sp>
        <p:nvSpPr>
          <p:cNvPr id="110" name="Google Shape;110;g3d91b19f9f7_0_5"/>
          <p:cNvSpPr txBox="1"/>
          <p:nvPr/>
        </p:nvSpPr>
        <p:spPr>
          <a:xfrm>
            <a:off x="4568977" y="1312511"/>
            <a:ext cx="7458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rgbClr val="9CC2E5"/>
                </a:solidFill>
                <a:latin typeface="Calibri"/>
                <a:ea typeface="Calibri"/>
                <a:cs typeface="Calibri"/>
                <a:sym typeface="Calibri"/>
              </a:rPr>
              <a:t>cleaned</a:t>
            </a:r>
            <a:endParaRPr/>
          </a:p>
        </p:txBody>
      </p:sp>
      <p:sp>
        <p:nvSpPr>
          <p:cNvPr id="111" name="Google Shape;111;g3d91b19f9f7_0_5"/>
          <p:cNvSpPr txBox="1"/>
          <p:nvPr/>
        </p:nvSpPr>
        <p:spPr>
          <a:xfrm>
            <a:off x="6090467" y="1283411"/>
            <a:ext cx="8778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rgbClr val="9CC2E5"/>
                </a:solidFill>
                <a:latin typeface="Calibri"/>
                <a:ea typeface="Calibri"/>
                <a:cs typeface="Calibri"/>
                <a:sym typeface="Calibri"/>
              </a:rPr>
              <a:t>enhanced</a:t>
            </a:r>
            <a:endParaRPr/>
          </a:p>
        </p:txBody>
      </p:sp>
      <p:sp>
        <p:nvSpPr>
          <p:cNvPr id="112" name="Google Shape;112;g3d91b19f9f7_0_5"/>
          <p:cNvSpPr txBox="1"/>
          <p:nvPr/>
        </p:nvSpPr>
        <p:spPr>
          <a:xfrm>
            <a:off x="6211664" y="4163378"/>
            <a:ext cx="6531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rgbClr val="9CC2E5"/>
                </a:solidFill>
                <a:latin typeface="Calibri"/>
                <a:ea typeface="Calibri"/>
                <a:cs typeface="Calibri"/>
                <a:sym typeface="Calibri"/>
              </a:rPr>
              <a:t>Loader</a:t>
            </a:r>
            <a:endParaRPr/>
          </a:p>
        </p:txBody>
      </p:sp>
      <p:sp>
        <p:nvSpPr>
          <p:cNvPr id="113" name="Google Shape;113;g3d91b19f9f7_0_5"/>
          <p:cNvSpPr txBox="1"/>
          <p:nvPr/>
        </p:nvSpPr>
        <p:spPr>
          <a:xfrm>
            <a:off x="6093117" y="2957539"/>
            <a:ext cx="8514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rgbClr val="9CC2E5"/>
                </a:solidFill>
                <a:latin typeface="Calibri"/>
                <a:ea typeface="Calibri"/>
                <a:cs typeface="Calibri"/>
                <a:sym typeface="Calibri"/>
              </a:rPr>
              <a:t>SQL scripts </a:t>
            </a:r>
            <a:endParaRPr/>
          </a:p>
        </p:txBody>
      </p:sp>
      <p:sp>
        <p:nvSpPr>
          <p:cNvPr id="116" name="Google Shape;116;g3d91b19f9f7_0_5"/>
          <p:cNvSpPr txBox="1"/>
          <p:nvPr/>
        </p:nvSpPr>
        <p:spPr>
          <a:xfrm>
            <a:off x="455576" y="2113437"/>
            <a:ext cx="8778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rgbClr val="9CC2E5"/>
                </a:solidFill>
                <a:latin typeface="Calibri"/>
                <a:ea typeface="Calibri"/>
                <a:cs typeface="Calibri"/>
                <a:sym typeface="Calibri"/>
              </a:rPr>
              <a:t>4 datasets</a:t>
            </a:r>
            <a:endParaRPr sz="1200" i="1">
              <a:solidFill>
                <a:srgbClr val="9CC2E5"/>
              </a:solidFill>
              <a:latin typeface="Calibri"/>
              <a:ea typeface="Calibri"/>
              <a:cs typeface="Calibri"/>
              <a:sym typeface="Calibri"/>
            </a:endParaRPr>
          </a:p>
          <a:p>
            <a:pPr marL="0" marR="0" lvl="0" indent="0" algn="l" rtl="0">
              <a:spcBef>
                <a:spcPts val="0"/>
              </a:spcBef>
              <a:spcAft>
                <a:spcPts val="0"/>
              </a:spcAft>
              <a:buNone/>
            </a:pPr>
            <a:r>
              <a:rPr lang="en-US" sz="1200" i="1">
                <a:solidFill>
                  <a:srgbClr val="9CC2E5"/>
                </a:solidFill>
                <a:latin typeface="Calibri"/>
                <a:ea typeface="Calibri"/>
                <a:cs typeface="Calibri"/>
                <a:sym typeface="Calibri"/>
              </a:rPr>
              <a:t>4 années</a:t>
            </a:r>
            <a:endParaRPr sz="1200" i="1">
              <a:solidFill>
                <a:srgbClr val="9CC2E5"/>
              </a:solidFill>
              <a:latin typeface="Calibri"/>
              <a:ea typeface="Calibri"/>
              <a:cs typeface="Calibri"/>
              <a:sym typeface="Calibri"/>
            </a:endParaRPr>
          </a:p>
          <a:p>
            <a:pPr marL="0" marR="0" lvl="0" indent="0" algn="l" rtl="0">
              <a:spcBef>
                <a:spcPts val="0"/>
              </a:spcBef>
              <a:spcAft>
                <a:spcPts val="0"/>
              </a:spcAft>
              <a:buNone/>
            </a:pPr>
            <a:r>
              <a:rPr lang="en-US" sz="1200" i="1">
                <a:solidFill>
                  <a:srgbClr val="9CC2E5"/>
                </a:solidFill>
                <a:latin typeface="Calibri"/>
                <a:ea typeface="Calibri"/>
                <a:cs typeface="Calibri"/>
                <a:sym typeface="Calibri"/>
              </a:rPr>
              <a:t>16 fichiers </a:t>
            </a:r>
            <a:endParaRPr sz="1200" i="1">
              <a:solidFill>
                <a:srgbClr val="9CC2E5"/>
              </a:solidFill>
              <a:latin typeface="Calibri"/>
              <a:ea typeface="Calibri"/>
              <a:cs typeface="Calibri"/>
              <a:sym typeface="Calibri"/>
            </a:endParaRPr>
          </a:p>
        </p:txBody>
      </p:sp>
      <p:pic>
        <p:nvPicPr>
          <p:cNvPr id="117" name="Google Shape;117;g3d91b19f9f7_0_5"/>
          <p:cNvPicPr preferRelativeResize="0"/>
          <p:nvPr/>
        </p:nvPicPr>
        <p:blipFill>
          <a:blip r:embed="rId10">
            <a:alphaModFix/>
          </a:blip>
          <a:stretch>
            <a:fillRect/>
          </a:stretch>
        </p:blipFill>
        <p:spPr>
          <a:xfrm>
            <a:off x="6689479" y="2523164"/>
            <a:ext cx="801825" cy="534550"/>
          </a:xfrm>
          <a:prstGeom prst="rect">
            <a:avLst/>
          </a:prstGeom>
          <a:noFill/>
          <a:ln>
            <a:noFill/>
          </a:ln>
        </p:spPr>
      </p:pic>
      <p:sp>
        <p:nvSpPr>
          <p:cNvPr id="118" name="Google Shape;118;g3d91b19f9f7_0_5"/>
          <p:cNvSpPr/>
          <p:nvPr/>
        </p:nvSpPr>
        <p:spPr>
          <a:xfrm>
            <a:off x="7050613" y="2125352"/>
            <a:ext cx="163404" cy="248670"/>
          </a:xfrm>
          <a:prstGeom prst="lightningBol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t>                                                                                                                                                                                                                                                                                                                                                                                                                                                                                                                                                                                                                                                                                                                                                                                                                                                          </a:t>
            </a:r>
            <a:endParaRPr/>
          </a:p>
        </p:txBody>
      </p:sp>
      <p:sp>
        <p:nvSpPr>
          <p:cNvPr id="121" name="Google Shape;121;g3d91b19f9f7_0_5"/>
          <p:cNvSpPr/>
          <p:nvPr/>
        </p:nvSpPr>
        <p:spPr>
          <a:xfrm>
            <a:off x="1897821" y="1524082"/>
            <a:ext cx="686100" cy="576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Python</a:t>
            </a:r>
            <a:endParaRPr/>
          </a:p>
          <a:p>
            <a:pPr marL="0" marR="0" lvl="0" indent="0" algn="ctr" rtl="0">
              <a:spcBef>
                <a:spcPts val="0"/>
              </a:spcBef>
              <a:spcAft>
                <a:spcPts val="0"/>
              </a:spcAft>
              <a:buClr>
                <a:srgbClr val="E8F0F7"/>
              </a:buClr>
              <a:buSzPts val="1300"/>
              <a:buFont typeface="Calibri"/>
              <a:buNone/>
            </a:pPr>
            <a:r>
              <a:rPr lang="en-US" sz="1100">
                <a:solidFill>
                  <a:srgbClr val="E8F0F7"/>
                </a:solidFill>
                <a:latin typeface="Calibri"/>
                <a:ea typeface="Calibri"/>
                <a:cs typeface="Calibri"/>
                <a:sym typeface="Calibri"/>
              </a:rPr>
              <a:t>(Boto3,</a:t>
            </a:r>
            <a:endParaRPr sz="1100">
              <a:solidFill>
                <a:srgbClr val="E8F0F7"/>
              </a:solidFill>
              <a:latin typeface="Calibri"/>
              <a:ea typeface="Calibri"/>
              <a:cs typeface="Calibri"/>
              <a:sym typeface="Calibri"/>
            </a:endParaRPr>
          </a:p>
          <a:p>
            <a:pPr marL="0" marR="0" lvl="0" indent="0" algn="ctr" rtl="0">
              <a:spcBef>
                <a:spcPts val="0"/>
              </a:spcBef>
              <a:spcAft>
                <a:spcPts val="0"/>
              </a:spcAft>
              <a:buClr>
                <a:srgbClr val="E8F0F7"/>
              </a:buClr>
              <a:buSzPts val="1300"/>
              <a:buFont typeface="Calibri"/>
              <a:buNone/>
            </a:pPr>
            <a:r>
              <a:rPr lang="en-US" sz="1100">
                <a:solidFill>
                  <a:srgbClr val="E8F0F7"/>
                </a:solidFill>
                <a:latin typeface="Calibri"/>
                <a:ea typeface="Calibri"/>
                <a:cs typeface="Calibri"/>
                <a:sym typeface="Calibri"/>
              </a:rPr>
              <a:t>Asynch)</a:t>
            </a:r>
            <a:endParaRPr sz="1100" b="0" i="0" u="none" strike="noStrike" cap="none">
              <a:solidFill>
                <a:schemeClr val="dk1"/>
              </a:solidFill>
              <a:latin typeface="Calibri"/>
              <a:ea typeface="Calibri"/>
              <a:cs typeface="Calibri"/>
              <a:sym typeface="Calibri"/>
            </a:endParaRPr>
          </a:p>
        </p:txBody>
      </p:sp>
      <p:cxnSp>
        <p:nvCxnSpPr>
          <p:cNvPr id="122" name="Google Shape;122;g3d91b19f9f7_0_5"/>
          <p:cNvCxnSpPr>
            <a:stCxn id="121" idx="3"/>
            <a:endCxn id="80" idx="1"/>
          </p:cNvCxnSpPr>
          <p:nvPr/>
        </p:nvCxnSpPr>
        <p:spPr>
          <a:xfrm>
            <a:off x="2583921" y="1812382"/>
            <a:ext cx="384300" cy="2100"/>
          </a:xfrm>
          <a:prstGeom prst="straightConnector1">
            <a:avLst/>
          </a:prstGeom>
          <a:noFill/>
          <a:ln w="9525" cap="flat" cmpd="sng">
            <a:solidFill>
              <a:schemeClr val="accent1"/>
            </a:solidFill>
            <a:prstDash val="solid"/>
            <a:round/>
            <a:headEnd type="none" w="med" len="med"/>
            <a:tailEnd type="triangle" w="med" len="med"/>
          </a:ln>
        </p:spPr>
      </p:cxnSp>
      <p:cxnSp>
        <p:nvCxnSpPr>
          <p:cNvPr id="123" name="Google Shape;123;g3d91b19f9f7_0_5"/>
          <p:cNvCxnSpPr>
            <a:stCxn id="85" idx="3"/>
            <a:endCxn id="121" idx="1"/>
          </p:cNvCxnSpPr>
          <p:nvPr/>
        </p:nvCxnSpPr>
        <p:spPr>
          <a:xfrm rot="10800000" flipH="1">
            <a:off x="1545874" y="1812445"/>
            <a:ext cx="351900" cy="4800"/>
          </a:xfrm>
          <a:prstGeom prst="straightConnector1">
            <a:avLst/>
          </a:prstGeom>
          <a:noFill/>
          <a:ln w="9525" cap="flat" cmpd="sng">
            <a:solidFill>
              <a:schemeClr val="accent1"/>
            </a:solidFill>
            <a:prstDash val="solid"/>
            <a:round/>
            <a:headEnd type="none" w="med" len="med"/>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76"/>
        <p:cNvGrpSpPr/>
        <p:nvPr/>
      </p:nvGrpSpPr>
      <p:grpSpPr>
        <a:xfrm>
          <a:off x="0" y="0"/>
          <a:ext cx="0" cy="0"/>
          <a:chOff x="0" y="0"/>
          <a:chExt cx="0" cy="0"/>
        </a:xfrm>
      </p:grpSpPr>
      <p:sp>
        <p:nvSpPr>
          <p:cNvPr id="77" name="Google Shape;77;g3d91b19f9f7_0_5"/>
          <p:cNvSpPr/>
          <p:nvPr/>
        </p:nvSpPr>
        <p:spPr>
          <a:xfrm>
            <a:off x="5648764" y="1001989"/>
            <a:ext cx="1717800" cy="2313000"/>
          </a:xfrm>
          <a:prstGeom prst="roundRect">
            <a:avLst>
              <a:gd name="adj" fmla="val 3448"/>
            </a:avLst>
          </a:prstGeom>
          <a:solidFill>
            <a:srgbClr val="1A2E45"/>
          </a:solidFill>
          <a:ln w="25400" cap="flat" cmpd="sng">
            <a:solidFill>
              <a:srgbClr val="FFD700"/>
            </a:solidFill>
            <a:prstDash val="solid"/>
            <a:round/>
            <a:headEnd type="none" w="sm" len="sm"/>
            <a:tailEnd type="none" w="sm" len="sm"/>
          </a:ln>
          <a:effectLst>
            <a:outerShdw blurRad="152400" dist="50800" dir="8100000" algn="bl" rotWithShape="0">
              <a:srgbClr val="000000">
                <a:alpha val="2509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g3d91b19f9f7_0_5"/>
          <p:cNvSpPr/>
          <p:nvPr/>
        </p:nvSpPr>
        <p:spPr>
          <a:xfrm>
            <a:off x="4341250" y="1013737"/>
            <a:ext cx="1088100" cy="1625100"/>
          </a:xfrm>
          <a:prstGeom prst="roundRect">
            <a:avLst>
              <a:gd name="adj" fmla="val 3448"/>
            </a:avLst>
          </a:prstGeom>
          <a:solidFill>
            <a:srgbClr val="1A2E45"/>
          </a:solidFill>
          <a:ln w="25400" cap="flat" cmpd="sng">
            <a:solidFill>
              <a:srgbClr val="C0C0C0"/>
            </a:solidFill>
            <a:prstDash val="solid"/>
            <a:round/>
            <a:headEnd type="none" w="sm" len="sm"/>
            <a:tailEnd type="none" w="sm" len="sm"/>
          </a:ln>
          <a:effectLst>
            <a:outerShdw blurRad="152400" dist="50800" dir="8100000" algn="bl" rotWithShape="0">
              <a:srgbClr val="000000">
                <a:alpha val="25099"/>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79" name="Google Shape;79;g3d91b19f9f7_0_5"/>
          <p:cNvSpPr/>
          <p:nvPr/>
        </p:nvSpPr>
        <p:spPr>
          <a:xfrm>
            <a:off x="561488" y="119473"/>
            <a:ext cx="8229600" cy="549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000"/>
              <a:buFont typeface="Calibri"/>
              <a:buNone/>
            </a:pPr>
            <a:r>
              <a:rPr lang="en-US" sz="3000" b="1" i="0" u="none" strike="noStrike" cap="none">
                <a:solidFill>
                  <a:srgbClr val="FFFFFF"/>
                </a:solidFill>
                <a:latin typeface="Calibri"/>
                <a:ea typeface="Calibri"/>
                <a:cs typeface="Calibri"/>
                <a:sym typeface="Calibri"/>
              </a:rPr>
              <a:t>Une architecture de donnée robuste (médaillon)</a:t>
            </a:r>
            <a:endParaRPr sz="3000" b="0" i="0" u="none" strike="noStrike" cap="none">
              <a:solidFill>
                <a:schemeClr val="dk1"/>
              </a:solidFill>
              <a:latin typeface="Calibri"/>
              <a:ea typeface="Calibri"/>
              <a:cs typeface="Calibri"/>
              <a:sym typeface="Calibri"/>
            </a:endParaRPr>
          </a:p>
        </p:txBody>
      </p:sp>
      <p:sp>
        <p:nvSpPr>
          <p:cNvPr id="80" name="Google Shape;80;g3d91b19f9f7_0_5"/>
          <p:cNvSpPr/>
          <p:nvPr/>
        </p:nvSpPr>
        <p:spPr>
          <a:xfrm>
            <a:off x="2968213" y="1001987"/>
            <a:ext cx="1037400" cy="1625100"/>
          </a:xfrm>
          <a:prstGeom prst="roundRect">
            <a:avLst>
              <a:gd name="adj" fmla="val 3448"/>
            </a:avLst>
          </a:prstGeom>
          <a:solidFill>
            <a:srgbClr val="1A2E45"/>
          </a:solidFill>
          <a:ln w="25400" cap="flat" cmpd="sng">
            <a:solidFill>
              <a:srgbClr val="CD7F32"/>
            </a:solidFill>
            <a:prstDash val="solid"/>
            <a:round/>
            <a:headEnd type="none" w="sm" len="sm"/>
            <a:tailEnd type="none" w="sm" len="sm"/>
          </a:ln>
          <a:effectLst>
            <a:outerShdw blurRad="152400" dist="50800" dir="8100000" algn="bl" rotWithShape="0">
              <a:srgbClr val="000000">
                <a:alpha val="25099"/>
              </a:srgbClr>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pic>
        <p:nvPicPr>
          <p:cNvPr id="81" name="Google Shape;81;g3d91b19f9f7_0_5" descr="preencoded.png"/>
          <p:cNvPicPr preferRelativeResize="0"/>
          <p:nvPr/>
        </p:nvPicPr>
        <p:blipFill rotWithShape="1">
          <a:blip r:embed="rId3">
            <a:alphaModFix/>
          </a:blip>
          <a:srcRect/>
          <a:stretch/>
        </p:blipFill>
        <p:spPr>
          <a:xfrm>
            <a:off x="3285421" y="1687549"/>
            <a:ext cx="414924" cy="438735"/>
          </a:xfrm>
          <a:prstGeom prst="rect">
            <a:avLst/>
          </a:prstGeom>
          <a:noFill/>
          <a:ln>
            <a:noFill/>
          </a:ln>
        </p:spPr>
      </p:pic>
      <p:sp>
        <p:nvSpPr>
          <p:cNvPr id="82" name="Google Shape;82;g3d91b19f9f7_0_5"/>
          <p:cNvSpPr/>
          <p:nvPr/>
        </p:nvSpPr>
        <p:spPr>
          <a:xfrm>
            <a:off x="2854049" y="1053014"/>
            <a:ext cx="1277700" cy="276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D7F32"/>
              </a:buClr>
              <a:buSzPts val="2000"/>
              <a:buFont typeface="Calibri"/>
              <a:buNone/>
            </a:pPr>
            <a:r>
              <a:rPr lang="en-US" sz="2000" b="1" i="0" u="none" strike="noStrike" cap="none">
                <a:solidFill>
                  <a:srgbClr val="CD7F32"/>
                </a:solidFill>
                <a:latin typeface="Calibri"/>
                <a:ea typeface="Calibri"/>
                <a:cs typeface="Calibri"/>
                <a:sym typeface="Calibri"/>
              </a:rPr>
              <a:t>BRONZE</a:t>
            </a:r>
            <a:endParaRPr sz="2000" b="0" i="0" u="none" strike="noStrike" cap="none">
              <a:solidFill>
                <a:schemeClr val="dk1"/>
              </a:solidFill>
              <a:latin typeface="Calibri"/>
              <a:ea typeface="Calibri"/>
              <a:cs typeface="Calibri"/>
              <a:sym typeface="Calibri"/>
            </a:endParaRPr>
          </a:p>
        </p:txBody>
      </p:sp>
      <p:sp>
        <p:nvSpPr>
          <p:cNvPr id="83" name="Google Shape;83;g3d91b19f9f7_0_5"/>
          <p:cNvSpPr/>
          <p:nvPr/>
        </p:nvSpPr>
        <p:spPr>
          <a:xfrm>
            <a:off x="205800" y="955689"/>
            <a:ext cx="1430100" cy="69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1">
                <a:solidFill>
                  <a:srgbClr val="E8F0F7"/>
                </a:solidFill>
                <a:latin typeface="Calibri"/>
                <a:ea typeface="Calibri"/>
                <a:cs typeface="Calibri"/>
                <a:sym typeface="Calibri"/>
              </a:rPr>
              <a:t>B</a:t>
            </a:r>
            <a:r>
              <a:rPr lang="en-US" sz="1300">
                <a:solidFill>
                  <a:srgbClr val="E8F0F7"/>
                </a:solidFill>
                <a:latin typeface="Calibri"/>
                <a:ea typeface="Calibri"/>
                <a:cs typeface="Calibri"/>
                <a:sym typeface="Calibri"/>
              </a:rPr>
              <a:t>ase de données </a:t>
            </a:r>
            <a:r>
              <a:rPr lang="en-US" sz="1300" b="1">
                <a:solidFill>
                  <a:srgbClr val="E8F0F7"/>
                </a:solidFill>
                <a:latin typeface="Calibri"/>
                <a:ea typeface="Calibri"/>
                <a:cs typeface="Calibri"/>
                <a:sym typeface="Calibri"/>
              </a:rPr>
              <a:t>A</a:t>
            </a:r>
            <a:r>
              <a:rPr lang="en-US" sz="1300">
                <a:solidFill>
                  <a:srgbClr val="E8F0F7"/>
                </a:solidFill>
                <a:latin typeface="Calibri"/>
                <a:ea typeface="Calibri"/>
                <a:cs typeface="Calibri"/>
                <a:sym typeface="Calibri"/>
              </a:rPr>
              <a:t>nnuelles </a:t>
            </a:r>
            <a:r>
              <a:rPr lang="en-US" sz="1300" b="1">
                <a:solidFill>
                  <a:srgbClr val="E8F0F7"/>
                </a:solidFill>
                <a:latin typeface="Calibri"/>
                <a:ea typeface="Calibri"/>
                <a:cs typeface="Calibri"/>
                <a:sym typeface="Calibri"/>
              </a:rPr>
              <a:t>A</a:t>
            </a:r>
            <a:r>
              <a:rPr lang="en-US" sz="1300">
                <a:solidFill>
                  <a:srgbClr val="E8F0F7"/>
                </a:solidFill>
                <a:latin typeface="Calibri"/>
                <a:ea typeface="Calibri"/>
                <a:cs typeface="Calibri"/>
                <a:sym typeface="Calibri"/>
              </a:rPr>
              <a:t>ccidents </a:t>
            </a:r>
            <a:r>
              <a:rPr lang="en-US" sz="1300" b="1">
                <a:solidFill>
                  <a:srgbClr val="E8F0F7"/>
                </a:solidFill>
                <a:latin typeface="Calibri"/>
                <a:ea typeface="Calibri"/>
                <a:cs typeface="Calibri"/>
                <a:sym typeface="Calibri"/>
              </a:rPr>
              <a:t>C</a:t>
            </a:r>
            <a:r>
              <a:rPr lang="en-US" sz="1300">
                <a:solidFill>
                  <a:srgbClr val="E8F0F7"/>
                </a:solidFill>
                <a:latin typeface="Calibri"/>
                <a:ea typeface="Calibri"/>
                <a:cs typeface="Calibri"/>
                <a:sym typeface="Calibri"/>
              </a:rPr>
              <a:t>orporels </a:t>
            </a:r>
            <a:r>
              <a:rPr lang="en-US" sz="1300" b="0" i="0" u="none" strike="noStrike" cap="none">
                <a:solidFill>
                  <a:srgbClr val="E8F0F7"/>
                </a:solidFill>
                <a:latin typeface="Calibri"/>
                <a:ea typeface="Calibri"/>
                <a:cs typeface="Calibri"/>
                <a:sym typeface="Calibri"/>
              </a:rPr>
              <a:t>(csv)</a:t>
            </a:r>
            <a:endParaRPr sz="1300" b="0" i="0" u="none" strike="noStrike" cap="none">
              <a:solidFill>
                <a:schemeClr val="dk1"/>
              </a:solidFill>
              <a:latin typeface="Calibri"/>
              <a:ea typeface="Calibri"/>
              <a:cs typeface="Calibri"/>
              <a:sym typeface="Calibri"/>
            </a:endParaRPr>
          </a:p>
        </p:txBody>
      </p:sp>
      <p:sp>
        <p:nvSpPr>
          <p:cNvPr id="84" name="Google Shape;84;g3d91b19f9f7_0_5"/>
          <p:cNvSpPr/>
          <p:nvPr/>
        </p:nvSpPr>
        <p:spPr>
          <a:xfrm>
            <a:off x="4308190" y="1036462"/>
            <a:ext cx="11607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0C0C0"/>
              </a:buClr>
              <a:buSzPts val="2000"/>
              <a:buFont typeface="Calibri"/>
              <a:buNone/>
            </a:pPr>
            <a:r>
              <a:rPr lang="en-US" sz="2000" b="1" i="0" u="none" strike="noStrike" cap="none">
                <a:solidFill>
                  <a:srgbClr val="C0C0C0"/>
                </a:solidFill>
                <a:latin typeface="Calibri"/>
                <a:ea typeface="Calibri"/>
                <a:cs typeface="Calibri"/>
                <a:sym typeface="Calibri"/>
              </a:rPr>
              <a:t>SILVER</a:t>
            </a:r>
            <a:endParaRPr sz="2000" b="0" i="0" u="none" strike="noStrike" cap="none">
              <a:solidFill>
                <a:schemeClr val="dk1"/>
              </a:solidFill>
              <a:latin typeface="Calibri"/>
              <a:ea typeface="Calibri"/>
              <a:cs typeface="Calibri"/>
              <a:sym typeface="Calibri"/>
            </a:endParaRPr>
          </a:p>
        </p:txBody>
      </p:sp>
      <p:pic>
        <p:nvPicPr>
          <p:cNvPr id="85" name="Google Shape;85;g3d91b19f9f7_0_5" descr="Data.gouv.fr , portail des données ouvertes national - Réutilisations ..."/>
          <p:cNvPicPr preferRelativeResize="0"/>
          <p:nvPr/>
        </p:nvPicPr>
        <p:blipFill rotWithShape="1">
          <a:blip r:embed="rId4">
            <a:alphaModFix/>
          </a:blip>
          <a:srcRect/>
          <a:stretch/>
        </p:blipFill>
        <p:spPr>
          <a:xfrm>
            <a:off x="268174" y="1634721"/>
            <a:ext cx="1277700" cy="365048"/>
          </a:xfrm>
          <a:prstGeom prst="rect">
            <a:avLst/>
          </a:prstGeom>
          <a:noFill/>
          <a:ln>
            <a:noFill/>
          </a:ln>
        </p:spPr>
      </p:pic>
      <p:sp>
        <p:nvSpPr>
          <p:cNvPr id="86" name="Google Shape;86;g3d91b19f9f7_0_5"/>
          <p:cNvSpPr/>
          <p:nvPr/>
        </p:nvSpPr>
        <p:spPr>
          <a:xfrm>
            <a:off x="229622" y="2833951"/>
            <a:ext cx="16728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Calendrier Scolaire (API)</a:t>
            </a:r>
            <a:endParaRPr sz="1300" b="0" i="0" u="none" strike="noStrike" cap="none">
              <a:solidFill>
                <a:schemeClr val="dk1"/>
              </a:solidFill>
              <a:latin typeface="Calibri"/>
              <a:ea typeface="Calibri"/>
              <a:cs typeface="Calibri"/>
              <a:sym typeface="Calibri"/>
            </a:endParaRPr>
          </a:p>
        </p:txBody>
      </p:sp>
      <p:pic>
        <p:nvPicPr>
          <p:cNvPr id="87" name="Google Shape;87;g3d91b19f9f7_0_5" descr="Data.gouv.fr , portail des données ouvertes national - Réutilisations ..."/>
          <p:cNvPicPr preferRelativeResize="0"/>
          <p:nvPr/>
        </p:nvPicPr>
        <p:blipFill rotWithShape="1">
          <a:blip r:embed="rId4">
            <a:alphaModFix/>
          </a:blip>
          <a:srcRect/>
          <a:stretch/>
        </p:blipFill>
        <p:spPr>
          <a:xfrm>
            <a:off x="276487" y="3154001"/>
            <a:ext cx="1277700" cy="365048"/>
          </a:xfrm>
          <a:prstGeom prst="rect">
            <a:avLst/>
          </a:prstGeom>
          <a:noFill/>
          <a:ln>
            <a:noFill/>
          </a:ln>
        </p:spPr>
      </p:pic>
      <p:sp>
        <p:nvSpPr>
          <p:cNvPr id="88" name="Google Shape;88;g3d91b19f9f7_0_5"/>
          <p:cNvSpPr/>
          <p:nvPr/>
        </p:nvSpPr>
        <p:spPr>
          <a:xfrm>
            <a:off x="2968210" y="2213675"/>
            <a:ext cx="1037400" cy="320100"/>
          </a:xfrm>
          <a:prstGeom prst="rect">
            <a:avLst/>
          </a:prstGeom>
          <a:solidFill>
            <a:srgbClr val="AEABAB"/>
          </a:solid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    AWS S3</a:t>
            </a:r>
            <a:endParaRPr sz="1300" b="0" i="0" u="none" strike="noStrike" cap="none">
              <a:solidFill>
                <a:schemeClr val="dk1"/>
              </a:solidFill>
              <a:latin typeface="Calibri"/>
              <a:ea typeface="Calibri"/>
              <a:cs typeface="Calibri"/>
              <a:sym typeface="Calibri"/>
            </a:endParaRPr>
          </a:p>
        </p:txBody>
      </p:sp>
      <p:sp>
        <p:nvSpPr>
          <p:cNvPr id="89" name="Google Shape;89;g3d91b19f9f7_0_5"/>
          <p:cNvSpPr/>
          <p:nvPr/>
        </p:nvSpPr>
        <p:spPr>
          <a:xfrm>
            <a:off x="3679833" y="3040650"/>
            <a:ext cx="686100" cy="576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Python</a:t>
            </a:r>
            <a:endParaRPr/>
          </a:p>
          <a:p>
            <a:pPr marL="0" marR="0" lvl="0" indent="0" algn="ctr" rtl="0">
              <a:spcBef>
                <a:spcPts val="0"/>
              </a:spcBef>
              <a:spcAft>
                <a:spcPts val="0"/>
              </a:spcAft>
              <a:buClr>
                <a:srgbClr val="E8F0F7"/>
              </a:buClr>
              <a:buSzPts val="1300"/>
              <a:buFont typeface="Calibri"/>
              <a:buNone/>
            </a:pPr>
            <a:r>
              <a:rPr lang="en-US" sz="1100">
                <a:solidFill>
                  <a:srgbClr val="E8F0F7"/>
                </a:solidFill>
                <a:latin typeface="Calibri"/>
                <a:ea typeface="Calibri"/>
                <a:cs typeface="Calibri"/>
                <a:sym typeface="Calibri"/>
              </a:rPr>
              <a:t>(Boto3)</a:t>
            </a:r>
            <a:endParaRPr sz="1100" b="0" i="0" u="none" strike="noStrike" cap="none">
              <a:solidFill>
                <a:schemeClr val="dk1"/>
              </a:solidFill>
              <a:latin typeface="Calibri"/>
              <a:ea typeface="Calibri"/>
              <a:cs typeface="Calibri"/>
              <a:sym typeface="Calibri"/>
            </a:endParaRPr>
          </a:p>
        </p:txBody>
      </p:sp>
      <p:cxnSp>
        <p:nvCxnSpPr>
          <p:cNvPr id="90" name="Google Shape;90;g3d91b19f9f7_0_5"/>
          <p:cNvCxnSpPr>
            <a:stCxn id="80" idx="2"/>
            <a:endCxn id="89" idx="1"/>
          </p:cNvCxnSpPr>
          <p:nvPr/>
        </p:nvCxnSpPr>
        <p:spPr>
          <a:xfrm rot="-5400000" flipH="1">
            <a:off x="3232363" y="2881637"/>
            <a:ext cx="702000" cy="192900"/>
          </a:xfrm>
          <a:prstGeom prst="bentConnector2">
            <a:avLst/>
          </a:prstGeom>
          <a:noFill/>
          <a:ln w="9525" cap="flat" cmpd="sng">
            <a:solidFill>
              <a:schemeClr val="accent1"/>
            </a:solidFill>
            <a:prstDash val="solid"/>
            <a:miter lim="800000"/>
            <a:headEnd type="none" w="sm" len="sm"/>
            <a:tailEnd type="triangle" w="med" len="med"/>
          </a:ln>
        </p:spPr>
      </p:cxnSp>
      <p:sp>
        <p:nvSpPr>
          <p:cNvPr id="91" name="Google Shape;91;g3d91b19f9f7_0_5"/>
          <p:cNvSpPr/>
          <p:nvPr/>
        </p:nvSpPr>
        <p:spPr>
          <a:xfrm>
            <a:off x="7979016" y="1891581"/>
            <a:ext cx="1037400" cy="320100"/>
          </a:xfrm>
          <a:prstGeom prst="rect">
            <a:avLst/>
          </a:prstGeom>
          <a:solidFill>
            <a:srgbClr val="AEABAB"/>
          </a:solid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      Power BI</a:t>
            </a:r>
            <a:endParaRPr sz="1300" b="0" i="0" u="none" strike="noStrike" cap="none">
              <a:solidFill>
                <a:schemeClr val="dk1"/>
              </a:solidFill>
              <a:latin typeface="Calibri"/>
              <a:ea typeface="Calibri"/>
              <a:cs typeface="Calibri"/>
              <a:sym typeface="Calibri"/>
            </a:endParaRPr>
          </a:p>
        </p:txBody>
      </p:sp>
      <p:cxnSp>
        <p:nvCxnSpPr>
          <p:cNvPr id="92" name="Google Shape;92;g3d91b19f9f7_0_5"/>
          <p:cNvCxnSpPr>
            <a:stCxn id="89" idx="3"/>
            <a:endCxn id="78" idx="2"/>
          </p:cNvCxnSpPr>
          <p:nvPr/>
        </p:nvCxnSpPr>
        <p:spPr>
          <a:xfrm rot="10800000" flipH="1">
            <a:off x="4365933" y="2638950"/>
            <a:ext cx="519300" cy="690000"/>
          </a:xfrm>
          <a:prstGeom prst="bentConnector2">
            <a:avLst/>
          </a:prstGeom>
          <a:noFill/>
          <a:ln w="9525" cap="flat" cmpd="sng">
            <a:solidFill>
              <a:schemeClr val="accent1"/>
            </a:solidFill>
            <a:prstDash val="solid"/>
            <a:miter lim="800000"/>
            <a:headEnd type="none" w="sm" len="sm"/>
            <a:tailEnd type="triangle" w="med" len="med"/>
          </a:ln>
        </p:spPr>
      </p:cxnSp>
      <p:sp>
        <p:nvSpPr>
          <p:cNvPr id="93" name="Google Shape;93;g3d91b19f9f7_0_5"/>
          <p:cNvSpPr/>
          <p:nvPr/>
        </p:nvSpPr>
        <p:spPr>
          <a:xfrm>
            <a:off x="4381644" y="2203026"/>
            <a:ext cx="1037400" cy="320100"/>
          </a:xfrm>
          <a:prstGeom prst="rect">
            <a:avLst/>
          </a:prstGeom>
          <a:solidFill>
            <a:srgbClr val="AEABAB"/>
          </a:solid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      AWS S3</a:t>
            </a:r>
            <a:endParaRPr sz="1300" b="0" i="0" u="none" strike="noStrike" cap="none">
              <a:solidFill>
                <a:schemeClr val="dk1"/>
              </a:solidFill>
              <a:latin typeface="Calibri"/>
              <a:ea typeface="Calibri"/>
              <a:cs typeface="Calibri"/>
              <a:sym typeface="Calibri"/>
            </a:endParaRPr>
          </a:p>
        </p:txBody>
      </p:sp>
      <p:cxnSp>
        <p:nvCxnSpPr>
          <p:cNvPr id="94" name="Google Shape;94;g3d91b19f9f7_0_5"/>
          <p:cNvCxnSpPr/>
          <p:nvPr/>
        </p:nvCxnSpPr>
        <p:spPr>
          <a:xfrm rot="-5400000" flipH="1">
            <a:off x="4798700" y="2905200"/>
            <a:ext cx="1224300" cy="701400"/>
          </a:xfrm>
          <a:prstGeom prst="bentConnector3">
            <a:avLst>
              <a:gd name="adj1" fmla="val 99379"/>
            </a:avLst>
          </a:prstGeom>
          <a:noFill/>
          <a:ln w="9525" cap="flat" cmpd="sng">
            <a:solidFill>
              <a:schemeClr val="accent1"/>
            </a:solidFill>
            <a:prstDash val="solid"/>
            <a:miter lim="800000"/>
            <a:headEnd type="none" w="sm" len="sm"/>
            <a:tailEnd type="triangle" w="med" len="med"/>
          </a:ln>
        </p:spPr>
      </p:cxnSp>
      <p:sp>
        <p:nvSpPr>
          <p:cNvPr id="95" name="Google Shape;95;g3d91b19f9f7_0_5"/>
          <p:cNvSpPr/>
          <p:nvPr/>
        </p:nvSpPr>
        <p:spPr>
          <a:xfrm>
            <a:off x="5664269" y="3572690"/>
            <a:ext cx="1717800" cy="590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Python</a:t>
            </a:r>
            <a:endParaRPr/>
          </a:p>
          <a:p>
            <a:pPr marL="0" marR="0" lvl="0" indent="0" algn="ctr" rtl="0">
              <a:spcBef>
                <a:spcPts val="0"/>
              </a:spcBef>
              <a:spcAft>
                <a:spcPts val="0"/>
              </a:spcAft>
              <a:buClr>
                <a:srgbClr val="E8F0F7"/>
              </a:buClr>
              <a:buSzPts val="1300"/>
              <a:buFont typeface="Calibri"/>
              <a:buNone/>
            </a:pPr>
            <a:r>
              <a:rPr lang="en-US" sz="1100">
                <a:solidFill>
                  <a:srgbClr val="E8F0F7"/>
                </a:solidFill>
                <a:latin typeface="Calibri"/>
                <a:ea typeface="Calibri"/>
                <a:cs typeface="Calibri"/>
                <a:sym typeface="Calibri"/>
              </a:rPr>
              <a:t>(Boto3, SQLAlchemy)</a:t>
            </a:r>
            <a:endParaRPr sz="1100" b="0" i="0" u="none" strike="noStrike" cap="none">
              <a:solidFill>
                <a:schemeClr val="dk1"/>
              </a:solidFill>
              <a:latin typeface="Calibri"/>
              <a:ea typeface="Calibri"/>
              <a:cs typeface="Calibri"/>
              <a:sym typeface="Calibri"/>
            </a:endParaRPr>
          </a:p>
        </p:txBody>
      </p:sp>
      <p:sp>
        <p:nvSpPr>
          <p:cNvPr id="96" name="Google Shape;96;g3d91b19f9f7_0_5"/>
          <p:cNvSpPr/>
          <p:nvPr/>
        </p:nvSpPr>
        <p:spPr>
          <a:xfrm>
            <a:off x="5899367" y="2176540"/>
            <a:ext cx="1277700" cy="700500"/>
          </a:xfrm>
          <a:prstGeom prst="rect">
            <a:avLst/>
          </a:prstGeom>
          <a:solidFill>
            <a:srgbClr val="AEABAB"/>
          </a:solid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     AWS RDS</a:t>
            </a:r>
            <a:endParaRPr sz="1300" b="0" i="0" u="none" strike="noStrike" cap="none">
              <a:solidFill>
                <a:srgbClr val="E8F0F7"/>
              </a:solidFill>
              <a:latin typeface="Calibri"/>
              <a:ea typeface="Calibri"/>
              <a:cs typeface="Calibri"/>
              <a:sym typeface="Calibri"/>
            </a:endParaRPr>
          </a:p>
          <a:p>
            <a:pPr marL="0" marR="0" lvl="0" indent="0" algn="ctr" rtl="0">
              <a:spcBef>
                <a:spcPts val="0"/>
              </a:spcBef>
              <a:spcAft>
                <a:spcPts val="0"/>
              </a:spcAft>
              <a:buClr>
                <a:srgbClr val="E8F0F7"/>
              </a:buClr>
              <a:buSzPts val="1300"/>
              <a:buFont typeface="Calibri"/>
              <a:buNone/>
            </a:pPr>
            <a:r>
              <a:rPr lang="en-US" sz="1300" b="1">
                <a:solidFill>
                  <a:srgbClr val="E8F0F7"/>
                </a:solidFill>
                <a:latin typeface="Calibri"/>
                <a:ea typeface="Calibri"/>
                <a:cs typeface="Calibri"/>
                <a:sym typeface="Calibri"/>
              </a:rPr>
              <a:t>PostgreSQL (engine)</a:t>
            </a:r>
            <a:endParaRPr sz="1300" b="1">
              <a:solidFill>
                <a:srgbClr val="E8F0F7"/>
              </a:solidFill>
              <a:latin typeface="Calibri"/>
              <a:ea typeface="Calibri"/>
              <a:cs typeface="Calibri"/>
              <a:sym typeface="Calibri"/>
            </a:endParaRPr>
          </a:p>
        </p:txBody>
      </p:sp>
      <p:pic>
        <p:nvPicPr>
          <p:cNvPr id="97" name="Google Shape;97;g3d91b19f9f7_0_5" descr="Microsoft Power BI Logo and symbol, meaning, history, PNG, brand"/>
          <p:cNvPicPr preferRelativeResize="0"/>
          <p:nvPr/>
        </p:nvPicPr>
        <p:blipFill rotWithShape="1">
          <a:blip r:embed="rId5">
            <a:alphaModFix/>
          </a:blip>
          <a:srcRect/>
          <a:stretch/>
        </p:blipFill>
        <p:spPr>
          <a:xfrm>
            <a:off x="7651942" y="1787792"/>
            <a:ext cx="801822" cy="451022"/>
          </a:xfrm>
          <a:prstGeom prst="rect">
            <a:avLst/>
          </a:prstGeom>
          <a:noFill/>
          <a:ln>
            <a:noFill/>
          </a:ln>
        </p:spPr>
      </p:pic>
      <p:pic>
        <p:nvPicPr>
          <p:cNvPr id="98" name="Google Shape;98;g3d91b19f9f7_0_5" descr="AWS RDS Logo PNG Transparent – Brands Logos"/>
          <p:cNvPicPr preferRelativeResize="0"/>
          <p:nvPr/>
        </p:nvPicPr>
        <p:blipFill rotWithShape="1">
          <a:blip r:embed="rId6">
            <a:alphaModFix/>
          </a:blip>
          <a:srcRect/>
          <a:stretch/>
        </p:blipFill>
        <p:spPr>
          <a:xfrm>
            <a:off x="5853797" y="2072171"/>
            <a:ext cx="377809" cy="426515"/>
          </a:xfrm>
          <a:prstGeom prst="rect">
            <a:avLst/>
          </a:prstGeom>
          <a:noFill/>
          <a:ln>
            <a:noFill/>
          </a:ln>
        </p:spPr>
      </p:pic>
      <p:pic>
        <p:nvPicPr>
          <p:cNvPr id="99" name="Google Shape;99;g3d91b19f9f7_0_5" descr="AWS S3 Logo PNG Transparent – Brands Logos"/>
          <p:cNvPicPr preferRelativeResize="0"/>
          <p:nvPr/>
        </p:nvPicPr>
        <p:blipFill rotWithShape="1">
          <a:blip r:embed="rId7">
            <a:alphaModFix/>
          </a:blip>
          <a:srcRect/>
          <a:stretch/>
        </p:blipFill>
        <p:spPr>
          <a:xfrm>
            <a:off x="2811276" y="2163480"/>
            <a:ext cx="339852" cy="411482"/>
          </a:xfrm>
          <a:prstGeom prst="rect">
            <a:avLst/>
          </a:prstGeom>
          <a:noFill/>
          <a:ln>
            <a:noFill/>
          </a:ln>
        </p:spPr>
      </p:pic>
      <p:pic>
        <p:nvPicPr>
          <p:cNvPr id="100" name="Google Shape;100;g3d91b19f9f7_0_5" descr="AWS S3 Logo PNG Transparent – Brands Logos"/>
          <p:cNvPicPr preferRelativeResize="0"/>
          <p:nvPr/>
        </p:nvPicPr>
        <p:blipFill rotWithShape="1">
          <a:blip r:embed="rId7">
            <a:alphaModFix/>
          </a:blip>
          <a:srcRect/>
          <a:stretch/>
        </p:blipFill>
        <p:spPr>
          <a:xfrm>
            <a:off x="4327980" y="2156134"/>
            <a:ext cx="339852" cy="411482"/>
          </a:xfrm>
          <a:prstGeom prst="rect">
            <a:avLst/>
          </a:prstGeom>
          <a:noFill/>
          <a:ln>
            <a:noFill/>
          </a:ln>
        </p:spPr>
      </p:pic>
      <p:cxnSp>
        <p:nvCxnSpPr>
          <p:cNvPr id="101" name="Google Shape;101;g3d91b19f9f7_0_5"/>
          <p:cNvCxnSpPr>
            <a:stCxn id="77" idx="3"/>
          </p:cNvCxnSpPr>
          <p:nvPr/>
        </p:nvCxnSpPr>
        <p:spPr>
          <a:xfrm>
            <a:off x="7366564" y="2158489"/>
            <a:ext cx="502500" cy="6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sp>
        <p:nvSpPr>
          <p:cNvPr id="102" name="Google Shape;102;g3d91b19f9f7_0_5"/>
          <p:cNvSpPr txBox="1"/>
          <p:nvPr/>
        </p:nvSpPr>
        <p:spPr>
          <a:xfrm>
            <a:off x="3624355" y="3664878"/>
            <a:ext cx="8514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rgbClr val="9CC2E5"/>
                </a:solidFill>
                <a:latin typeface="Calibri"/>
                <a:ea typeface="Calibri"/>
                <a:cs typeface="Calibri"/>
                <a:sym typeface="Calibri"/>
              </a:rPr>
              <a:t>Nettoyage &amp; typage</a:t>
            </a:r>
            <a:endParaRPr/>
          </a:p>
        </p:txBody>
      </p:sp>
      <p:cxnSp>
        <p:nvCxnSpPr>
          <p:cNvPr id="103" name="Google Shape;103;g3d91b19f9f7_0_5"/>
          <p:cNvCxnSpPr>
            <a:stCxn id="87" idx="3"/>
            <a:endCxn id="89" idx="1"/>
          </p:cNvCxnSpPr>
          <p:nvPr/>
        </p:nvCxnSpPr>
        <p:spPr>
          <a:xfrm rot="10800000" flipH="1">
            <a:off x="1554186" y="3329025"/>
            <a:ext cx="2125500" cy="75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04" name="Google Shape;104;g3d91b19f9f7_0_5"/>
          <p:cNvCxnSpPr>
            <a:stCxn id="95" idx="0"/>
            <a:endCxn id="77" idx="2"/>
          </p:cNvCxnSpPr>
          <p:nvPr/>
        </p:nvCxnSpPr>
        <p:spPr>
          <a:xfrm rot="10800000">
            <a:off x="6507569" y="3314990"/>
            <a:ext cx="15600" cy="257700"/>
          </a:xfrm>
          <a:prstGeom prst="straightConnector1">
            <a:avLst/>
          </a:prstGeom>
          <a:noFill/>
          <a:ln w="9525" cap="flat" cmpd="sng">
            <a:solidFill>
              <a:schemeClr val="accent1"/>
            </a:solidFill>
            <a:prstDash val="solid"/>
            <a:miter lim="800000"/>
            <a:headEnd type="none" w="sm" len="sm"/>
            <a:tailEnd type="triangle" w="med" len="med"/>
          </a:ln>
        </p:spPr>
      </p:cxnSp>
      <p:sp>
        <p:nvSpPr>
          <p:cNvPr id="105" name="Google Shape;105;g3d91b19f9f7_0_5"/>
          <p:cNvSpPr txBox="1"/>
          <p:nvPr/>
        </p:nvSpPr>
        <p:spPr>
          <a:xfrm>
            <a:off x="1406125" y="4496778"/>
            <a:ext cx="65274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solidFill>
                  <a:schemeClr val="lt1"/>
                </a:solidFill>
                <a:latin typeface="Calibri"/>
                <a:ea typeface="Calibri"/>
                <a:cs typeface="Calibri"/>
                <a:sym typeface="Calibri"/>
              </a:rPr>
              <a:t>Processus </a:t>
            </a:r>
            <a:r>
              <a:rPr lang="en-US" b="1">
                <a:solidFill>
                  <a:schemeClr val="lt1"/>
                </a:solidFill>
                <a:latin typeface="Calibri"/>
                <a:ea typeface="Calibri"/>
                <a:cs typeface="Calibri"/>
                <a:sym typeface="Calibri"/>
              </a:rPr>
              <a:t>ETLT </a:t>
            </a:r>
            <a:r>
              <a:rPr lang="en-US">
                <a:solidFill>
                  <a:schemeClr val="lt1"/>
                </a:solidFill>
                <a:latin typeface="Calibri"/>
                <a:ea typeface="Calibri"/>
                <a:cs typeface="Calibri"/>
                <a:sym typeface="Calibri"/>
              </a:rPr>
              <a:t>automatisé, garantissant l'intégrité et la traçabilité des données</a:t>
            </a:r>
            <a:endParaRPr sz="1600">
              <a:solidFill>
                <a:schemeClr val="lt1"/>
              </a:solidFill>
            </a:endParaRPr>
          </a:p>
        </p:txBody>
      </p:sp>
      <p:sp>
        <p:nvSpPr>
          <p:cNvPr id="106" name="Google Shape;106;g3d91b19f9f7_0_5"/>
          <p:cNvSpPr/>
          <p:nvPr/>
        </p:nvSpPr>
        <p:spPr>
          <a:xfrm>
            <a:off x="5956367" y="1029132"/>
            <a:ext cx="1046700" cy="276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D700"/>
              </a:buClr>
              <a:buSzPts val="2000"/>
              <a:buFont typeface="Calibri"/>
              <a:buNone/>
            </a:pPr>
            <a:r>
              <a:rPr lang="en-US" sz="2000" b="1" i="0" u="none" strike="noStrike" cap="none">
                <a:solidFill>
                  <a:srgbClr val="FFD700"/>
                </a:solidFill>
                <a:latin typeface="Calibri"/>
                <a:ea typeface="Calibri"/>
                <a:cs typeface="Calibri"/>
                <a:sym typeface="Calibri"/>
              </a:rPr>
              <a:t>GOLD</a:t>
            </a:r>
            <a:endParaRPr sz="2000" b="0" i="0" u="none" strike="noStrike" cap="none">
              <a:solidFill>
                <a:srgbClr val="000000"/>
              </a:solidFill>
              <a:latin typeface="Calibri"/>
              <a:ea typeface="Calibri"/>
              <a:cs typeface="Calibri"/>
              <a:sym typeface="Calibri"/>
            </a:endParaRPr>
          </a:p>
        </p:txBody>
      </p:sp>
      <p:pic>
        <p:nvPicPr>
          <p:cNvPr id="107" name="Google Shape;107;g3d91b19f9f7_0_5" descr="preencoded.png"/>
          <p:cNvPicPr preferRelativeResize="0"/>
          <p:nvPr/>
        </p:nvPicPr>
        <p:blipFill rotWithShape="1">
          <a:blip r:embed="rId8">
            <a:alphaModFix/>
          </a:blip>
          <a:srcRect/>
          <a:stretch/>
        </p:blipFill>
        <p:spPr>
          <a:xfrm>
            <a:off x="4688162" y="1677587"/>
            <a:ext cx="414924" cy="438735"/>
          </a:xfrm>
          <a:prstGeom prst="rect">
            <a:avLst/>
          </a:prstGeom>
          <a:noFill/>
          <a:ln>
            <a:noFill/>
          </a:ln>
        </p:spPr>
      </p:pic>
      <p:pic>
        <p:nvPicPr>
          <p:cNvPr id="108" name="Google Shape;108;g3d91b19f9f7_0_5" descr="preencoded.png"/>
          <p:cNvPicPr preferRelativeResize="0"/>
          <p:nvPr/>
        </p:nvPicPr>
        <p:blipFill rotWithShape="1">
          <a:blip r:embed="rId9">
            <a:alphaModFix/>
          </a:blip>
          <a:srcRect/>
          <a:stretch/>
        </p:blipFill>
        <p:spPr>
          <a:xfrm>
            <a:off x="6323179" y="1663611"/>
            <a:ext cx="414924" cy="438735"/>
          </a:xfrm>
          <a:prstGeom prst="rect">
            <a:avLst/>
          </a:prstGeom>
          <a:noFill/>
          <a:ln>
            <a:noFill/>
          </a:ln>
        </p:spPr>
      </p:pic>
      <p:sp>
        <p:nvSpPr>
          <p:cNvPr id="109" name="Google Shape;109;g3d91b19f9f7_0_5"/>
          <p:cNvSpPr txBox="1"/>
          <p:nvPr/>
        </p:nvSpPr>
        <p:spPr>
          <a:xfrm>
            <a:off x="3297105" y="1323235"/>
            <a:ext cx="4524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rgbClr val="9CC2E5"/>
                </a:solidFill>
                <a:latin typeface="Calibri"/>
                <a:ea typeface="Calibri"/>
                <a:cs typeface="Calibri"/>
                <a:sym typeface="Calibri"/>
              </a:rPr>
              <a:t>raw</a:t>
            </a:r>
            <a:endParaRPr/>
          </a:p>
        </p:txBody>
      </p:sp>
      <p:sp>
        <p:nvSpPr>
          <p:cNvPr id="110" name="Google Shape;110;g3d91b19f9f7_0_5"/>
          <p:cNvSpPr txBox="1"/>
          <p:nvPr/>
        </p:nvSpPr>
        <p:spPr>
          <a:xfrm>
            <a:off x="4568977" y="1312511"/>
            <a:ext cx="7458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rgbClr val="9CC2E5"/>
                </a:solidFill>
                <a:latin typeface="Calibri"/>
                <a:ea typeface="Calibri"/>
                <a:cs typeface="Calibri"/>
                <a:sym typeface="Calibri"/>
              </a:rPr>
              <a:t>cleaned</a:t>
            </a:r>
            <a:endParaRPr/>
          </a:p>
        </p:txBody>
      </p:sp>
      <p:sp>
        <p:nvSpPr>
          <p:cNvPr id="111" name="Google Shape;111;g3d91b19f9f7_0_5"/>
          <p:cNvSpPr txBox="1"/>
          <p:nvPr/>
        </p:nvSpPr>
        <p:spPr>
          <a:xfrm>
            <a:off x="6090467" y="1283411"/>
            <a:ext cx="8778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rgbClr val="9CC2E5"/>
                </a:solidFill>
                <a:latin typeface="Calibri"/>
                <a:ea typeface="Calibri"/>
                <a:cs typeface="Calibri"/>
                <a:sym typeface="Calibri"/>
              </a:rPr>
              <a:t>enhanced</a:t>
            </a:r>
            <a:endParaRPr/>
          </a:p>
        </p:txBody>
      </p:sp>
      <p:sp>
        <p:nvSpPr>
          <p:cNvPr id="112" name="Google Shape;112;g3d91b19f9f7_0_5"/>
          <p:cNvSpPr txBox="1"/>
          <p:nvPr/>
        </p:nvSpPr>
        <p:spPr>
          <a:xfrm>
            <a:off x="6211664" y="4163378"/>
            <a:ext cx="6531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rgbClr val="9CC2E5"/>
                </a:solidFill>
                <a:latin typeface="Calibri"/>
                <a:ea typeface="Calibri"/>
                <a:cs typeface="Calibri"/>
                <a:sym typeface="Calibri"/>
              </a:rPr>
              <a:t>Loader</a:t>
            </a:r>
            <a:endParaRPr/>
          </a:p>
        </p:txBody>
      </p:sp>
      <p:sp>
        <p:nvSpPr>
          <p:cNvPr id="113" name="Google Shape;113;g3d91b19f9f7_0_5"/>
          <p:cNvSpPr txBox="1"/>
          <p:nvPr/>
        </p:nvSpPr>
        <p:spPr>
          <a:xfrm>
            <a:off x="6093117" y="2957539"/>
            <a:ext cx="8514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rgbClr val="9CC2E5"/>
                </a:solidFill>
                <a:latin typeface="Calibri"/>
                <a:ea typeface="Calibri"/>
                <a:cs typeface="Calibri"/>
                <a:sym typeface="Calibri"/>
              </a:rPr>
              <a:t>SQL scripts </a:t>
            </a:r>
            <a:endParaRPr/>
          </a:p>
        </p:txBody>
      </p:sp>
      <p:sp>
        <p:nvSpPr>
          <p:cNvPr id="116" name="Google Shape;116;g3d91b19f9f7_0_5"/>
          <p:cNvSpPr txBox="1"/>
          <p:nvPr/>
        </p:nvSpPr>
        <p:spPr>
          <a:xfrm>
            <a:off x="455576" y="2113437"/>
            <a:ext cx="8778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i="1">
                <a:solidFill>
                  <a:srgbClr val="9CC2E5"/>
                </a:solidFill>
                <a:latin typeface="Calibri"/>
                <a:ea typeface="Calibri"/>
                <a:cs typeface="Calibri"/>
                <a:sym typeface="Calibri"/>
              </a:rPr>
              <a:t>4 datasets</a:t>
            </a:r>
            <a:endParaRPr sz="1200" i="1">
              <a:solidFill>
                <a:srgbClr val="9CC2E5"/>
              </a:solidFill>
              <a:latin typeface="Calibri"/>
              <a:ea typeface="Calibri"/>
              <a:cs typeface="Calibri"/>
              <a:sym typeface="Calibri"/>
            </a:endParaRPr>
          </a:p>
          <a:p>
            <a:pPr marL="0" marR="0" lvl="0" indent="0" algn="l" rtl="0">
              <a:spcBef>
                <a:spcPts val="0"/>
              </a:spcBef>
              <a:spcAft>
                <a:spcPts val="0"/>
              </a:spcAft>
              <a:buNone/>
            </a:pPr>
            <a:r>
              <a:rPr lang="en-US" sz="1200" i="1">
                <a:solidFill>
                  <a:srgbClr val="9CC2E5"/>
                </a:solidFill>
                <a:latin typeface="Calibri"/>
                <a:ea typeface="Calibri"/>
                <a:cs typeface="Calibri"/>
                <a:sym typeface="Calibri"/>
              </a:rPr>
              <a:t>4 années</a:t>
            </a:r>
            <a:endParaRPr sz="1200" i="1">
              <a:solidFill>
                <a:srgbClr val="9CC2E5"/>
              </a:solidFill>
              <a:latin typeface="Calibri"/>
              <a:ea typeface="Calibri"/>
              <a:cs typeface="Calibri"/>
              <a:sym typeface="Calibri"/>
            </a:endParaRPr>
          </a:p>
          <a:p>
            <a:pPr marL="0" marR="0" lvl="0" indent="0" algn="l" rtl="0">
              <a:spcBef>
                <a:spcPts val="0"/>
              </a:spcBef>
              <a:spcAft>
                <a:spcPts val="0"/>
              </a:spcAft>
              <a:buNone/>
            </a:pPr>
            <a:r>
              <a:rPr lang="en-US" sz="1200" i="1">
                <a:solidFill>
                  <a:srgbClr val="9CC2E5"/>
                </a:solidFill>
                <a:latin typeface="Calibri"/>
                <a:ea typeface="Calibri"/>
                <a:cs typeface="Calibri"/>
                <a:sym typeface="Calibri"/>
              </a:rPr>
              <a:t>16 fichiers </a:t>
            </a:r>
            <a:endParaRPr sz="1200" i="1">
              <a:solidFill>
                <a:srgbClr val="9CC2E5"/>
              </a:solidFill>
              <a:latin typeface="Calibri"/>
              <a:ea typeface="Calibri"/>
              <a:cs typeface="Calibri"/>
              <a:sym typeface="Calibri"/>
            </a:endParaRPr>
          </a:p>
        </p:txBody>
      </p:sp>
      <p:pic>
        <p:nvPicPr>
          <p:cNvPr id="117" name="Google Shape;117;g3d91b19f9f7_0_5"/>
          <p:cNvPicPr preferRelativeResize="0"/>
          <p:nvPr/>
        </p:nvPicPr>
        <p:blipFill>
          <a:blip r:embed="rId10">
            <a:alphaModFix/>
          </a:blip>
          <a:stretch>
            <a:fillRect/>
          </a:stretch>
        </p:blipFill>
        <p:spPr>
          <a:xfrm>
            <a:off x="6689479" y="2523164"/>
            <a:ext cx="801825" cy="534550"/>
          </a:xfrm>
          <a:prstGeom prst="rect">
            <a:avLst/>
          </a:prstGeom>
          <a:noFill/>
          <a:ln>
            <a:noFill/>
          </a:ln>
        </p:spPr>
      </p:pic>
      <p:sp>
        <p:nvSpPr>
          <p:cNvPr id="118" name="Google Shape;118;g3d91b19f9f7_0_5"/>
          <p:cNvSpPr/>
          <p:nvPr/>
        </p:nvSpPr>
        <p:spPr>
          <a:xfrm>
            <a:off x="7050613" y="2125352"/>
            <a:ext cx="163404" cy="248670"/>
          </a:xfrm>
          <a:prstGeom prst="lightningBol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t>                                                                                                                                                                                                                                                                                                                                                                                                                                                                                                                                                                                                                                                                                                                                                                                                                                                          </a:t>
            </a:r>
            <a:endParaRPr/>
          </a:p>
        </p:txBody>
      </p:sp>
      <p:sp>
        <p:nvSpPr>
          <p:cNvPr id="121" name="Google Shape;121;g3d91b19f9f7_0_5"/>
          <p:cNvSpPr/>
          <p:nvPr/>
        </p:nvSpPr>
        <p:spPr>
          <a:xfrm>
            <a:off x="1897821" y="1524082"/>
            <a:ext cx="686100" cy="576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r>
              <a:rPr lang="en-US" sz="1300" b="0" i="0" u="none" strike="noStrike" cap="none">
                <a:solidFill>
                  <a:srgbClr val="E8F0F7"/>
                </a:solidFill>
                <a:latin typeface="Calibri"/>
                <a:ea typeface="Calibri"/>
                <a:cs typeface="Calibri"/>
                <a:sym typeface="Calibri"/>
              </a:rPr>
              <a:t>Python</a:t>
            </a:r>
            <a:endParaRPr/>
          </a:p>
          <a:p>
            <a:pPr marL="0" marR="0" lvl="0" indent="0" algn="ctr" rtl="0">
              <a:spcBef>
                <a:spcPts val="0"/>
              </a:spcBef>
              <a:spcAft>
                <a:spcPts val="0"/>
              </a:spcAft>
              <a:buClr>
                <a:srgbClr val="E8F0F7"/>
              </a:buClr>
              <a:buSzPts val="1300"/>
              <a:buFont typeface="Calibri"/>
              <a:buNone/>
            </a:pPr>
            <a:r>
              <a:rPr lang="en-US" sz="1100">
                <a:solidFill>
                  <a:srgbClr val="E8F0F7"/>
                </a:solidFill>
                <a:latin typeface="Calibri"/>
                <a:ea typeface="Calibri"/>
                <a:cs typeface="Calibri"/>
                <a:sym typeface="Calibri"/>
              </a:rPr>
              <a:t>(Boto3,</a:t>
            </a:r>
            <a:endParaRPr sz="1100">
              <a:solidFill>
                <a:srgbClr val="E8F0F7"/>
              </a:solidFill>
              <a:latin typeface="Calibri"/>
              <a:ea typeface="Calibri"/>
              <a:cs typeface="Calibri"/>
              <a:sym typeface="Calibri"/>
            </a:endParaRPr>
          </a:p>
          <a:p>
            <a:pPr marL="0" marR="0" lvl="0" indent="0" algn="ctr" rtl="0">
              <a:spcBef>
                <a:spcPts val="0"/>
              </a:spcBef>
              <a:spcAft>
                <a:spcPts val="0"/>
              </a:spcAft>
              <a:buClr>
                <a:srgbClr val="E8F0F7"/>
              </a:buClr>
              <a:buSzPts val="1300"/>
              <a:buFont typeface="Calibri"/>
              <a:buNone/>
            </a:pPr>
            <a:r>
              <a:rPr lang="en-US" sz="1100">
                <a:solidFill>
                  <a:srgbClr val="E8F0F7"/>
                </a:solidFill>
                <a:latin typeface="Calibri"/>
                <a:ea typeface="Calibri"/>
                <a:cs typeface="Calibri"/>
                <a:sym typeface="Calibri"/>
              </a:rPr>
              <a:t>Asynch)</a:t>
            </a:r>
            <a:endParaRPr sz="1100" b="0" i="0" u="none" strike="noStrike" cap="none">
              <a:solidFill>
                <a:schemeClr val="dk1"/>
              </a:solidFill>
              <a:latin typeface="Calibri"/>
              <a:ea typeface="Calibri"/>
              <a:cs typeface="Calibri"/>
              <a:sym typeface="Calibri"/>
            </a:endParaRPr>
          </a:p>
        </p:txBody>
      </p:sp>
      <p:cxnSp>
        <p:nvCxnSpPr>
          <p:cNvPr id="122" name="Google Shape;122;g3d91b19f9f7_0_5"/>
          <p:cNvCxnSpPr>
            <a:stCxn id="121" idx="3"/>
            <a:endCxn id="80" idx="1"/>
          </p:cNvCxnSpPr>
          <p:nvPr/>
        </p:nvCxnSpPr>
        <p:spPr>
          <a:xfrm>
            <a:off x="2583921" y="1812382"/>
            <a:ext cx="384300" cy="2100"/>
          </a:xfrm>
          <a:prstGeom prst="straightConnector1">
            <a:avLst/>
          </a:prstGeom>
          <a:noFill/>
          <a:ln w="9525" cap="flat" cmpd="sng">
            <a:solidFill>
              <a:schemeClr val="accent1"/>
            </a:solidFill>
            <a:prstDash val="solid"/>
            <a:round/>
            <a:headEnd type="none" w="med" len="med"/>
            <a:tailEnd type="triangle" w="med" len="med"/>
          </a:ln>
        </p:spPr>
      </p:cxnSp>
      <p:cxnSp>
        <p:nvCxnSpPr>
          <p:cNvPr id="123" name="Google Shape;123;g3d91b19f9f7_0_5"/>
          <p:cNvCxnSpPr>
            <a:stCxn id="85" idx="3"/>
            <a:endCxn id="121" idx="1"/>
          </p:cNvCxnSpPr>
          <p:nvPr/>
        </p:nvCxnSpPr>
        <p:spPr>
          <a:xfrm rot="10800000" flipH="1">
            <a:off x="1545874" y="1812445"/>
            <a:ext cx="351900" cy="4800"/>
          </a:xfrm>
          <a:prstGeom prst="straightConnector1">
            <a:avLst/>
          </a:prstGeom>
          <a:noFill/>
          <a:ln w="9525" cap="flat" cmpd="sng">
            <a:solidFill>
              <a:schemeClr val="accent1"/>
            </a:solidFill>
            <a:prstDash val="solid"/>
            <a:round/>
            <a:headEnd type="none" w="med" len="med"/>
            <a:tailEnd type="triangle" w="med" len="med"/>
          </a:ln>
        </p:spPr>
      </p:cxnSp>
      <p:sp>
        <p:nvSpPr>
          <p:cNvPr id="2" name="Rectangle 1">
            <a:extLst>
              <a:ext uri="{FF2B5EF4-FFF2-40B4-BE49-F238E27FC236}">
                <a16:creationId xmlns:a16="http://schemas.microsoft.com/office/drawing/2014/main" id="{7B07BDA4-EE43-5792-D6DF-0F8A2F3D641E}"/>
              </a:ext>
            </a:extLst>
          </p:cNvPr>
          <p:cNvSpPr/>
          <p:nvPr/>
        </p:nvSpPr>
        <p:spPr>
          <a:xfrm>
            <a:off x="4909916" y="1724251"/>
            <a:ext cx="3635216" cy="26565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fr-FR" sz="1050" dirty="0"/>
              <a:t>- Snake case colonnes </a:t>
            </a:r>
          </a:p>
          <a:p>
            <a:pPr>
              <a:lnSpc>
                <a:spcPct val="150000"/>
              </a:lnSpc>
            </a:pPr>
            <a:r>
              <a:rPr lang="fr-FR" sz="1050" dirty="0"/>
              <a:t>- Correction des formats (texte à numérique, </a:t>
            </a:r>
            <a:r>
              <a:rPr lang="fr-FR" sz="1050" dirty="0" err="1"/>
              <a:t>lat</a:t>
            </a:r>
            <a:r>
              <a:rPr lang="fr-FR" sz="1050" dirty="0"/>
              <a:t>/</a:t>
            </a:r>
            <a:r>
              <a:rPr lang="fr-FR" sz="1050" dirty="0" err="1"/>
              <a:t>lon</a:t>
            </a:r>
            <a:r>
              <a:rPr lang="fr-FR" sz="1050" dirty="0"/>
              <a:t>)</a:t>
            </a:r>
          </a:p>
          <a:p>
            <a:pPr>
              <a:lnSpc>
                <a:spcPct val="150000"/>
              </a:lnSpc>
            </a:pPr>
            <a:r>
              <a:rPr lang="fr-FR" sz="1050" dirty="0"/>
              <a:t>- Unification des formats entre </a:t>
            </a:r>
            <a:r>
              <a:rPr lang="fr-FR" sz="1050" dirty="0" err="1"/>
              <a:t>année_fichier</a:t>
            </a:r>
            <a:endParaRPr lang="fr-FR" sz="1050" dirty="0"/>
          </a:p>
          <a:p>
            <a:pPr>
              <a:lnSpc>
                <a:spcPct val="150000"/>
              </a:lnSpc>
            </a:pPr>
            <a:r>
              <a:rPr lang="fr-FR" sz="1050" dirty="0"/>
              <a:t>- Remplacement des valeurs erreurs « -1 » par NaN </a:t>
            </a:r>
          </a:p>
          <a:p>
            <a:pPr>
              <a:lnSpc>
                <a:spcPct val="150000"/>
              </a:lnSpc>
            </a:pPr>
            <a:r>
              <a:rPr lang="fr-FR" sz="1050" dirty="0"/>
              <a:t>- Colonnes inutiles supprimées </a:t>
            </a:r>
          </a:p>
          <a:p>
            <a:pPr>
              <a:lnSpc>
                <a:spcPct val="150000"/>
              </a:lnSpc>
            </a:pPr>
            <a:r>
              <a:rPr lang="fr-FR" sz="1050" dirty="0"/>
              <a:t>- Suppression des lignes en doublons</a:t>
            </a:r>
          </a:p>
          <a:p>
            <a:pPr>
              <a:lnSpc>
                <a:spcPct val="150000"/>
              </a:lnSpc>
            </a:pPr>
            <a:r>
              <a:rPr lang="fr-FR" sz="1050" dirty="0"/>
              <a:t>- Date recalculée depuis an/mois/jour/</a:t>
            </a:r>
            <a:r>
              <a:rPr lang="fr-FR" sz="1050" dirty="0" err="1"/>
              <a:t>hrmn</a:t>
            </a:r>
            <a:r>
              <a:rPr lang="fr-FR" sz="1050" dirty="0"/>
              <a:t> </a:t>
            </a:r>
          </a:p>
          <a:p>
            <a:pPr>
              <a:lnSpc>
                <a:spcPct val="150000"/>
              </a:lnSpc>
            </a:pPr>
            <a:r>
              <a:rPr lang="fr-FR" sz="1050" dirty="0"/>
              <a:t>- Suppression d’années de naissance aberrantes &gt; 2010 </a:t>
            </a:r>
          </a:p>
          <a:p>
            <a:pPr>
              <a:lnSpc>
                <a:spcPct val="150000"/>
              </a:lnSpc>
            </a:pPr>
            <a:r>
              <a:rPr lang="fr-FR" sz="1050" dirty="0"/>
              <a:t>- Ajout des noms de départements et régions</a:t>
            </a:r>
          </a:p>
          <a:p>
            <a:endParaRPr lang="fr-FR" sz="1050" dirty="0"/>
          </a:p>
        </p:txBody>
      </p:sp>
      <p:sp>
        <p:nvSpPr>
          <p:cNvPr id="6" name="Flèche : droite 5">
            <a:extLst>
              <a:ext uri="{FF2B5EF4-FFF2-40B4-BE49-F238E27FC236}">
                <a16:creationId xmlns:a16="http://schemas.microsoft.com/office/drawing/2014/main" id="{955D6C4D-7ECF-1D05-AEC0-4E3E1CDD4389}"/>
              </a:ext>
            </a:extLst>
          </p:cNvPr>
          <p:cNvSpPr/>
          <p:nvPr/>
        </p:nvSpPr>
        <p:spPr>
          <a:xfrm rot="10800000">
            <a:off x="4405989" y="3816771"/>
            <a:ext cx="535888" cy="236165"/>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27177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30" name="Google Shape;130;p13"/>
          <p:cNvSpPr/>
          <p:nvPr/>
        </p:nvSpPr>
        <p:spPr>
          <a:xfrm>
            <a:off x="457200" y="204742"/>
            <a:ext cx="8229600" cy="423703"/>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800"/>
              <a:buFont typeface="Calibri"/>
              <a:buNone/>
            </a:pPr>
            <a:r>
              <a:rPr lang="en-US" sz="2800" b="1">
                <a:solidFill>
                  <a:srgbClr val="FFFFFF"/>
                </a:solidFill>
                <a:latin typeface="Calibri"/>
                <a:ea typeface="Calibri"/>
                <a:cs typeface="Calibri"/>
                <a:sym typeface="Calibri"/>
              </a:rPr>
              <a:t>Power BI - Rapport d’analyse </a:t>
            </a:r>
            <a:endParaRPr sz="2800">
              <a:solidFill>
                <a:schemeClr val="dk1"/>
              </a:solidFill>
              <a:latin typeface="Calibri"/>
              <a:ea typeface="Calibri"/>
              <a:cs typeface="Calibri"/>
              <a:sym typeface="Calibri"/>
            </a:endParaRPr>
          </a:p>
        </p:txBody>
      </p:sp>
      <p:sp>
        <p:nvSpPr>
          <p:cNvPr id="137" name="Google Shape;137;p13"/>
          <p:cNvSpPr/>
          <p:nvPr/>
        </p:nvSpPr>
        <p:spPr>
          <a:xfrm>
            <a:off x="1168032" y="1008978"/>
            <a:ext cx="14301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endParaRPr sz="1300" b="0" i="0" u="none" strike="noStrike" cap="none">
              <a:solidFill>
                <a:schemeClr val="dk1"/>
              </a:solidFill>
              <a:latin typeface="Calibri"/>
              <a:ea typeface="Calibri"/>
              <a:cs typeface="Calibri"/>
              <a:sym typeface="Calibri"/>
            </a:endParaRPr>
          </a:p>
        </p:txBody>
      </p:sp>
      <p:sp>
        <p:nvSpPr>
          <p:cNvPr id="140" name="Google Shape;140;p13"/>
          <p:cNvSpPr/>
          <p:nvPr/>
        </p:nvSpPr>
        <p:spPr>
          <a:xfrm>
            <a:off x="0" y="0"/>
            <a:ext cx="9144000" cy="64008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3"/>
          <p:cNvSpPr/>
          <p:nvPr/>
        </p:nvSpPr>
        <p:spPr>
          <a:xfrm>
            <a:off x="365760" y="91440"/>
            <a:ext cx="8412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   RAPPORT - Un vision détaillée et interactive avec PowerBI</a:t>
            </a:r>
            <a:endParaRPr sz="1600">
              <a:solidFill>
                <a:schemeClr val="dk1"/>
              </a:solidFill>
              <a:latin typeface="Calibri"/>
              <a:ea typeface="Calibri"/>
              <a:cs typeface="Calibri"/>
              <a:sym typeface="Calibri"/>
            </a:endParaRPr>
          </a:p>
        </p:txBody>
      </p:sp>
      <p:pic>
        <p:nvPicPr>
          <p:cNvPr id="2" name="Média en ligne 1" title="Jedha - Projet final Power BI - dafs-ft-18">
            <a:hlinkClick r:id="" action="ppaction://media"/>
            <a:extLst>
              <a:ext uri="{FF2B5EF4-FFF2-40B4-BE49-F238E27FC236}">
                <a16:creationId xmlns:a16="http://schemas.microsoft.com/office/drawing/2014/main" id="{FF1C2DA5-8C3A-E562-9E7C-8234EBC0387A}"/>
              </a:ext>
            </a:extLst>
          </p:cNvPr>
          <p:cNvPicPr>
            <a:picLocks noRot="1" noChangeAspect="1"/>
          </p:cNvPicPr>
          <p:nvPr>
            <a:videoFile r:link="rId1"/>
          </p:nvPr>
        </p:nvPicPr>
        <p:blipFill>
          <a:blip r:embed="rId4"/>
          <a:stretch>
            <a:fillRect/>
          </a:stretch>
        </p:blipFill>
        <p:spPr>
          <a:xfrm>
            <a:off x="558084" y="876568"/>
            <a:ext cx="7201437" cy="3829050"/>
          </a:xfrm>
          <a:prstGeom prst="rect">
            <a:avLst/>
          </a:prstGeom>
        </p:spPr>
      </p:pic>
    </p:spTree>
    <p:extLst>
      <p:ext uri="{BB962C8B-B14F-4D97-AF65-F5344CB8AC3E}">
        <p14:creationId xmlns:p14="http://schemas.microsoft.com/office/powerpoint/2010/main" val="428920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13"/>
          <p:cNvPicPr preferRelativeResize="0"/>
          <p:nvPr/>
        </p:nvPicPr>
        <p:blipFill rotWithShape="1">
          <a:blip r:embed="rId3">
            <a:alphaModFix/>
          </a:blip>
          <a:srcRect/>
          <a:stretch/>
        </p:blipFill>
        <p:spPr>
          <a:xfrm>
            <a:off x="264001" y="1281284"/>
            <a:ext cx="2620849" cy="1476736"/>
          </a:xfrm>
          <a:prstGeom prst="rect">
            <a:avLst/>
          </a:prstGeom>
          <a:noFill/>
          <a:ln>
            <a:noFill/>
          </a:ln>
        </p:spPr>
      </p:pic>
      <p:sp>
        <p:nvSpPr>
          <p:cNvPr id="130" name="Google Shape;130;p13"/>
          <p:cNvSpPr/>
          <p:nvPr/>
        </p:nvSpPr>
        <p:spPr>
          <a:xfrm>
            <a:off x="457200" y="204742"/>
            <a:ext cx="8229600" cy="423703"/>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800"/>
              <a:buFont typeface="Calibri"/>
              <a:buNone/>
            </a:pPr>
            <a:r>
              <a:rPr lang="en-US" sz="2800" b="1">
                <a:solidFill>
                  <a:srgbClr val="FFFFFF"/>
                </a:solidFill>
                <a:latin typeface="Calibri"/>
                <a:ea typeface="Calibri"/>
                <a:cs typeface="Calibri"/>
                <a:sym typeface="Calibri"/>
              </a:rPr>
              <a:t>Power BI - Rapport d’analyse </a:t>
            </a:r>
            <a:endParaRPr sz="2800">
              <a:solidFill>
                <a:schemeClr val="dk1"/>
              </a:solidFill>
              <a:latin typeface="Calibri"/>
              <a:ea typeface="Calibri"/>
              <a:cs typeface="Calibri"/>
              <a:sym typeface="Calibri"/>
            </a:endParaRPr>
          </a:p>
        </p:txBody>
      </p:sp>
      <p:sp>
        <p:nvSpPr>
          <p:cNvPr id="137" name="Google Shape;137;p13"/>
          <p:cNvSpPr/>
          <p:nvPr/>
        </p:nvSpPr>
        <p:spPr>
          <a:xfrm>
            <a:off x="1168032" y="1008978"/>
            <a:ext cx="14301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F0F7"/>
              </a:buClr>
              <a:buSzPts val="1300"/>
              <a:buFont typeface="Calibri"/>
              <a:buNone/>
            </a:pPr>
            <a:endParaRPr sz="1300" b="0" i="0" u="none" strike="noStrike" cap="none">
              <a:solidFill>
                <a:schemeClr val="dk1"/>
              </a:solidFill>
              <a:latin typeface="Calibri"/>
              <a:ea typeface="Calibri"/>
              <a:cs typeface="Calibri"/>
              <a:sym typeface="Calibri"/>
            </a:endParaRPr>
          </a:p>
        </p:txBody>
      </p:sp>
      <p:sp>
        <p:nvSpPr>
          <p:cNvPr id="138" name="Google Shape;138;p13"/>
          <p:cNvSpPr txBox="1"/>
          <p:nvPr/>
        </p:nvSpPr>
        <p:spPr>
          <a:xfrm>
            <a:off x="6670320" y="803505"/>
            <a:ext cx="17029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1" u="none" strike="noStrike" cap="none">
                <a:solidFill>
                  <a:schemeClr val="dk1"/>
                </a:solidFill>
                <a:latin typeface="Arial"/>
                <a:ea typeface="Arial"/>
                <a:cs typeface="Arial"/>
                <a:sym typeface="Arial"/>
              </a:rPr>
              <a:t>Focus Prévention</a:t>
            </a:r>
            <a:endParaRPr/>
          </a:p>
        </p:txBody>
      </p:sp>
      <p:sp>
        <p:nvSpPr>
          <p:cNvPr id="139" name="Google Shape;139;p13"/>
          <p:cNvSpPr txBox="1"/>
          <p:nvPr/>
        </p:nvSpPr>
        <p:spPr>
          <a:xfrm>
            <a:off x="3764275" y="775984"/>
            <a:ext cx="161544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1" u="none" strike="noStrike" cap="none">
                <a:solidFill>
                  <a:schemeClr val="dk1"/>
                </a:solidFill>
                <a:latin typeface="Arial"/>
                <a:ea typeface="Arial"/>
                <a:cs typeface="Arial"/>
                <a:sym typeface="Arial"/>
              </a:rPr>
              <a:t>Analyse globale</a:t>
            </a:r>
            <a:endParaRPr/>
          </a:p>
        </p:txBody>
      </p:sp>
      <p:sp>
        <p:nvSpPr>
          <p:cNvPr id="140" name="Google Shape;140;p13"/>
          <p:cNvSpPr/>
          <p:nvPr/>
        </p:nvSpPr>
        <p:spPr>
          <a:xfrm>
            <a:off x="0" y="0"/>
            <a:ext cx="9144000" cy="64008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3"/>
          <p:cNvSpPr/>
          <p:nvPr/>
        </p:nvSpPr>
        <p:spPr>
          <a:xfrm>
            <a:off x="365760" y="91440"/>
            <a:ext cx="8412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   RAPPORT - Un vision détaillée et interactive avec PowerBI</a:t>
            </a:r>
            <a:endParaRPr sz="1600">
              <a:solidFill>
                <a:schemeClr val="dk1"/>
              </a:solidFill>
              <a:latin typeface="Calibri"/>
              <a:ea typeface="Calibri"/>
              <a:cs typeface="Calibri"/>
              <a:sym typeface="Calibri"/>
            </a:endParaRPr>
          </a:p>
        </p:txBody>
      </p:sp>
      <p:pic>
        <p:nvPicPr>
          <p:cNvPr id="142" name="Google Shape;142;p13"/>
          <p:cNvPicPr preferRelativeResize="0"/>
          <p:nvPr/>
        </p:nvPicPr>
        <p:blipFill>
          <a:blip r:embed="rId4">
            <a:alphaModFix/>
          </a:blip>
          <a:stretch>
            <a:fillRect/>
          </a:stretch>
        </p:blipFill>
        <p:spPr>
          <a:xfrm>
            <a:off x="487713" y="2917694"/>
            <a:ext cx="2173426" cy="1904930"/>
          </a:xfrm>
          <a:prstGeom prst="rect">
            <a:avLst/>
          </a:prstGeom>
          <a:noFill/>
          <a:ln>
            <a:noFill/>
          </a:ln>
        </p:spPr>
      </p:pic>
      <p:pic>
        <p:nvPicPr>
          <p:cNvPr id="5" name="Image 4">
            <a:extLst>
              <a:ext uri="{FF2B5EF4-FFF2-40B4-BE49-F238E27FC236}">
                <a16:creationId xmlns:a16="http://schemas.microsoft.com/office/drawing/2014/main" id="{ADA05021-F759-0779-E17D-0E7BE5CD1C45}"/>
              </a:ext>
            </a:extLst>
          </p:cNvPr>
          <p:cNvPicPr>
            <a:picLocks noChangeAspect="1"/>
          </p:cNvPicPr>
          <p:nvPr/>
        </p:nvPicPr>
        <p:blipFill>
          <a:blip r:embed="rId5"/>
          <a:stretch>
            <a:fillRect/>
          </a:stretch>
        </p:blipFill>
        <p:spPr>
          <a:xfrm>
            <a:off x="6171500" y="1131781"/>
            <a:ext cx="2823518" cy="3526063"/>
          </a:xfrm>
          <a:prstGeom prst="rect">
            <a:avLst/>
          </a:prstGeom>
        </p:spPr>
      </p:pic>
      <p:pic>
        <p:nvPicPr>
          <p:cNvPr id="7" name="Image 6">
            <a:extLst>
              <a:ext uri="{FF2B5EF4-FFF2-40B4-BE49-F238E27FC236}">
                <a16:creationId xmlns:a16="http://schemas.microsoft.com/office/drawing/2014/main" id="{3B105513-1BBB-6F71-C7EC-46D668FF80D0}"/>
              </a:ext>
            </a:extLst>
          </p:cNvPr>
          <p:cNvPicPr>
            <a:picLocks noChangeAspect="1"/>
          </p:cNvPicPr>
          <p:nvPr/>
        </p:nvPicPr>
        <p:blipFill>
          <a:blip r:embed="rId6"/>
          <a:stretch>
            <a:fillRect/>
          </a:stretch>
        </p:blipFill>
        <p:spPr>
          <a:xfrm>
            <a:off x="3252914" y="1111282"/>
            <a:ext cx="2762623" cy="36343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147"/>
        <p:cNvGrpSpPr/>
        <p:nvPr/>
      </p:nvGrpSpPr>
      <p:grpSpPr>
        <a:xfrm>
          <a:off x="0" y="0"/>
          <a:ext cx="0" cy="0"/>
          <a:chOff x="0" y="0"/>
          <a:chExt cx="0" cy="0"/>
        </a:xfrm>
      </p:grpSpPr>
      <p:sp>
        <p:nvSpPr>
          <p:cNvPr id="148" name="Google Shape;148;g3d96eeb11c7_0_0"/>
          <p:cNvSpPr/>
          <p:nvPr/>
        </p:nvSpPr>
        <p:spPr>
          <a:xfrm>
            <a:off x="0" y="0"/>
            <a:ext cx="9144000" cy="6402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g3d96eeb11c7_0_0"/>
          <p:cNvSpPr/>
          <p:nvPr/>
        </p:nvSpPr>
        <p:spPr>
          <a:xfrm>
            <a:off x="365760" y="91440"/>
            <a:ext cx="8412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Calibri"/>
              <a:buNone/>
            </a:pPr>
            <a:r>
              <a:rPr lang="en-US" sz="1600" b="1" dirty="0">
                <a:solidFill>
                  <a:srgbClr val="FFFFFF"/>
                </a:solidFill>
                <a:latin typeface="Calibri"/>
                <a:ea typeface="Calibri"/>
                <a:cs typeface="Calibri"/>
                <a:sym typeface="Calibri"/>
              </a:rPr>
              <a:t>OÙ ?  •  </a:t>
            </a:r>
            <a:r>
              <a:rPr lang="en-US" sz="1600" b="1" dirty="0" err="1">
                <a:solidFill>
                  <a:srgbClr val="FFFFFF"/>
                </a:solidFill>
                <a:latin typeface="Calibri"/>
                <a:ea typeface="Calibri"/>
                <a:cs typeface="Calibri"/>
                <a:sym typeface="Calibri"/>
              </a:rPr>
              <a:t>Quel</a:t>
            </a:r>
            <a:r>
              <a:rPr lang="en-US" sz="1600" b="1" dirty="0">
                <a:solidFill>
                  <a:srgbClr val="FFFFFF"/>
                </a:solidFill>
                <a:latin typeface="Calibri"/>
                <a:ea typeface="Calibri"/>
                <a:cs typeface="Calibri"/>
                <a:sym typeface="Calibri"/>
              </a:rPr>
              <a:t> type de route ?</a:t>
            </a:r>
            <a:endParaRPr sz="1600" dirty="0">
              <a:solidFill>
                <a:schemeClr val="dk1"/>
              </a:solidFill>
              <a:latin typeface="Calibri"/>
              <a:ea typeface="Calibri"/>
              <a:cs typeface="Calibri"/>
              <a:sym typeface="Calibri"/>
            </a:endParaRPr>
          </a:p>
        </p:txBody>
      </p:sp>
      <p:pic>
        <p:nvPicPr>
          <p:cNvPr id="150" name="Google Shape;150;g3d96eeb11c7_0_0"/>
          <p:cNvPicPr preferRelativeResize="0"/>
          <p:nvPr/>
        </p:nvPicPr>
        <p:blipFill rotWithShape="1">
          <a:blip r:embed="rId3">
            <a:alphaModFix/>
          </a:blip>
          <a:srcRect b="15811"/>
          <a:stretch/>
        </p:blipFill>
        <p:spPr>
          <a:xfrm>
            <a:off x="843011" y="2403849"/>
            <a:ext cx="1362060" cy="1172533"/>
          </a:xfrm>
          <a:prstGeom prst="rect">
            <a:avLst/>
          </a:prstGeom>
          <a:noFill/>
          <a:ln>
            <a:noFill/>
          </a:ln>
        </p:spPr>
      </p:pic>
      <p:pic>
        <p:nvPicPr>
          <p:cNvPr id="151" name="Google Shape;151;g3d96eeb11c7_0_0"/>
          <p:cNvPicPr preferRelativeResize="0"/>
          <p:nvPr/>
        </p:nvPicPr>
        <p:blipFill rotWithShape="1">
          <a:blip r:embed="rId4">
            <a:alphaModFix/>
          </a:blip>
          <a:srcRect b="15662"/>
          <a:stretch/>
        </p:blipFill>
        <p:spPr>
          <a:xfrm>
            <a:off x="2152817" y="2440590"/>
            <a:ext cx="1348602" cy="1172533"/>
          </a:xfrm>
          <a:prstGeom prst="rect">
            <a:avLst/>
          </a:prstGeom>
          <a:noFill/>
          <a:ln>
            <a:noFill/>
          </a:ln>
        </p:spPr>
      </p:pic>
      <p:pic>
        <p:nvPicPr>
          <p:cNvPr id="152" name="Google Shape;152;g3d96eeb11c7_0_0"/>
          <p:cNvPicPr preferRelativeResize="0"/>
          <p:nvPr/>
        </p:nvPicPr>
        <p:blipFill rotWithShape="1">
          <a:blip r:embed="rId5">
            <a:alphaModFix/>
          </a:blip>
          <a:srcRect b="15662"/>
          <a:stretch/>
        </p:blipFill>
        <p:spPr>
          <a:xfrm>
            <a:off x="3492921" y="2417206"/>
            <a:ext cx="1369109" cy="1172534"/>
          </a:xfrm>
          <a:prstGeom prst="rect">
            <a:avLst/>
          </a:prstGeom>
          <a:noFill/>
          <a:ln>
            <a:noFill/>
          </a:ln>
        </p:spPr>
      </p:pic>
      <p:sp>
        <p:nvSpPr>
          <p:cNvPr id="153" name="Google Shape;153;g3d96eeb11c7_0_0"/>
          <p:cNvSpPr txBox="1"/>
          <p:nvPr/>
        </p:nvSpPr>
        <p:spPr>
          <a:xfrm>
            <a:off x="3773773" y="2115239"/>
            <a:ext cx="916800" cy="253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1" u="none" strike="noStrike" cap="none">
                <a:solidFill>
                  <a:schemeClr val="dk1"/>
                </a:solidFill>
                <a:latin typeface="Arial"/>
                <a:ea typeface="Arial"/>
                <a:cs typeface="Arial"/>
                <a:sym typeface="Arial"/>
              </a:rPr>
              <a:t>Autoroutes</a:t>
            </a:r>
            <a:endParaRPr/>
          </a:p>
        </p:txBody>
      </p:sp>
      <p:sp>
        <p:nvSpPr>
          <p:cNvPr id="154" name="Google Shape;154;g3d96eeb11c7_0_0"/>
          <p:cNvSpPr txBox="1"/>
          <p:nvPr/>
        </p:nvSpPr>
        <p:spPr>
          <a:xfrm>
            <a:off x="2300144" y="2115239"/>
            <a:ext cx="1615500" cy="253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1" u="none" strike="noStrike" cap="none">
                <a:solidFill>
                  <a:schemeClr val="dk1"/>
                </a:solidFill>
                <a:latin typeface="Arial"/>
                <a:ea typeface="Arial"/>
                <a:cs typeface="Arial"/>
                <a:sym typeface="Arial"/>
              </a:rPr>
              <a:t>Départementales</a:t>
            </a:r>
            <a:endParaRPr/>
          </a:p>
        </p:txBody>
      </p:sp>
      <p:sp>
        <p:nvSpPr>
          <p:cNvPr id="155" name="Google Shape;155;g3d96eeb11c7_0_0"/>
          <p:cNvSpPr txBox="1"/>
          <p:nvPr/>
        </p:nvSpPr>
        <p:spPr>
          <a:xfrm>
            <a:off x="1100950" y="2103546"/>
            <a:ext cx="1239000" cy="253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050" b="0" i="1" u="none" strike="noStrike" cap="none">
                <a:solidFill>
                  <a:schemeClr val="dk1"/>
                </a:solidFill>
                <a:latin typeface="Arial"/>
                <a:ea typeface="Arial"/>
                <a:cs typeface="Arial"/>
                <a:sym typeface="Arial"/>
              </a:rPr>
              <a:t>Communales</a:t>
            </a:r>
            <a:endParaRPr/>
          </a:p>
        </p:txBody>
      </p:sp>
      <p:sp>
        <p:nvSpPr>
          <p:cNvPr id="156" name="Google Shape;156;g3d96eeb11c7_0_0"/>
          <p:cNvSpPr/>
          <p:nvPr/>
        </p:nvSpPr>
        <p:spPr>
          <a:xfrm>
            <a:off x="537334" y="816338"/>
            <a:ext cx="2184600" cy="11181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g3d96eeb11c7_0_0"/>
          <p:cNvSpPr/>
          <p:nvPr/>
        </p:nvSpPr>
        <p:spPr>
          <a:xfrm>
            <a:off x="537334" y="816337"/>
            <a:ext cx="63900" cy="10887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g3d96eeb11c7_0_0"/>
          <p:cNvSpPr/>
          <p:nvPr/>
        </p:nvSpPr>
        <p:spPr>
          <a:xfrm>
            <a:off x="674483" y="862045"/>
            <a:ext cx="1657500" cy="245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300"/>
              <a:buFont typeface="Calibri"/>
              <a:buNone/>
            </a:pPr>
            <a:r>
              <a:rPr lang="en-US" sz="1300" b="1">
                <a:solidFill>
                  <a:srgbClr val="0D1B2A"/>
                </a:solidFill>
                <a:latin typeface="Calibri"/>
                <a:ea typeface="Calibri"/>
                <a:cs typeface="Calibri"/>
                <a:sym typeface="Calibri"/>
              </a:rPr>
              <a:t>Route départementales</a:t>
            </a:r>
            <a:endParaRPr sz="1300">
              <a:solidFill>
                <a:schemeClr val="dk1"/>
              </a:solidFill>
              <a:latin typeface="Calibri"/>
              <a:ea typeface="Calibri"/>
              <a:cs typeface="Calibri"/>
              <a:sym typeface="Calibri"/>
            </a:endParaRPr>
          </a:p>
        </p:txBody>
      </p:sp>
      <p:sp>
        <p:nvSpPr>
          <p:cNvPr id="159" name="Google Shape;159;g3d96eeb11c7_0_0"/>
          <p:cNvSpPr/>
          <p:nvPr/>
        </p:nvSpPr>
        <p:spPr>
          <a:xfrm>
            <a:off x="674484" y="1593562"/>
            <a:ext cx="1657500" cy="210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899A6"/>
              </a:buClr>
              <a:buSzPts val="1200"/>
              <a:buFont typeface="Calibri"/>
              <a:buNone/>
            </a:pPr>
            <a:r>
              <a:rPr lang="en-US" sz="1200">
                <a:solidFill>
                  <a:srgbClr val="8899A6"/>
                </a:solidFill>
                <a:latin typeface="Calibri"/>
                <a:ea typeface="Calibri"/>
                <a:cs typeface="Calibri"/>
                <a:sym typeface="Calibri"/>
              </a:rPr>
              <a:t>risque d’accidents graves : 42% vs 17%</a:t>
            </a:r>
            <a:endParaRPr sz="1200">
              <a:solidFill>
                <a:schemeClr val="dk1"/>
              </a:solidFill>
              <a:latin typeface="Calibri"/>
              <a:ea typeface="Calibri"/>
              <a:cs typeface="Calibri"/>
              <a:sym typeface="Calibri"/>
            </a:endParaRPr>
          </a:p>
        </p:txBody>
      </p:sp>
      <p:sp>
        <p:nvSpPr>
          <p:cNvPr id="160" name="Google Shape;160;g3d96eeb11c7_0_0"/>
          <p:cNvSpPr/>
          <p:nvPr/>
        </p:nvSpPr>
        <p:spPr>
          <a:xfrm>
            <a:off x="887436" y="1143987"/>
            <a:ext cx="1507200" cy="35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2400"/>
              <a:buFont typeface="Calibri"/>
              <a:buNone/>
            </a:pPr>
            <a:r>
              <a:rPr lang="en-US" sz="2400" b="1">
                <a:solidFill>
                  <a:srgbClr val="C0392B"/>
                </a:solidFill>
                <a:latin typeface="Calibri"/>
                <a:ea typeface="Calibri"/>
                <a:cs typeface="Calibri"/>
                <a:sym typeface="Calibri"/>
              </a:rPr>
              <a:t>x2 </a:t>
            </a:r>
            <a:endParaRPr sz="2400">
              <a:solidFill>
                <a:schemeClr val="dk1"/>
              </a:solidFill>
              <a:latin typeface="Calibri"/>
              <a:ea typeface="Calibri"/>
              <a:cs typeface="Calibri"/>
              <a:sym typeface="Calibri"/>
            </a:endParaRPr>
          </a:p>
        </p:txBody>
      </p:sp>
      <p:pic>
        <p:nvPicPr>
          <p:cNvPr id="161" name="Google Shape;161;g3d96eeb11c7_0_0"/>
          <p:cNvPicPr preferRelativeResize="0"/>
          <p:nvPr/>
        </p:nvPicPr>
        <p:blipFill rotWithShape="1">
          <a:blip r:embed="rId6">
            <a:alphaModFix/>
          </a:blip>
          <a:srcRect/>
          <a:stretch/>
        </p:blipFill>
        <p:spPr>
          <a:xfrm>
            <a:off x="1039980" y="3626343"/>
            <a:ext cx="3616037" cy="398806"/>
          </a:xfrm>
          <a:prstGeom prst="rect">
            <a:avLst/>
          </a:prstGeom>
          <a:noFill/>
          <a:ln>
            <a:noFill/>
          </a:ln>
        </p:spPr>
      </p:pic>
      <p:sp>
        <p:nvSpPr>
          <p:cNvPr id="162" name="Google Shape;162;g3d96eeb11c7_0_0"/>
          <p:cNvSpPr/>
          <p:nvPr/>
        </p:nvSpPr>
        <p:spPr>
          <a:xfrm>
            <a:off x="3044239" y="803716"/>
            <a:ext cx="2187900" cy="11181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3" name="Google Shape;163;g3d96eeb11c7_0_0"/>
          <p:cNvSpPr/>
          <p:nvPr/>
        </p:nvSpPr>
        <p:spPr>
          <a:xfrm>
            <a:off x="3044238" y="803715"/>
            <a:ext cx="75493" cy="1101321"/>
          </a:xfrm>
          <a:prstGeom prst="rect">
            <a:avLst/>
          </a:prstGeom>
          <a:solidFill>
            <a:srgbClr val="E67E22"/>
          </a:solidFill>
          <a:ln w="12700"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g3d96eeb11c7_0_0"/>
          <p:cNvSpPr/>
          <p:nvPr/>
        </p:nvSpPr>
        <p:spPr>
          <a:xfrm>
            <a:off x="3181399" y="849436"/>
            <a:ext cx="1910100" cy="245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300"/>
              <a:buFont typeface="Calibri"/>
              <a:buNone/>
            </a:pPr>
            <a:r>
              <a:rPr lang="en-US" sz="1300" b="1">
                <a:solidFill>
                  <a:srgbClr val="0D1B2A"/>
                </a:solidFill>
                <a:latin typeface="Calibri"/>
                <a:ea typeface="Calibri"/>
                <a:cs typeface="Calibri"/>
                <a:sym typeface="Calibri"/>
              </a:rPr>
              <a:t>Départements fragilisés</a:t>
            </a:r>
            <a:endParaRPr sz="1300">
              <a:solidFill>
                <a:schemeClr val="dk1"/>
              </a:solidFill>
              <a:latin typeface="Calibri"/>
              <a:ea typeface="Calibri"/>
              <a:cs typeface="Calibri"/>
              <a:sym typeface="Calibri"/>
            </a:endParaRPr>
          </a:p>
        </p:txBody>
      </p:sp>
      <p:sp>
        <p:nvSpPr>
          <p:cNvPr id="165" name="Google Shape;165;g3d96eeb11c7_0_0"/>
          <p:cNvSpPr/>
          <p:nvPr/>
        </p:nvSpPr>
        <p:spPr>
          <a:xfrm>
            <a:off x="3260360" y="1114887"/>
            <a:ext cx="1971900" cy="35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1800"/>
              <a:buFont typeface="Calibri"/>
              <a:buNone/>
            </a:pPr>
            <a:r>
              <a:rPr lang="en-US" sz="1800" b="1" dirty="0">
                <a:solidFill>
                  <a:srgbClr val="E67E22"/>
                </a:solidFill>
                <a:latin typeface="Calibri"/>
                <a:ea typeface="Calibri"/>
                <a:cs typeface="Calibri"/>
                <a:sym typeface="Calibri"/>
              </a:rPr>
              <a:t>Var / Nord / </a:t>
            </a:r>
            <a:r>
              <a:rPr lang="en-US" sz="1800" b="1" dirty="0" err="1">
                <a:solidFill>
                  <a:srgbClr val="E67E22"/>
                </a:solidFill>
                <a:latin typeface="Calibri"/>
                <a:ea typeface="Calibri"/>
                <a:cs typeface="Calibri"/>
                <a:sym typeface="Calibri"/>
              </a:rPr>
              <a:t>Hérault</a:t>
            </a:r>
            <a:endParaRPr sz="1800" dirty="0">
              <a:solidFill>
                <a:srgbClr val="E67E22"/>
              </a:solidFill>
              <a:latin typeface="Calibri"/>
              <a:ea typeface="Calibri"/>
              <a:cs typeface="Calibri"/>
              <a:sym typeface="Calibri"/>
            </a:endParaRPr>
          </a:p>
        </p:txBody>
      </p:sp>
      <p:sp>
        <p:nvSpPr>
          <p:cNvPr id="166" name="Google Shape;166;g3d96eeb11c7_0_0"/>
          <p:cNvSpPr/>
          <p:nvPr/>
        </p:nvSpPr>
        <p:spPr>
          <a:xfrm>
            <a:off x="3181398" y="1580956"/>
            <a:ext cx="2050800" cy="210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899A6"/>
              </a:buClr>
              <a:buSzPts val="1200"/>
              <a:buFont typeface="Calibri"/>
              <a:buNone/>
            </a:pPr>
            <a:r>
              <a:rPr lang="en-US" sz="1200">
                <a:solidFill>
                  <a:srgbClr val="8899A6"/>
                </a:solidFill>
                <a:latin typeface="Calibri"/>
                <a:ea typeface="Calibri"/>
                <a:cs typeface="Calibri"/>
                <a:sym typeface="Calibri"/>
              </a:rPr>
              <a:t>Ratio volume - gravité</a:t>
            </a:r>
            <a:endParaRPr sz="1200">
              <a:solidFill>
                <a:schemeClr val="dk1"/>
              </a:solidFill>
              <a:latin typeface="Calibri"/>
              <a:ea typeface="Calibri"/>
              <a:cs typeface="Calibri"/>
              <a:sym typeface="Calibri"/>
            </a:endParaRPr>
          </a:p>
        </p:txBody>
      </p:sp>
      <p:sp>
        <p:nvSpPr>
          <p:cNvPr id="167" name="Google Shape;167;g3d96eeb11c7_0_0"/>
          <p:cNvSpPr/>
          <p:nvPr/>
        </p:nvSpPr>
        <p:spPr>
          <a:xfrm>
            <a:off x="826216" y="4395914"/>
            <a:ext cx="7576500" cy="6858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g3d96eeb11c7_0_0"/>
          <p:cNvSpPr/>
          <p:nvPr/>
        </p:nvSpPr>
        <p:spPr>
          <a:xfrm>
            <a:off x="983672" y="4469066"/>
            <a:ext cx="7363800" cy="502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1C40F"/>
              </a:buClr>
              <a:buSzPts val="1300"/>
              <a:buFont typeface="Calibri"/>
              <a:buNone/>
            </a:pPr>
            <a:r>
              <a:rPr lang="en-US" sz="1300" b="1">
                <a:solidFill>
                  <a:srgbClr val="F1C40F"/>
                </a:solidFill>
                <a:latin typeface="Calibri"/>
                <a:ea typeface="Calibri"/>
                <a:cs typeface="Calibri"/>
                <a:sym typeface="Calibri"/>
              </a:rPr>
              <a:t>💡  Des actions gouvernementales sont nécessaires sur les routes départementales, spécifiquement dans les départements :  Var, Nord ou Hérault</a:t>
            </a:r>
            <a:endParaRPr sz="1300">
              <a:solidFill>
                <a:schemeClr val="dk1"/>
              </a:solidFill>
              <a:latin typeface="Calibri"/>
              <a:ea typeface="Calibri"/>
              <a:cs typeface="Calibri"/>
              <a:sym typeface="Calibri"/>
            </a:endParaRPr>
          </a:p>
        </p:txBody>
      </p:sp>
      <p:sp>
        <p:nvSpPr>
          <p:cNvPr id="183" name="Google Shape;183;p6"/>
          <p:cNvSpPr/>
          <p:nvPr/>
        </p:nvSpPr>
        <p:spPr>
          <a:xfrm>
            <a:off x="6157397" y="802537"/>
            <a:ext cx="2187900" cy="11025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4" name="Google Shape;184;p6"/>
          <p:cNvSpPr/>
          <p:nvPr/>
        </p:nvSpPr>
        <p:spPr>
          <a:xfrm>
            <a:off x="6099422" y="812862"/>
            <a:ext cx="82800" cy="11025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6"/>
          <p:cNvSpPr/>
          <p:nvPr/>
        </p:nvSpPr>
        <p:spPr>
          <a:xfrm>
            <a:off x="6428449" y="848245"/>
            <a:ext cx="1910100" cy="245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300"/>
              <a:buFont typeface="Calibri"/>
              <a:buNone/>
            </a:pPr>
            <a:r>
              <a:rPr lang="en-US" sz="1300" b="1">
                <a:solidFill>
                  <a:srgbClr val="0D1B2A"/>
                </a:solidFill>
                <a:latin typeface="Calibri"/>
                <a:ea typeface="Calibri"/>
                <a:cs typeface="Calibri"/>
                <a:sym typeface="Calibri"/>
              </a:rPr>
              <a:t>Hors agglomération</a:t>
            </a:r>
            <a:endParaRPr sz="1300">
              <a:solidFill>
                <a:schemeClr val="dk1"/>
              </a:solidFill>
              <a:latin typeface="Calibri"/>
              <a:ea typeface="Calibri"/>
              <a:cs typeface="Calibri"/>
              <a:sym typeface="Calibri"/>
            </a:endParaRPr>
          </a:p>
        </p:txBody>
      </p:sp>
      <p:sp>
        <p:nvSpPr>
          <p:cNvPr id="186" name="Google Shape;186;p6"/>
          <p:cNvSpPr/>
          <p:nvPr/>
        </p:nvSpPr>
        <p:spPr>
          <a:xfrm>
            <a:off x="6405595" y="1094706"/>
            <a:ext cx="1828800" cy="35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2400"/>
              <a:buFont typeface="Calibri"/>
              <a:buNone/>
            </a:pPr>
            <a:r>
              <a:rPr lang="en-US" sz="2400" b="1">
                <a:solidFill>
                  <a:srgbClr val="C0392B"/>
                </a:solidFill>
                <a:latin typeface="Calibri"/>
                <a:ea typeface="Calibri"/>
                <a:cs typeface="Calibri"/>
                <a:sym typeface="Calibri"/>
              </a:rPr>
              <a:t>x2</a:t>
            </a:r>
            <a:endParaRPr sz="2400">
              <a:solidFill>
                <a:schemeClr val="dk1"/>
              </a:solidFill>
              <a:latin typeface="Calibri"/>
              <a:ea typeface="Calibri"/>
              <a:cs typeface="Calibri"/>
              <a:sym typeface="Calibri"/>
            </a:endParaRPr>
          </a:p>
        </p:txBody>
      </p:sp>
      <p:sp>
        <p:nvSpPr>
          <p:cNvPr id="187" name="Google Shape;187;p6"/>
          <p:cNvSpPr/>
          <p:nvPr/>
        </p:nvSpPr>
        <p:spPr>
          <a:xfrm>
            <a:off x="6294569" y="1475996"/>
            <a:ext cx="1910100" cy="282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899A6"/>
              </a:buClr>
              <a:buSzPts val="1200"/>
              <a:buFont typeface="Calibri"/>
              <a:buNone/>
            </a:pPr>
            <a:r>
              <a:rPr lang="en-US" sz="1200">
                <a:solidFill>
                  <a:srgbClr val="555555"/>
                </a:solidFill>
                <a:latin typeface="Calibri"/>
                <a:ea typeface="Calibri"/>
                <a:cs typeface="Calibri"/>
                <a:sym typeface="Calibri"/>
              </a:rPr>
              <a:t>risque d’accidents graves vs en agglomération (44% vs 18%)</a:t>
            </a:r>
            <a:endParaRPr sz="1200">
              <a:solidFill>
                <a:srgbClr val="555555"/>
              </a:solidFill>
              <a:latin typeface="Calibri"/>
              <a:ea typeface="Calibri"/>
              <a:cs typeface="Calibri"/>
              <a:sym typeface="Calibri"/>
            </a:endParaRPr>
          </a:p>
        </p:txBody>
      </p:sp>
      <p:pic>
        <p:nvPicPr>
          <p:cNvPr id="189" name="Google Shape;189;p6"/>
          <p:cNvPicPr preferRelativeResize="0"/>
          <p:nvPr/>
        </p:nvPicPr>
        <p:blipFill>
          <a:blip r:embed="rId7">
            <a:alphaModFix/>
          </a:blip>
          <a:stretch>
            <a:fillRect/>
          </a:stretch>
        </p:blipFill>
        <p:spPr>
          <a:xfrm>
            <a:off x="6099422" y="2031729"/>
            <a:ext cx="2210936" cy="2006735"/>
          </a:xfrm>
          <a:prstGeom prst="rect">
            <a:avLst/>
          </a:prstGeom>
          <a:noFill/>
          <a:ln>
            <a:noFill/>
          </a:ln>
        </p:spPr>
      </p:pic>
      <p:cxnSp>
        <p:nvCxnSpPr>
          <p:cNvPr id="2" name="Google Shape;203;g3d96eeb11c7_0_107">
            <a:extLst>
              <a:ext uri="{FF2B5EF4-FFF2-40B4-BE49-F238E27FC236}">
                <a16:creationId xmlns:a16="http://schemas.microsoft.com/office/drawing/2014/main" id="{46AE4D0E-4FFA-2C7B-AFFF-72711B56CEEB}"/>
              </a:ext>
            </a:extLst>
          </p:cNvPr>
          <p:cNvCxnSpPr/>
          <p:nvPr/>
        </p:nvCxnSpPr>
        <p:spPr>
          <a:xfrm>
            <a:off x="5657932" y="660914"/>
            <a:ext cx="0" cy="3735000"/>
          </a:xfrm>
          <a:prstGeom prst="straightConnector1">
            <a:avLst/>
          </a:prstGeom>
          <a:noFill/>
          <a:ln w="19050" cap="flat" cmpd="sng">
            <a:solidFill>
              <a:srgbClr val="C0392B"/>
            </a:solidFill>
            <a:prstDash val="dot"/>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195"/>
        <p:cNvGrpSpPr/>
        <p:nvPr/>
      </p:nvGrpSpPr>
      <p:grpSpPr>
        <a:xfrm>
          <a:off x="0" y="0"/>
          <a:ext cx="0" cy="0"/>
          <a:chOff x="0" y="0"/>
          <a:chExt cx="0" cy="0"/>
        </a:xfrm>
      </p:grpSpPr>
      <p:sp>
        <p:nvSpPr>
          <p:cNvPr id="196" name="Google Shape;196;g3d96eeb11c7_0_107"/>
          <p:cNvSpPr/>
          <p:nvPr/>
        </p:nvSpPr>
        <p:spPr>
          <a:xfrm>
            <a:off x="0" y="0"/>
            <a:ext cx="9144000" cy="6402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7" name="Google Shape;197;g3d96eeb11c7_0_107"/>
          <p:cNvSpPr/>
          <p:nvPr/>
        </p:nvSpPr>
        <p:spPr>
          <a:xfrm>
            <a:off x="365760" y="91440"/>
            <a:ext cx="8412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Calibri"/>
              <a:buNone/>
            </a:pPr>
            <a:r>
              <a:rPr lang="en-US" sz="1600" b="1">
                <a:solidFill>
                  <a:schemeClr val="lt1"/>
                </a:solidFill>
                <a:latin typeface="Calibri"/>
                <a:ea typeface="Calibri"/>
                <a:cs typeface="Calibri"/>
                <a:sym typeface="Calibri"/>
              </a:rPr>
              <a:t>QUAND ?  </a:t>
            </a:r>
            <a:r>
              <a:rPr lang="en-US" sz="1600" b="1">
                <a:solidFill>
                  <a:srgbClr val="FFFFFF"/>
                </a:solidFill>
                <a:latin typeface="Calibri"/>
                <a:ea typeface="Calibri"/>
                <a:cs typeface="Calibri"/>
                <a:sym typeface="Calibri"/>
              </a:rPr>
              <a:t> </a:t>
            </a:r>
            <a:r>
              <a:rPr lang="en-US" sz="1600" b="1">
                <a:solidFill>
                  <a:schemeClr val="lt1"/>
                </a:solidFill>
                <a:latin typeface="Calibri"/>
                <a:ea typeface="Calibri"/>
                <a:cs typeface="Calibri"/>
                <a:sym typeface="Calibri"/>
              </a:rPr>
              <a:t>•</a:t>
            </a:r>
            <a:r>
              <a:rPr lang="en-US" sz="1600" b="1">
                <a:solidFill>
                  <a:srgbClr val="FFFFFF"/>
                </a:solidFill>
                <a:latin typeface="Calibri"/>
                <a:ea typeface="Calibri"/>
                <a:cs typeface="Calibri"/>
                <a:sym typeface="Calibri"/>
              </a:rPr>
              <a:t> Quels sont les contextes les plus critiques ?</a:t>
            </a:r>
            <a:endParaRPr sz="1600">
              <a:solidFill>
                <a:schemeClr val="dk1"/>
              </a:solidFill>
              <a:latin typeface="Calibri"/>
              <a:ea typeface="Calibri"/>
              <a:cs typeface="Calibri"/>
              <a:sym typeface="Calibri"/>
            </a:endParaRPr>
          </a:p>
        </p:txBody>
      </p:sp>
      <p:sp>
        <p:nvSpPr>
          <p:cNvPr id="198" name="Google Shape;198;g3d96eeb11c7_0_107"/>
          <p:cNvSpPr/>
          <p:nvPr/>
        </p:nvSpPr>
        <p:spPr>
          <a:xfrm>
            <a:off x="365760" y="4592902"/>
            <a:ext cx="8595300" cy="459158"/>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g3d96eeb11c7_0_107"/>
          <p:cNvSpPr/>
          <p:nvPr/>
        </p:nvSpPr>
        <p:spPr>
          <a:xfrm>
            <a:off x="538207" y="4535341"/>
            <a:ext cx="8229600" cy="502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1C40F"/>
              </a:buClr>
              <a:buSzPts val="1300"/>
              <a:buFont typeface="Calibri"/>
              <a:buNone/>
            </a:pPr>
            <a:r>
              <a:rPr lang="en-US" sz="1300" b="1" dirty="0">
                <a:solidFill>
                  <a:srgbClr val="F1C40F"/>
                </a:solidFill>
                <a:latin typeface="Calibri"/>
                <a:ea typeface="Calibri"/>
                <a:cs typeface="Calibri"/>
                <a:sym typeface="Calibri"/>
              </a:rPr>
              <a:t>💡 Le </a:t>
            </a:r>
            <a:r>
              <a:rPr lang="en-US" sz="1300" b="1" dirty="0" err="1">
                <a:solidFill>
                  <a:srgbClr val="F1C40F"/>
                </a:solidFill>
                <a:latin typeface="Calibri"/>
                <a:ea typeface="Calibri"/>
                <a:cs typeface="Calibri"/>
                <a:sym typeface="Calibri"/>
              </a:rPr>
              <a:t>nombre</a:t>
            </a:r>
            <a:r>
              <a:rPr lang="en-US" sz="1300" b="1" dirty="0">
                <a:solidFill>
                  <a:srgbClr val="F1C40F"/>
                </a:solidFill>
                <a:latin typeface="Calibri"/>
                <a:ea typeface="Calibri"/>
                <a:cs typeface="Calibri"/>
                <a:sym typeface="Calibri"/>
              </a:rPr>
              <a:t> </a:t>
            </a:r>
            <a:r>
              <a:rPr lang="en-US" sz="1300" b="1" dirty="0" err="1">
                <a:solidFill>
                  <a:srgbClr val="F1C40F"/>
                </a:solidFill>
                <a:latin typeface="Calibri"/>
                <a:ea typeface="Calibri"/>
                <a:cs typeface="Calibri"/>
                <a:sym typeface="Calibri"/>
              </a:rPr>
              <a:t>d’accident</a:t>
            </a:r>
            <a:r>
              <a:rPr lang="en-US" sz="1300" b="1" dirty="0">
                <a:solidFill>
                  <a:srgbClr val="F1C40F"/>
                </a:solidFill>
                <a:latin typeface="Calibri"/>
                <a:ea typeface="Calibri"/>
                <a:cs typeface="Calibri"/>
                <a:sym typeface="Calibri"/>
              </a:rPr>
              <a:t> </a:t>
            </a:r>
            <a:r>
              <a:rPr lang="en-US" sz="1300" b="1" dirty="0" err="1">
                <a:solidFill>
                  <a:srgbClr val="F1C40F"/>
                </a:solidFill>
                <a:latin typeface="Calibri"/>
                <a:ea typeface="Calibri"/>
                <a:cs typeface="Calibri"/>
                <a:sym typeface="Calibri"/>
              </a:rPr>
              <a:t>diminue</a:t>
            </a:r>
            <a:r>
              <a:rPr lang="en-US" sz="1300" b="1" dirty="0">
                <a:solidFill>
                  <a:srgbClr val="F1C40F"/>
                </a:solidFill>
                <a:latin typeface="Calibri"/>
                <a:ea typeface="Calibri"/>
                <a:cs typeface="Calibri"/>
                <a:sym typeface="Calibri"/>
              </a:rPr>
              <a:t> la nuit </a:t>
            </a:r>
            <a:r>
              <a:rPr lang="en-US" sz="1300" b="1" dirty="0" err="1">
                <a:solidFill>
                  <a:srgbClr val="F1C40F"/>
                </a:solidFill>
                <a:latin typeface="Calibri"/>
                <a:ea typeface="Calibri"/>
                <a:cs typeface="Calibri"/>
                <a:sym typeface="Calibri"/>
              </a:rPr>
              <a:t>mais</a:t>
            </a:r>
            <a:r>
              <a:rPr lang="en-US" sz="1300" b="1" dirty="0">
                <a:solidFill>
                  <a:srgbClr val="F1C40F"/>
                </a:solidFill>
                <a:latin typeface="Calibri"/>
                <a:ea typeface="Calibri"/>
                <a:cs typeface="Calibri"/>
                <a:sym typeface="Calibri"/>
              </a:rPr>
              <a:t> </a:t>
            </a:r>
            <a:r>
              <a:rPr lang="en-US" sz="1300" b="1" dirty="0" err="1">
                <a:solidFill>
                  <a:srgbClr val="F1C40F"/>
                </a:solidFill>
                <a:latin typeface="Calibri"/>
                <a:ea typeface="Calibri"/>
                <a:cs typeface="Calibri"/>
                <a:sym typeface="Calibri"/>
              </a:rPr>
              <a:t>leur</a:t>
            </a:r>
            <a:r>
              <a:rPr lang="en-US" sz="1300" b="1" dirty="0">
                <a:solidFill>
                  <a:srgbClr val="F1C40F"/>
                </a:solidFill>
                <a:latin typeface="Calibri"/>
                <a:ea typeface="Calibri"/>
                <a:cs typeface="Calibri"/>
                <a:sym typeface="Calibri"/>
              </a:rPr>
              <a:t> gravité </a:t>
            </a:r>
            <a:r>
              <a:rPr lang="en-US" sz="1300" b="1" dirty="0" err="1">
                <a:solidFill>
                  <a:srgbClr val="F1C40F"/>
                </a:solidFill>
                <a:latin typeface="Calibri"/>
                <a:ea typeface="Calibri"/>
                <a:cs typeface="Calibri"/>
                <a:sym typeface="Calibri"/>
              </a:rPr>
              <a:t>augmente</a:t>
            </a:r>
            <a:r>
              <a:rPr lang="en-US" sz="1300" b="1" dirty="0">
                <a:solidFill>
                  <a:srgbClr val="F1C40F"/>
                </a:solidFill>
                <a:latin typeface="Calibri"/>
                <a:ea typeface="Calibri"/>
                <a:cs typeface="Calibri"/>
                <a:sym typeface="Calibri"/>
              </a:rPr>
              <a:t>. </a:t>
            </a:r>
            <a:r>
              <a:rPr lang="en-US" sz="1300" b="1" dirty="0" err="1">
                <a:solidFill>
                  <a:srgbClr val="F1C40F"/>
                </a:solidFill>
                <a:latin typeface="Calibri"/>
                <a:ea typeface="Calibri"/>
                <a:cs typeface="Calibri"/>
                <a:sym typeface="Calibri"/>
              </a:rPr>
              <a:t>L’éclairage</a:t>
            </a:r>
            <a:r>
              <a:rPr lang="en-US" sz="1300" b="1" dirty="0">
                <a:solidFill>
                  <a:srgbClr val="F1C40F"/>
                </a:solidFill>
                <a:latin typeface="Calibri"/>
                <a:ea typeface="Calibri"/>
                <a:cs typeface="Calibri"/>
                <a:sym typeface="Calibri"/>
              </a:rPr>
              <a:t> public et la sur </a:t>
            </a:r>
            <a:r>
              <a:rPr lang="en-US" sz="1300" b="1" dirty="0" err="1">
                <a:solidFill>
                  <a:srgbClr val="F1C40F"/>
                </a:solidFill>
                <a:latin typeface="Calibri"/>
                <a:ea typeface="Calibri"/>
                <a:cs typeface="Calibri"/>
                <a:sym typeface="Calibri"/>
              </a:rPr>
              <a:t>fréquentation</a:t>
            </a:r>
            <a:r>
              <a:rPr lang="en-US" sz="1300" b="1" dirty="0">
                <a:solidFill>
                  <a:srgbClr val="F1C40F"/>
                </a:solidFill>
                <a:latin typeface="Calibri"/>
                <a:ea typeface="Calibri"/>
                <a:cs typeface="Calibri"/>
                <a:sym typeface="Calibri"/>
              </a:rPr>
              <a:t> des routes (</a:t>
            </a:r>
            <a:r>
              <a:rPr lang="en-US" sz="1300" b="1" dirty="0" err="1">
                <a:solidFill>
                  <a:srgbClr val="F1C40F"/>
                </a:solidFill>
                <a:latin typeface="Calibri"/>
                <a:ea typeface="Calibri"/>
                <a:cs typeface="Calibri"/>
                <a:sym typeface="Calibri"/>
              </a:rPr>
              <a:t>lors</a:t>
            </a:r>
            <a:r>
              <a:rPr lang="en-US" sz="1300" b="1" dirty="0">
                <a:solidFill>
                  <a:srgbClr val="F1C40F"/>
                </a:solidFill>
                <a:latin typeface="Calibri"/>
                <a:ea typeface="Calibri"/>
                <a:cs typeface="Calibri"/>
                <a:sym typeface="Calibri"/>
              </a:rPr>
              <a:t> de </a:t>
            </a:r>
            <a:r>
              <a:rPr lang="en-US" sz="1300" b="1" dirty="0" err="1">
                <a:solidFill>
                  <a:srgbClr val="F1C40F"/>
                </a:solidFill>
                <a:latin typeface="Calibri"/>
                <a:ea typeface="Calibri"/>
                <a:cs typeface="Calibri"/>
                <a:sym typeface="Calibri"/>
              </a:rPr>
              <a:t>vacances</a:t>
            </a:r>
            <a:r>
              <a:rPr lang="en-US" sz="1300" b="1" dirty="0">
                <a:solidFill>
                  <a:srgbClr val="F1C40F"/>
                </a:solidFill>
                <a:latin typeface="Calibri"/>
                <a:ea typeface="Calibri"/>
                <a:cs typeface="Calibri"/>
                <a:sym typeface="Calibri"/>
              </a:rPr>
              <a:t> </a:t>
            </a:r>
            <a:r>
              <a:rPr lang="en-US" sz="1300" b="1" dirty="0" err="1">
                <a:solidFill>
                  <a:srgbClr val="F1C40F"/>
                </a:solidFill>
                <a:latin typeface="Calibri"/>
                <a:ea typeface="Calibri"/>
                <a:cs typeface="Calibri"/>
                <a:sym typeface="Calibri"/>
              </a:rPr>
              <a:t>ou</a:t>
            </a:r>
            <a:r>
              <a:rPr lang="en-US" sz="1300" b="1" dirty="0">
                <a:solidFill>
                  <a:srgbClr val="F1C40F"/>
                </a:solidFill>
                <a:latin typeface="Calibri"/>
                <a:ea typeface="Calibri"/>
                <a:cs typeface="Calibri"/>
                <a:sym typeface="Calibri"/>
              </a:rPr>
              <a:t> week-end) </a:t>
            </a:r>
            <a:r>
              <a:rPr lang="en-US" sz="1300" b="1" dirty="0" err="1">
                <a:solidFill>
                  <a:srgbClr val="F1C40F"/>
                </a:solidFill>
                <a:latin typeface="Calibri"/>
                <a:ea typeface="Calibri"/>
                <a:cs typeface="Calibri"/>
                <a:sym typeface="Calibri"/>
              </a:rPr>
              <a:t>jouent</a:t>
            </a:r>
            <a:r>
              <a:rPr lang="en-US" sz="1300" b="1" dirty="0">
                <a:solidFill>
                  <a:srgbClr val="F1C40F"/>
                </a:solidFill>
                <a:latin typeface="Calibri"/>
                <a:ea typeface="Calibri"/>
                <a:cs typeface="Calibri"/>
                <a:sym typeface="Calibri"/>
              </a:rPr>
              <a:t> des </a:t>
            </a:r>
            <a:r>
              <a:rPr lang="en-US" sz="1300" b="1" dirty="0" err="1">
                <a:solidFill>
                  <a:srgbClr val="F1C40F"/>
                </a:solidFill>
                <a:latin typeface="Calibri"/>
                <a:ea typeface="Calibri"/>
                <a:cs typeface="Calibri"/>
                <a:sym typeface="Calibri"/>
              </a:rPr>
              <a:t>rôles</a:t>
            </a:r>
            <a:r>
              <a:rPr lang="en-US" sz="1300" b="1" dirty="0">
                <a:solidFill>
                  <a:srgbClr val="F1C40F"/>
                </a:solidFill>
                <a:latin typeface="Calibri"/>
                <a:ea typeface="Calibri"/>
                <a:cs typeface="Calibri"/>
                <a:sym typeface="Calibri"/>
              </a:rPr>
              <a:t> dans la gravité des accidents.</a:t>
            </a:r>
            <a:endParaRPr sz="1300" b="1" dirty="0">
              <a:solidFill>
                <a:schemeClr val="accent4"/>
              </a:solidFill>
              <a:latin typeface="Calibri"/>
              <a:ea typeface="Calibri"/>
              <a:cs typeface="Calibri"/>
              <a:sym typeface="Calibri"/>
            </a:endParaRPr>
          </a:p>
        </p:txBody>
      </p:sp>
      <p:cxnSp>
        <p:nvCxnSpPr>
          <p:cNvPr id="203" name="Google Shape;203;g3d96eeb11c7_0_107"/>
          <p:cNvCxnSpPr/>
          <p:nvPr/>
        </p:nvCxnSpPr>
        <p:spPr>
          <a:xfrm>
            <a:off x="3616631" y="640200"/>
            <a:ext cx="0" cy="3735000"/>
          </a:xfrm>
          <a:prstGeom prst="straightConnector1">
            <a:avLst/>
          </a:prstGeom>
          <a:noFill/>
          <a:ln w="19050" cap="flat" cmpd="sng">
            <a:solidFill>
              <a:srgbClr val="C0392B"/>
            </a:solidFill>
            <a:prstDash val="dot"/>
            <a:round/>
            <a:headEnd type="none" w="med" len="med"/>
            <a:tailEnd type="none" w="med" len="med"/>
          </a:ln>
        </p:spPr>
      </p:cxnSp>
      <p:sp>
        <p:nvSpPr>
          <p:cNvPr id="206" name="Google Shape;206;g3d96eeb11c7_0_107"/>
          <p:cNvSpPr/>
          <p:nvPr/>
        </p:nvSpPr>
        <p:spPr>
          <a:xfrm>
            <a:off x="4156189" y="922093"/>
            <a:ext cx="1498866" cy="959015"/>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g3d96eeb11c7_0_107"/>
          <p:cNvSpPr/>
          <p:nvPr/>
        </p:nvSpPr>
        <p:spPr>
          <a:xfrm>
            <a:off x="4092297" y="905380"/>
            <a:ext cx="63889" cy="975728"/>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g3d96eeb11c7_0_107"/>
          <p:cNvSpPr/>
          <p:nvPr/>
        </p:nvSpPr>
        <p:spPr>
          <a:xfrm>
            <a:off x="4339529" y="1009952"/>
            <a:ext cx="1166399" cy="35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2400"/>
              <a:buFont typeface="Calibri"/>
              <a:buNone/>
            </a:pPr>
            <a:r>
              <a:rPr lang="en-US" sz="3000" b="1" dirty="0">
                <a:solidFill>
                  <a:srgbClr val="C0392B"/>
                </a:solidFill>
                <a:latin typeface="Calibri"/>
                <a:ea typeface="Calibri"/>
                <a:cs typeface="Calibri"/>
                <a:sym typeface="Calibri"/>
              </a:rPr>
              <a:t>+ ~20%</a:t>
            </a:r>
            <a:endParaRPr sz="3000" dirty="0">
              <a:solidFill>
                <a:schemeClr val="dk1"/>
              </a:solidFill>
              <a:latin typeface="Calibri"/>
              <a:ea typeface="Calibri"/>
              <a:cs typeface="Calibri"/>
              <a:sym typeface="Calibri"/>
            </a:endParaRPr>
          </a:p>
        </p:txBody>
      </p:sp>
      <p:sp>
        <p:nvSpPr>
          <p:cNvPr id="210" name="Google Shape;210;g3d96eeb11c7_0_107"/>
          <p:cNvSpPr/>
          <p:nvPr/>
        </p:nvSpPr>
        <p:spPr>
          <a:xfrm>
            <a:off x="4334995" y="1474854"/>
            <a:ext cx="1166400" cy="245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899A6"/>
              </a:buClr>
              <a:buSzPts val="1200"/>
              <a:buFont typeface="Calibri"/>
              <a:buNone/>
            </a:pPr>
            <a:r>
              <a:rPr lang="en-US" sz="1100" dirty="0">
                <a:solidFill>
                  <a:schemeClr val="tx1"/>
                </a:solidFill>
                <a:latin typeface="Calibri"/>
                <a:ea typeface="Calibri"/>
                <a:cs typeface="Calibri"/>
                <a:sym typeface="Calibri"/>
              </a:rPr>
              <a:t>de gravité </a:t>
            </a:r>
            <a:r>
              <a:rPr lang="en-US" sz="1100" dirty="0" err="1">
                <a:solidFill>
                  <a:schemeClr val="tx1"/>
                </a:solidFill>
                <a:latin typeface="Calibri"/>
                <a:ea typeface="Calibri"/>
                <a:cs typeface="Calibri"/>
                <a:sym typeface="Calibri"/>
              </a:rPr>
              <a:t>lors</a:t>
            </a:r>
            <a:r>
              <a:rPr lang="en-US" sz="1100" dirty="0">
                <a:solidFill>
                  <a:schemeClr val="tx1"/>
                </a:solidFill>
                <a:latin typeface="Calibri"/>
                <a:ea typeface="Calibri"/>
                <a:cs typeface="Calibri"/>
                <a:sym typeface="Calibri"/>
              </a:rPr>
              <a:t> de </a:t>
            </a:r>
            <a:r>
              <a:rPr lang="en-US" sz="1100" b="1" dirty="0">
                <a:solidFill>
                  <a:schemeClr val="tx1"/>
                </a:solidFill>
                <a:latin typeface="Calibri"/>
                <a:ea typeface="Calibri"/>
                <a:cs typeface="Calibri"/>
                <a:sym typeface="Calibri"/>
              </a:rPr>
              <a:t>forte affluence</a:t>
            </a:r>
            <a:endParaRPr sz="1100" b="1" dirty="0">
              <a:solidFill>
                <a:schemeClr val="tx1"/>
              </a:solidFill>
              <a:latin typeface="Calibri"/>
              <a:ea typeface="Calibri"/>
              <a:cs typeface="Calibri"/>
              <a:sym typeface="Calibri"/>
            </a:endParaRPr>
          </a:p>
        </p:txBody>
      </p:sp>
      <p:pic>
        <p:nvPicPr>
          <p:cNvPr id="212" name="Google Shape;212;g3d96eeb11c7_0_107"/>
          <p:cNvPicPr preferRelativeResize="0"/>
          <p:nvPr/>
        </p:nvPicPr>
        <p:blipFill>
          <a:blip r:embed="rId3">
            <a:alphaModFix/>
          </a:blip>
          <a:stretch>
            <a:fillRect/>
          </a:stretch>
        </p:blipFill>
        <p:spPr>
          <a:xfrm>
            <a:off x="3978241" y="2140678"/>
            <a:ext cx="1657499" cy="1119221"/>
          </a:xfrm>
          <a:prstGeom prst="rect">
            <a:avLst/>
          </a:prstGeom>
          <a:noFill/>
          <a:ln>
            <a:noFill/>
          </a:ln>
        </p:spPr>
      </p:pic>
      <p:pic>
        <p:nvPicPr>
          <p:cNvPr id="213" name="Google Shape;213;g3d96eeb11c7_0_107"/>
          <p:cNvPicPr preferRelativeResize="0"/>
          <p:nvPr/>
        </p:nvPicPr>
        <p:blipFill>
          <a:blip r:embed="rId4">
            <a:alphaModFix/>
          </a:blip>
          <a:stretch>
            <a:fillRect/>
          </a:stretch>
        </p:blipFill>
        <p:spPr>
          <a:xfrm>
            <a:off x="3956580" y="3308780"/>
            <a:ext cx="1698478" cy="1120670"/>
          </a:xfrm>
          <a:prstGeom prst="rect">
            <a:avLst/>
          </a:prstGeom>
          <a:noFill/>
          <a:ln>
            <a:noFill/>
          </a:ln>
        </p:spPr>
      </p:pic>
      <p:sp>
        <p:nvSpPr>
          <p:cNvPr id="221" name="Google Shape;221;g3d96eeb11c7_0_87"/>
          <p:cNvSpPr/>
          <p:nvPr/>
        </p:nvSpPr>
        <p:spPr>
          <a:xfrm>
            <a:off x="1168241" y="935115"/>
            <a:ext cx="1385995" cy="9144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g3d96eeb11c7_0_87"/>
          <p:cNvSpPr/>
          <p:nvPr/>
        </p:nvSpPr>
        <p:spPr>
          <a:xfrm>
            <a:off x="1168242" y="935115"/>
            <a:ext cx="63900" cy="914400"/>
          </a:xfrm>
          <a:prstGeom prst="rect">
            <a:avLst/>
          </a:prstGeom>
          <a:solidFill>
            <a:srgbClr val="E67E22"/>
          </a:solidFill>
          <a:ln w="12700"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g3d96eeb11c7_0_87"/>
          <p:cNvSpPr/>
          <p:nvPr/>
        </p:nvSpPr>
        <p:spPr>
          <a:xfrm>
            <a:off x="1360701" y="929074"/>
            <a:ext cx="1386000" cy="475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C0392B"/>
              </a:buClr>
              <a:buSzPts val="3000"/>
              <a:buFont typeface="Calibri"/>
              <a:buNone/>
            </a:pPr>
            <a:r>
              <a:rPr lang="en-US" sz="3000" b="1" dirty="0">
                <a:solidFill>
                  <a:srgbClr val="E67E22"/>
                </a:solidFill>
                <a:highlight>
                  <a:srgbClr val="FFFF00"/>
                </a:highlight>
                <a:latin typeface="Calibri"/>
                <a:ea typeface="Calibri"/>
                <a:cs typeface="Calibri"/>
                <a:sym typeface="Calibri"/>
              </a:rPr>
              <a:t>34%</a:t>
            </a:r>
            <a:endParaRPr sz="3000" dirty="0">
              <a:solidFill>
                <a:srgbClr val="E67E22"/>
              </a:solidFill>
              <a:highlight>
                <a:srgbClr val="FFFF00"/>
              </a:highlight>
              <a:latin typeface="Calibri"/>
              <a:ea typeface="Calibri"/>
              <a:cs typeface="Calibri"/>
              <a:sym typeface="Calibri"/>
            </a:endParaRPr>
          </a:p>
        </p:txBody>
      </p:sp>
      <p:sp>
        <p:nvSpPr>
          <p:cNvPr id="224" name="Google Shape;224;g3d96eeb11c7_0_87"/>
          <p:cNvSpPr/>
          <p:nvPr/>
        </p:nvSpPr>
        <p:spPr>
          <a:xfrm>
            <a:off x="1305401" y="1438035"/>
            <a:ext cx="1271761"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1B2A"/>
              </a:buClr>
              <a:buSzPts val="1100"/>
              <a:buFont typeface="Calibri"/>
              <a:buNone/>
            </a:pPr>
            <a:r>
              <a:rPr lang="en-US" sz="1100" dirty="0">
                <a:solidFill>
                  <a:srgbClr val="0D1B2A"/>
                </a:solidFill>
                <a:latin typeface="Calibri"/>
                <a:ea typeface="Calibri"/>
                <a:cs typeface="Calibri"/>
                <a:sym typeface="Calibri"/>
              </a:rPr>
              <a:t>de </a:t>
            </a:r>
            <a:r>
              <a:rPr lang="en-US" sz="1100" dirty="0" err="1">
                <a:solidFill>
                  <a:srgbClr val="0D1B2A"/>
                </a:solidFill>
                <a:latin typeface="Calibri"/>
                <a:ea typeface="Calibri"/>
                <a:cs typeface="Calibri"/>
                <a:sym typeface="Calibri"/>
              </a:rPr>
              <a:t>risque</a:t>
            </a:r>
            <a:r>
              <a:rPr lang="en-US" sz="1100" dirty="0">
                <a:solidFill>
                  <a:srgbClr val="0D1B2A"/>
                </a:solidFill>
                <a:latin typeface="Calibri"/>
                <a:ea typeface="Calibri"/>
                <a:cs typeface="Calibri"/>
                <a:sym typeface="Calibri"/>
              </a:rPr>
              <a:t> </a:t>
            </a:r>
            <a:r>
              <a:rPr lang="en-US" sz="1100" dirty="0" err="1">
                <a:solidFill>
                  <a:srgbClr val="0D1B2A"/>
                </a:solidFill>
                <a:latin typeface="Calibri"/>
                <a:ea typeface="Calibri"/>
                <a:cs typeface="Calibri"/>
                <a:sym typeface="Calibri"/>
              </a:rPr>
              <a:t>d’accident</a:t>
            </a:r>
            <a:r>
              <a:rPr lang="en-US" sz="1100" dirty="0">
                <a:solidFill>
                  <a:srgbClr val="0D1B2A"/>
                </a:solidFill>
                <a:latin typeface="Calibri"/>
                <a:ea typeface="Calibri"/>
                <a:cs typeface="Calibri"/>
                <a:sym typeface="Calibri"/>
              </a:rPr>
              <a:t> grave </a:t>
            </a:r>
            <a:r>
              <a:rPr lang="en-US" sz="1100" b="1" dirty="0">
                <a:solidFill>
                  <a:srgbClr val="0D1B2A"/>
                </a:solidFill>
                <a:latin typeface="Calibri"/>
                <a:ea typeface="Calibri"/>
                <a:cs typeface="Calibri"/>
                <a:sym typeface="Calibri"/>
              </a:rPr>
              <a:t>entre 4h – 6h</a:t>
            </a:r>
            <a:endParaRPr sz="1100" b="1" dirty="0">
              <a:solidFill>
                <a:schemeClr val="dk1"/>
              </a:solidFill>
              <a:latin typeface="Calibri"/>
              <a:ea typeface="Calibri"/>
              <a:cs typeface="Calibri"/>
              <a:sym typeface="Calibri"/>
            </a:endParaRPr>
          </a:p>
        </p:txBody>
      </p:sp>
      <p:pic>
        <p:nvPicPr>
          <p:cNvPr id="233" name="Google Shape;233;g3d96eeb11c7_0_87"/>
          <p:cNvPicPr preferRelativeResize="0"/>
          <p:nvPr/>
        </p:nvPicPr>
        <p:blipFill>
          <a:blip r:embed="rId5">
            <a:alphaModFix/>
          </a:blip>
          <a:stretch>
            <a:fillRect/>
          </a:stretch>
        </p:blipFill>
        <p:spPr>
          <a:xfrm>
            <a:off x="236518" y="2313543"/>
            <a:ext cx="3078800" cy="1444705"/>
          </a:xfrm>
          <a:prstGeom prst="rect">
            <a:avLst/>
          </a:prstGeom>
          <a:noFill/>
          <a:ln>
            <a:noFill/>
          </a:ln>
        </p:spPr>
      </p:pic>
      <p:sp>
        <p:nvSpPr>
          <p:cNvPr id="225" name="Google Shape;225;g3d96eeb11c7_0_87"/>
          <p:cNvSpPr/>
          <p:nvPr/>
        </p:nvSpPr>
        <p:spPr>
          <a:xfrm>
            <a:off x="6570195" y="966708"/>
            <a:ext cx="1835400" cy="9144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g3d96eeb11c7_0_87"/>
          <p:cNvSpPr/>
          <p:nvPr/>
        </p:nvSpPr>
        <p:spPr>
          <a:xfrm>
            <a:off x="6570195" y="966708"/>
            <a:ext cx="63900" cy="914400"/>
          </a:xfrm>
          <a:prstGeom prst="rect">
            <a:avLst/>
          </a:prstGeom>
          <a:solidFill>
            <a:srgbClr val="1ABC9C"/>
          </a:solidFill>
          <a:ln w="12700" cap="flat" cmpd="sng">
            <a:solidFill>
              <a:srgbClr val="1ABC9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g3d96eeb11c7_0_87"/>
          <p:cNvSpPr/>
          <p:nvPr/>
        </p:nvSpPr>
        <p:spPr>
          <a:xfrm>
            <a:off x="6707355" y="968890"/>
            <a:ext cx="1479900" cy="475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E67E22"/>
              </a:buClr>
              <a:buSzPts val="3000"/>
              <a:buFont typeface="Calibri"/>
              <a:buNone/>
            </a:pPr>
            <a:r>
              <a:rPr lang="en-US" sz="3000" b="1" dirty="0">
                <a:solidFill>
                  <a:srgbClr val="1ABC9C"/>
                </a:solidFill>
                <a:latin typeface="Calibri"/>
                <a:ea typeface="Calibri"/>
                <a:cs typeface="Calibri"/>
                <a:sym typeface="Calibri"/>
              </a:rPr>
              <a:t>-57%</a:t>
            </a:r>
            <a:endParaRPr sz="3000" dirty="0">
              <a:solidFill>
                <a:srgbClr val="1ABC9C"/>
              </a:solidFill>
              <a:latin typeface="Calibri"/>
              <a:ea typeface="Calibri"/>
              <a:cs typeface="Calibri"/>
              <a:sym typeface="Calibri"/>
            </a:endParaRPr>
          </a:p>
        </p:txBody>
      </p:sp>
      <p:sp>
        <p:nvSpPr>
          <p:cNvPr id="228" name="Google Shape;228;g3d96eeb11c7_0_87"/>
          <p:cNvSpPr/>
          <p:nvPr/>
        </p:nvSpPr>
        <p:spPr>
          <a:xfrm>
            <a:off x="6707355" y="1469628"/>
            <a:ext cx="16800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1B2A"/>
              </a:buClr>
              <a:buSzPts val="1100"/>
              <a:buFont typeface="Calibri"/>
              <a:buNone/>
            </a:pPr>
            <a:r>
              <a:rPr lang="en-US" sz="1100" dirty="0">
                <a:solidFill>
                  <a:srgbClr val="0D1B2A"/>
                </a:solidFill>
                <a:latin typeface="Calibri"/>
                <a:ea typeface="Calibri"/>
                <a:cs typeface="Calibri"/>
                <a:sym typeface="Calibri"/>
              </a:rPr>
              <a:t>de </a:t>
            </a:r>
            <a:r>
              <a:rPr lang="en-US" sz="1100" dirty="0" err="1">
                <a:solidFill>
                  <a:srgbClr val="0D1B2A"/>
                </a:solidFill>
                <a:latin typeface="Calibri"/>
                <a:ea typeface="Calibri"/>
                <a:cs typeface="Calibri"/>
                <a:sym typeface="Calibri"/>
              </a:rPr>
              <a:t>risque</a:t>
            </a:r>
            <a:r>
              <a:rPr lang="en-US" sz="1100" dirty="0">
                <a:solidFill>
                  <a:srgbClr val="0D1B2A"/>
                </a:solidFill>
                <a:latin typeface="Calibri"/>
                <a:ea typeface="Calibri"/>
                <a:cs typeface="Calibri"/>
                <a:sym typeface="Calibri"/>
              </a:rPr>
              <a:t> </a:t>
            </a:r>
            <a:r>
              <a:rPr lang="en-US" sz="1100" dirty="0" err="1">
                <a:solidFill>
                  <a:srgbClr val="0D1B2A"/>
                </a:solidFill>
                <a:latin typeface="Calibri"/>
                <a:ea typeface="Calibri"/>
                <a:cs typeface="Calibri"/>
                <a:sym typeface="Calibri"/>
              </a:rPr>
              <a:t>d’accident</a:t>
            </a:r>
            <a:r>
              <a:rPr lang="en-US" sz="1100" dirty="0">
                <a:solidFill>
                  <a:srgbClr val="0D1B2A"/>
                </a:solidFill>
                <a:latin typeface="Calibri"/>
                <a:ea typeface="Calibri"/>
                <a:cs typeface="Calibri"/>
                <a:sym typeface="Calibri"/>
              </a:rPr>
              <a:t> grave </a:t>
            </a:r>
            <a:r>
              <a:rPr lang="en-US" sz="1100" b="1" dirty="0">
                <a:solidFill>
                  <a:srgbClr val="0D1B2A"/>
                </a:solidFill>
                <a:latin typeface="Calibri"/>
                <a:ea typeface="Calibri"/>
                <a:cs typeface="Calibri"/>
                <a:sym typeface="Calibri"/>
              </a:rPr>
              <a:t>avec </a:t>
            </a:r>
            <a:r>
              <a:rPr lang="en-US" sz="1100" b="1" dirty="0" err="1">
                <a:solidFill>
                  <a:srgbClr val="0D1B2A"/>
                </a:solidFill>
                <a:latin typeface="Calibri"/>
                <a:ea typeface="Calibri"/>
                <a:cs typeface="Calibri"/>
                <a:sym typeface="Calibri"/>
              </a:rPr>
              <a:t>éclairage</a:t>
            </a:r>
            <a:r>
              <a:rPr lang="en-US" sz="1100" b="1" dirty="0">
                <a:solidFill>
                  <a:srgbClr val="0D1B2A"/>
                </a:solidFill>
                <a:latin typeface="Calibri"/>
                <a:ea typeface="Calibri"/>
                <a:cs typeface="Calibri"/>
                <a:sym typeface="Calibri"/>
              </a:rPr>
              <a:t> public</a:t>
            </a:r>
            <a:endParaRPr sz="1100" b="1" dirty="0">
              <a:solidFill>
                <a:schemeClr val="dk1"/>
              </a:solidFill>
              <a:latin typeface="Calibri"/>
              <a:ea typeface="Calibri"/>
              <a:cs typeface="Calibri"/>
              <a:sym typeface="Calibri"/>
            </a:endParaRPr>
          </a:p>
        </p:txBody>
      </p:sp>
      <p:pic>
        <p:nvPicPr>
          <p:cNvPr id="232" name="Google Shape;232;g3d96eeb11c7_0_87"/>
          <p:cNvPicPr preferRelativeResize="0"/>
          <p:nvPr/>
        </p:nvPicPr>
        <p:blipFill>
          <a:blip r:embed="rId6">
            <a:alphaModFix/>
          </a:blip>
          <a:stretch>
            <a:fillRect/>
          </a:stretch>
        </p:blipFill>
        <p:spPr>
          <a:xfrm>
            <a:off x="6170951" y="2279044"/>
            <a:ext cx="2855346" cy="1335919"/>
          </a:xfrm>
          <a:prstGeom prst="rect">
            <a:avLst/>
          </a:prstGeom>
          <a:noFill/>
          <a:ln>
            <a:noFill/>
          </a:ln>
        </p:spPr>
      </p:pic>
      <p:cxnSp>
        <p:nvCxnSpPr>
          <p:cNvPr id="2" name="Google Shape;203;g3d96eeb11c7_0_107">
            <a:extLst>
              <a:ext uri="{FF2B5EF4-FFF2-40B4-BE49-F238E27FC236}">
                <a16:creationId xmlns:a16="http://schemas.microsoft.com/office/drawing/2014/main" id="{D113D93C-92D3-8AD5-E015-EB4043950432}"/>
              </a:ext>
            </a:extLst>
          </p:cNvPr>
          <p:cNvCxnSpPr/>
          <p:nvPr/>
        </p:nvCxnSpPr>
        <p:spPr>
          <a:xfrm>
            <a:off x="5945949" y="701213"/>
            <a:ext cx="0" cy="3735000"/>
          </a:xfrm>
          <a:prstGeom prst="straightConnector1">
            <a:avLst/>
          </a:prstGeom>
          <a:noFill/>
          <a:ln w="19050" cap="flat" cmpd="sng">
            <a:solidFill>
              <a:srgbClr val="C0392B"/>
            </a:solidFill>
            <a:prstDash val="dot"/>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238"/>
        <p:cNvGrpSpPr/>
        <p:nvPr/>
      </p:nvGrpSpPr>
      <p:grpSpPr>
        <a:xfrm>
          <a:off x="0" y="0"/>
          <a:ext cx="0" cy="0"/>
          <a:chOff x="0" y="0"/>
          <a:chExt cx="0" cy="0"/>
        </a:xfrm>
      </p:grpSpPr>
      <p:sp>
        <p:nvSpPr>
          <p:cNvPr id="239" name="Google Shape;239;p9"/>
          <p:cNvSpPr/>
          <p:nvPr/>
        </p:nvSpPr>
        <p:spPr>
          <a:xfrm>
            <a:off x="0" y="0"/>
            <a:ext cx="9144000" cy="64008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9"/>
          <p:cNvSpPr/>
          <p:nvPr/>
        </p:nvSpPr>
        <p:spPr>
          <a:xfrm>
            <a:off x="365760" y="91440"/>
            <a:ext cx="8412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QUI ?  •  Profil des victimes graves</a:t>
            </a:r>
            <a:endParaRPr sz="1600">
              <a:solidFill>
                <a:schemeClr val="dk1"/>
              </a:solidFill>
              <a:latin typeface="Calibri"/>
              <a:ea typeface="Calibri"/>
              <a:cs typeface="Calibri"/>
              <a:sym typeface="Calibri"/>
            </a:endParaRPr>
          </a:p>
        </p:txBody>
      </p:sp>
      <p:sp>
        <p:nvSpPr>
          <p:cNvPr id="241" name="Google Shape;241;p9"/>
          <p:cNvSpPr/>
          <p:nvPr/>
        </p:nvSpPr>
        <p:spPr>
          <a:xfrm>
            <a:off x="274320" y="4416046"/>
            <a:ext cx="8595300" cy="6858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9"/>
          <p:cNvSpPr/>
          <p:nvPr/>
        </p:nvSpPr>
        <p:spPr>
          <a:xfrm>
            <a:off x="457200" y="4489198"/>
            <a:ext cx="8229600" cy="502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1C40F"/>
              </a:buClr>
              <a:buSzPts val="1300"/>
              <a:buFont typeface="Calibri"/>
              <a:buNone/>
            </a:pPr>
            <a:r>
              <a:rPr lang="en-US" sz="1300" b="1" dirty="0">
                <a:solidFill>
                  <a:srgbClr val="F1C40F"/>
                </a:solidFill>
                <a:latin typeface="Calibri"/>
                <a:ea typeface="Calibri"/>
                <a:cs typeface="Calibri"/>
                <a:sym typeface="Calibri"/>
              </a:rPr>
              <a:t>💡  Deux </a:t>
            </a:r>
            <a:r>
              <a:rPr lang="en-US" sz="1300" b="1" dirty="0" err="1">
                <a:solidFill>
                  <a:srgbClr val="F1C40F"/>
                </a:solidFill>
                <a:latin typeface="Calibri"/>
                <a:ea typeface="Calibri"/>
                <a:cs typeface="Calibri"/>
                <a:sym typeface="Calibri"/>
              </a:rPr>
              <a:t>extrêmes</a:t>
            </a:r>
            <a:r>
              <a:rPr lang="en-US" sz="1300" b="1" dirty="0">
                <a:solidFill>
                  <a:srgbClr val="F1C40F"/>
                </a:solidFill>
                <a:latin typeface="Calibri"/>
                <a:ea typeface="Calibri"/>
                <a:cs typeface="Calibri"/>
                <a:sym typeface="Calibri"/>
              </a:rPr>
              <a:t> </a:t>
            </a:r>
            <a:r>
              <a:rPr lang="en-US" sz="1300" b="1" dirty="0" err="1">
                <a:solidFill>
                  <a:srgbClr val="F1C40F"/>
                </a:solidFill>
                <a:latin typeface="Calibri"/>
                <a:ea typeface="Calibri"/>
                <a:cs typeface="Calibri"/>
                <a:sym typeface="Calibri"/>
              </a:rPr>
              <a:t>vulnérables</a:t>
            </a:r>
            <a:r>
              <a:rPr lang="en-US" sz="1300" b="1" dirty="0">
                <a:solidFill>
                  <a:srgbClr val="F1C40F"/>
                </a:solidFill>
                <a:latin typeface="Calibri"/>
                <a:ea typeface="Calibri"/>
                <a:cs typeface="Calibri"/>
                <a:sym typeface="Calibri"/>
              </a:rPr>
              <a:t> : les </a:t>
            </a:r>
            <a:r>
              <a:rPr lang="en-US" sz="1300" b="1" dirty="0" err="1">
                <a:solidFill>
                  <a:srgbClr val="F1C40F"/>
                </a:solidFill>
                <a:latin typeface="Calibri"/>
                <a:ea typeface="Calibri"/>
                <a:cs typeface="Calibri"/>
                <a:sym typeface="Calibri"/>
              </a:rPr>
              <a:t>moins</a:t>
            </a:r>
            <a:r>
              <a:rPr lang="en-US" sz="1300" b="1" dirty="0">
                <a:solidFill>
                  <a:srgbClr val="F1C40F"/>
                </a:solidFill>
                <a:latin typeface="Calibri"/>
                <a:ea typeface="Calibri"/>
                <a:cs typeface="Calibri"/>
                <a:sym typeface="Calibri"/>
              </a:rPr>
              <a:t> de 18 </a:t>
            </a:r>
            <a:r>
              <a:rPr lang="en-US" sz="1300" b="1" dirty="0" err="1">
                <a:solidFill>
                  <a:srgbClr val="F1C40F"/>
                </a:solidFill>
                <a:latin typeface="Calibri"/>
                <a:ea typeface="Calibri"/>
                <a:cs typeface="Calibri"/>
                <a:sym typeface="Calibri"/>
              </a:rPr>
              <a:t>ans</a:t>
            </a:r>
            <a:r>
              <a:rPr lang="en-US" sz="1300" b="1" dirty="0">
                <a:solidFill>
                  <a:srgbClr val="F1C40F"/>
                </a:solidFill>
                <a:latin typeface="Calibri"/>
                <a:ea typeface="Calibri"/>
                <a:cs typeface="Calibri"/>
                <a:sym typeface="Calibri"/>
              </a:rPr>
              <a:t> (peu </a:t>
            </a:r>
            <a:r>
              <a:rPr lang="en-US" sz="1300" b="1" dirty="0" err="1">
                <a:solidFill>
                  <a:srgbClr val="F1C40F"/>
                </a:solidFill>
                <a:latin typeface="Calibri"/>
                <a:ea typeface="Calibri"/>
                <a:cs typeface="Calibri"/>
                <a:sym typeface="Calibri"/>
              </a:rPr>
              <a:t>expérimenté</a:t>
            </a:r>
            <a:r>
              <a:rPr lang="en-US" sz="1300" b="1" dirty="0">
                <a:solidFill>
                  <a:srgbClr val="F1C40F"/>
                </a:solidFill>
                <a:latin typeface="Calibri"/>
                <a:ea typeface="Calibri"/>
                <a:cs typeface="Calibri"/>
                <a:sym typeface="Calibri"/>
              </a:rPr>
              <a:t>) &amp; les plus de 65 (</a:t>
            </a:r>
            <a:r>
              <a:rPr lang="en-US" sz="1300" b="1" dirty="0" err="1">
                <a:solidFill>
                  <a:srgbClr val="F1C40F"/>
                </a:solidFill>
                <a:latin typeface="Calibri"/>
                <a:ea typeface="Calibri"/>
                <a:cs typeface="Calibri"/>
                <a:sym typeface="Calibri"/>
              </a:rPr>
              <a:t>fragilité</a:t>
            </a:r>
            <a:r>
              <a:rPr lang="en-US" sz="1300" b="1" dirty="0">
                <a:solidFill>
                  <a:srgbClr val="F1C40F"/>
                </a:solidFill>
                <a:latin typeface="Calibri"/>
                <a:ea typeface="Calibri"/>
                <a:cs typeface="Calibri"/>
                <a:sym typeface="Calibri"/>
              </a:rPr>
              <a:t> physique). Les hommes </a:t>
            </a:r>
            <a:r>
              <a:rPr lang="en-US" sz="1300" b="1" dirty="0" err="1">
                <a:solidFill>
                  <a:srgbClr val="F1C40F"/>
                </a:solidFill>
                <a:latin typeface="Calibri"/>
                <a:ea typeface="Calibri"/>
                <a:cs typeface="Calibri"/>
                <a:sym typeface="Calibri"/>
              </a:rPr>
              <a:t>semblent</a:t>
            </a:r>
            <a:r>
              <a:rPr lang="en-US" sz="1300" b="1" dirty="0">
                <a:solidFill>
                  <a:srgbClr val="F1C40F"/>
                </a:solidFill>
                <a:latin typeface="Calibri"/>
                <a:ea typeface="Calibri"/>
                <a:cs typeface="Calibri"/>
                <a:sym typeface="Calibri"/>
              </a:rPr>
              <a:t> plus </a:t>
            </a:r>
            <a:r>
              <a:rPr lang="en-US" sz="1300" b="1" dirty="0" err="1">
                <a:solidFill>
                  <a:srgbClr val="F1C40F"/>
                </a:solidFill>
                <a:latin typeface="Calibri"/>
                <a:ea typeface="Calibri"/>
                <a:cs typeface="Calibri"/>
                <a:sym typeface="Calibri"/>
              </a:rPr>
              <a:t>sujet</a:t>
            </a:r>
            <a:r>
              <a:rPr lang="en-US" sz="1300" b="1" dirty="0">
                <a:solidFill>
                  <a:srgbClr val="F1C40F"/>
                </a:solidFill>
                <a:latin typeface="Calibri"/>
                <a:ea typeface="Calibri"/>
                <a:cs typeface="Calibri"/>
                <a:sym typeface="Calibri"/>
              </a:rPr>
              <a:t> à accident grave que les femmes.</a:t>
            </a:r>
            <a:endParaRPr sz="1300" dirty="0">
              <a:solidFill>
                <a:schemeClr val="dk1"/>
              </a:solidFill>
              <a:latin typeface="Calibri"/>
              <a:ea typeface="Calibri"/>
              <a:cs typeface="Calibri"/>
              <a:sym typeface="Calibri"/>
            </a:endParaRPr>
          </a:p>
        </p:txBody>
      </p:sp>
      <p:sp>
        <p:nvSpPr>
          <p:cNvPr id="243" name="Google Shape;243;p9"/>
          <p:cNvSpPr/>
          <p:nvPr/>
        </p:nvSpPr>
        <p:spPr>
          <a:xfrm>
            <a:off x="738134" y="836383"/>
            <a:ext cx="2982900" cy="7497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9"/>
          <p:cNvSpPr/>
          <p:nvPr/>
        </p:nvSpPr>
        <p:spPr>
          <a:xfrm>
            <a:off x="738134" y="836383"/>
            <a:ext cx="63900" cy="749700"/>
          </a:xfrm>
          <a:prstGeom prst="rect">
            <a:avLst/>
          </a:prstGeom>
          <a:solidFill>
            <a:srgbClr val="E67E22"/>
          </a:solidFill>
          <a:ln w="12700"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9"/>
          <p:cNvSpPr/>
          <p:nvPr/>
        </p:nvSpPr>
        <p:spPr>
          <a:xfrm>
            <a:off x="882476" y="944975"/>
            <a:ext cx="2715000" cy="237600"/>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rgbClr val="C0392B"/>
              </a:buClr>
              <a:buSzPts val="1800"/>
              <a:buFont typeface="Calibri"/>
              <a:buNone/>
            </a:pPr>
            <a:r>
              <a:rPr lang="en-US" sz="1800" b="1">
                <a:solidFill>
                  <a:srgbClr val="E67E22"/>
                </a:solidFill>
                <a:latin typeface="Calibri"/>
                <a:ea typeface="Calibri"/>
                <a:cs typeface="Calibri"/>
                <a:sym typeface="Calibri"/>
              </a:rPr>
              <a:t>– de 18 ans &amp; 65 ans et +</a:t>
            </a:r>
            <a:endParaRPr sz="1800">
              <a:solidFill>
                <a:srgbClr val="E67E22"/>
              </a:solidFill>
              <a:latin typeface="Calibri"/>
              <a:ea typeface="Calibri"/>
              <a:cs typeface="Calibri"/>
              <a:sym typeface="Calibri"/>
            </a:endParaRPr>
          </a:p>
        </p:txBody>
      </p:sp>
      <p:sp>
        <p:nvSpPr>
          <p:cNvPr id="246" name="Google Shape;246;p9"/>
          <p:cNvSpPr/>
          <p:nvPr/>
        </p:nvSpPr>
        <p:spPr>
          <a:xfrm>
            <a:off x="934638" y="1259320"/>
            <a:ext cx="3167100" cy="237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1B2A"/>
              </a:buClr>
              <a:buSzPts val="1100"/>
              <a:buFont typeface="Calibri"/>
              <a:buNone/>
            </a:pPr>
            <a:r>
              <a:rPr lang="en-US" sz="1100">
                <a:solidFill>
                  <a:srgbClr val="0D1B2A"/>
                </a:solidFill>
                <a:latin typeface="Calibri"/>
                <a:ea typeface="Calibri"/>
                <a:cs typeface="Calibri"/>
                <a:sym typeface="Calibri"/>
              </a:rPr>
              <a:t>Tranche d’âge la plus à risque d’accident grave</a:t>
            </a:r>
            <a:endParaRPr sz="1100">
              <a:solidFill>
                <a:schemeClr val="dk1"/>
              </a:solidFill>
              <a:latin typeface="Calibri"/>
              <a:ea typeface="Calibri"/>
              <a:cs typeface="Calibri"/>
              <a:sym typeface="Calibri"/>
            </a:endParaRPr>
          </a:p>
        </p:txBody>
      </p:sp>
      <p:sp>
        <p:nvSpPr>
          <p:cNvPr id="247" name="Google Shape;247;p9"/>
          <p:cNvSpPr/>
          <p:nvPr/>
        </p:nvSpPr>
        <p:spPr>
          <a:xfrm>
            <a:off x="6035475" y="769774"/>
            <a:ext cx="1780200" cy="10140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9"/>
          <p:cNvSpPr/>
          <p:nvPr/>
        </p:nvSpPr>
        <p:spPr>
          <a:xfrm>
            <a:off x="5976122" y="782975"/>
            <a:ext cx="63900" cy="10008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9"/>
          <p:cNvSpPr/>
          <p:nvPr/>
        </p:nvSpPr>
        <p:spPr>
          <a:xfrm>
            <a:off x="6172650" y="1257480"/>
            <a:ext cx="1553100" cy="502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1B2A"/>
              </a:buClr>
              <a:buSzPts val="1100"/>
              <a:buFont typeface="Calibri"/>
              <a:buNone/>
            </a:pPr>
            <a:r>
              <a:rPr lang="en-US" sz="1100">
                <a:solidFill>
                  <a:srgbClr val="0D1B2A"/>
                </a:solidFill>
                <a:latin typeface="Calibri"/>
                <a:ea typeface="Calibri"/>
                <a:cs typeface="Calibri"/>
                <a:sym typeface="Calibri"/>
              </a:rPr>
              <a:t>de risque pour les hommes d’avoir un accident + grave que les femmes</a:t>
            </a:r>
            <a:endParaRPr sz="1100">
              <a:solidFill>
                <a:schemeClr val="dk1"/>
              </a:solidFill>
              <a:latin typeface="Calibri"/>
              <a:ea typeface="Calibri"/>
              <a:cs typeface="Calibri"/>
              <a:sym typeface="Calibri"/>
            </a:endParaRPr>
          </a:p>
        </p:txBody>
      </p:sp>
      <p:sp>
        <p:nvSpPr>
          <p:cNvPr id="250" name="Google Shape;250;p9"/>
          <p:cNvSpPr/>
          <p:nvPr/>
        </p:nvSpPr>
        <p:spPr>
          <a:xfrm>
            <a:off x="6225000" y="868320"/>
            <a:ext cx="938400" cy="35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2400"/>
              <a:buFont typeface="Calibri"/>
              <a:buNone/>
            </a:pPr>
            <a:r>
              <a:rPr lang="en-US" sz="2400" b="1">
                <a:solidFill>
                  <a:srgbClr val="C0392B"/>
                </a:solidFill>
                <a:latin typeface="Calibri"/>
                <a:ea typeface="Calibri"/>
                <a:cs typeface="Calibri"/>
                <a:sym typeface="Calibri"/>
              </a:rPr>
              <a:t>+ 45%</a:t>
            </a:r>
            <a:endParaRPr sz="2400">
              <a:solidFill>
                <a:schemeClr val="dk1"/>
              </a:solidFill>
              <a:latin typeface="Calibri"/>
              <a:ea typeface="Calibri"/>
              <a:cs typeface="Calibri"/>
              <a:sym typeface="Calibri"/>
            </a:endParaRPr>
          </a:p>
        </p:txBody>
      </p:sp>
      <p:cxnSp>
        <p:nvCxnSpPr>
          <p:cNvPr id="251" name="Google Shape;251;p9"/>
          <p:cNvCxnSpPr>
            <a:endCxn id="241" idx="0"/>
          </p:cNvCxnSpPr>
          <p:nvPr/>
        </p:nvCxnSpPr>
        <p:spPr>
          <a:xfrm flipH="1">
            <a:off x="4571970" y="639946"/>
            <a:ext cx="20700" cy="3776100"/>
          </a:xfrm>
          <a:prstGeom prst="straightConnector1">
            <a:avLst/>
          </a:prstGeom>
          <a:noFill/>
          <a:ln w="19050" cap="flat" cmpd="sng">
            <a:solidFill>
              <a:srgbClr val="C0392B"/>
            </a:solidFill>
            <a:prstDash val="dot"/>
            <a:round/>
            <a:headEnd type="none" w="med" len="med"/>
            <a:tailEnd type="none" w="med" len="med"/>
          </a:ln>
        </p:spPr>
      </p:cxnSp>
      <p:pic>
        <p:nvPicPr>
          <p:cNvPr id="252" name="Google Shape;252;p9"/>
          <p:cNvPicPr preferRelativeResize="0"/>
          <p:nvPr/>
        </p:nvPicPr>
        <p:blipFill>
          <a:blip r:embed="rId3">
            <a:alphaModFix/>
          </a:blip>
          <a:stretch>
            <a:fillRect/>
          </a:stretch>
        </p:blipFill>
        <p:spPr>
          <a:xfrm>
            <a:off x="950875" y="1973037"/>
            <a:ext cx="2646604" cy="2056050"/>
          </a:xfrm>
          <a:prstGeom prst="rect">
            <a:avLst/>
          </a:prstGeom>
          <a:noFill/>
          <a:ln>
            <a:noFill/>
          </a:ln>
        </p:spPr>
      </p:pic>
      <p:pic>
        <p:nvPicPr>
          <p:cNvPr id="253" name="Google Shape;253;p9"/>
          <p:cNvPicPr preferRelativeResize="0"/>
          <p:nvPr/>
        </p:nvPicPr>
        <p:blipFill>
          <a:blip r:embed="rId4">
            <a:alphaModFix/>
          </a:blip>
          <a:stretch>
            <a:fillRect/>
          </a:stretch>
        </p:blipFill>
        <p:spPr>
          <a:xfrm>
            <a:off x="5859999" y="2061381"/>
            <a:ext cx="2026025" cy="192336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258"/>
        <p:cNvGrpSpPr/>
        <p:nvPr/>
      </p:nvGrpSpPr>
      <p:grpSpPr>
        <a:xfrm>
          <a:off x="0" y="0"/>
          <a:ext cx="0" cy="0"/>
          <a:chOff x="0" y="0"/>
          <a:chExt cx="0" cy="0"/>
        </a:xfrm>
      </p:grpSpPr>
      <p:sp>
        <p:nvSpPr>
          <p:cNvPr id="259" name="Google Shape;259;g3d96eeb11c7_0_50"/>
          <p:cNvSpPr/>
          <p:nvPr/>
        </p:nvSpPr>
        <p:spPr>
          <a:xfrm>
            <a:off x="0" y="0"/>
            <a:ext cx="9144000" cy="6402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g3d96eeb11c7_0_50"/>
          <p:cNvSpPr/>
          <p:nvPr/>
        </p:nvSpPr>
        <p:spPr>
          <a:xfrm>
            <a:off x="365760" y="91440"/>
            <a:ext cx="8412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Calibri"/>
              <a:buNone/>
            </a:pPr>
            <a:r>
              <a:rPr lang="en-US" sz="1600" b="1" dirty="0">
                <a:solidFill>
                  <a:srgbClr val="FFFFFF"/>
                </a:solidFill>
                <a:latin typeface="Calibri"/>
                <a:ea typeface="Calibri"/>
                <a:cs typeface="Calibri"/>
                <a:sym typeface="Calibri"/>
              </a:rPr>
              <a:t>QUI ? </a:t>
            </a:r>
            <a:r>
              <a:rPr lang="en-US" sz="1600" b="1" dirty="0">
                <a:solidFill>
                  <a:schemeClr val="lt1"/>
                </a:solidFill>
                <a:latin typeface="Calibri"/>
                <a:ea typeface="Calibri"/>
                <a:cs typeface="Calibri"/>
                <a:sym typeface="Calibri"/>
              </a:rPr>
              <a:t>•</a:t>
            </a:r>
            <a:r>
              <a:rPr lang="en-US" sz="1600" b="1" dirty="0">
                <a:solidFill>
                  <a:srgbClr val="FFFFFF"/>
                </a:solidFill>
                <a:latin typeface="Calibri"/>
                <a:ea typeface="Calibri"/>
                <a:cs typeface="Calibri"/>
                <a:sym typeface="Calibri"/>
              </a:rPr>
              <a:t> </a:t>
            </a:r>
            <a:r>
              <a:rPr lang="en-US" sz="1600" b="1" dirty="0" err="1">
                <a:solidFill>
                  <a:srgbClr val="FFFFFF"/>
                </a:solidFill>
                <a:latin typeface="Calibri"/>
                <a:ea typeface="Calibri"/>
                <a:cs typeface="Calibri"/>
                <a:sym typeface="Calibri"/>
              </a:rPr>
              <a:t>Equipement</a:t>
            </a:r>
            <a:r>
              <a:rPr lang="en-US" sz="1600" b="1" dirty="0">
                <a:solidFill>
                  <a:srgbClr val="FFFFFF"/>
                </a:solidFill>
                <a:latin typeface="Calibri"/>
                <a:ea typeface="Calibri"/>
                <a:cs typeface="Calibri"/>
                <a:sym typeface="Calibri"/>
              </a:rPr>
              <a:t> et carrosserie</a:t>
            </a:r>
            <a:endParaRPr sz="1600" dirty="0">
              <a:solidFill>
                <a:schemeClr val="dk1"/>
              </a:solidFill>
              <a:latin typeface="Calibri"/>
              <a:ea typeface="Calibri"/>
              <a:cs typeface="Calibri"/>
              <a:sym typeface="Calibri"/>
            </a:endParaRPr>
          </a:p>
        </p:txBody>
      </p:sp>
      <p:sp>
        <p:nvSpPr>
          <p:cNvPr id="261" name="Google Shape;261;g3d96eeb11c7_0_50"/>
          <p:cNvSpPr/>
          <p:nvPr/>
        </p:nvSpPr>
        <p:spPr>
          <a:xfrm>
            <a:off x="3519173" y="1563463"/>
            <a:ext cx="27612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1200"/>
              <a:buFont typeface="Calibri"/>
              <a:buNone/>
            </a:pPr>
            <a:r>
              <a:rPr lang="en-US" sz="1200" b="1">
                <a:solidFill>
                  <a:srgbClr val="0D1B2A"/>
                </a:solidFill>
                <a:latin typeface="Calibri"/>
                <a:ea typeface="Calibri"/>
                <a:cs typeface="Calibri"/>
                <a:sym typeface="Calibri"/>
              </a:rPr>
              <a:t>Taux de gravité par type de véhicule</a:t>
            </a:r>
            <a:endParaRPr sz="1200">
              <a:solidFill>
                <a:schemeClr val="dk1"/>
              </a:solidFill>
              <a:latin typeface="Calibri"/>
              <a:ea typeface="Calibri"/>
              <a:cs typeface="Calibri"/>
              <a:sym typeface="Calibri"/>
            </a:endParaRPr>
          </a:p>
        </p:txBody>
      </p:sp>
      <p:sp>
        <p:nvSpPr>
          <p:cNvPr id="262" name="Google Shape;262;g3d96eeb11c7_0_50"/>
          <p:cNvSpPr/>
          <p:nvPr/>
        </p:nvSpPr>
        <p:spPr>
          <a:xfrm>
            <a:off x="3531589" y="2078180"/>
            <a:ext cx="2761200" cy="2469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g3d96eeb11c7_0_50"/>
          <p:cNvSpPr/>
          <p:nvPr/>
        </p:nvSpPr>
        <p:spPr>
          <a:xfrm>
            <a:off x="3531589" y="2078180"/>
            <a:ext cx="63900" cy="2469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g3d96eeb11c7_0_50"/>
          <p:cNvSpPr/>
          <p:nvPr/>
        </p:nvSpPr>
        <p:spPr>
          <a:xfrm>
            <a:off x="3668749" y="2123900"/>
            <a:ext cx="914400" cy="207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1600"/>
              <a:buFont typeface="Calibri"/>
              <a:buNone/>
            </a:pPr>
            <a:r>
              <a:rPr lang="en-US" sz="1600" b="1">
                <a:solidFill>
                  <a:srgbClr val="C0392B"/>
                </a:solidFill>
                <a:latin typeface="Calibri"/>
                <a:ea typeface="Calibri"/>
                <a:cs typeface="Calibri"/>
                <a:sym typeface="Calibri"/>
              </a:rPr>
              <a:t>42%</a:t>
            </a:r>
            <a:endParaRPr sz="1600">
              <a:solidFill>
                <a:schemeClr val="dk1"/>
              </a:solidFill>
              <a:latin typeface="Calibri"/>
              <a:ea typeface="Calibri"/>
              <a:cs typeface="Calibri"/>
              <a:sym typeface="Calibri"/>
            </a:endParaRPr>
          </a:p>
        </p:txBody>
      </p:sp>
      <p:sp>
        <p:nvSpPr>
          <p:cNvPr id="265" name="Google Shape;265;g3d96eeb11c7_0_50"/>
          <p:cNvSpPr/>
          <p:nvPr/>
        </p:nvSpPr>
        <p:spPr>
          <a:xfrm>
            <a:off x="4445989" y="2131780"/>
            <a:ext cx="2377500" cy="159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050"/>
              <a:buFont typeface="Calibri"/>
              <a:buNone/>
            </a:pPr>
            <a:r>
              <a:rPr lang="en-US" sz="1050">
                <a:solidFill>
                  <a:srgbClr val="0D1B2A"/>
                </a:solidFill>
                <a:latin typeface="Calibri"/>
                <a:ea typeface="Calibri"/>
                <a:cs typeface="Calibri"/>
                <a:sym typeface="Calibri"/>
              </a:rPr>
              <a:t>Moto &gt;125cc</a:t>
            </a:r>
            <a:endParaRPr sz="1050">
              <a:solidFill>
                <a:schemeClr val="dk1"/>
              </a:solidFill>
              <a:latin typeface="Calibri"/>
              <a:ea typeface="Calibri"/>
              <a:cs typeface="Calibri"/>
              <a:sym typeface="Calibri"/>
            </a:endParaRPr>
          </a:p>
        </p:txBody>
      </p:sp>
      <p:sp>
        <p:nvSpPr>
          <p:cNvPr id="266" name="Google Shape;266;g3d96eeb11c7_0_50"/>
          <p:cNvSpPr/>
          <p:nvPr/>
        </p:nvSpPr>
        <p:spPr>
          <a:xfrm>
            <a:off x="3519180" y="2428223"/>
            <a:ext cx="2773500" cy="2469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g3d96eeb11c7_0_50"/>
          <p:cNvSpPr/>
          <p:nvPr/>
        </p:nvSpPr>
        <p:spPr>
          <a:xfrm>
            <a:off x="3519180" y="2428223"/>
            <a:ext cx="63900" cy="246900"/>
          </a:xfrm>
          <a:prstGeom prst="rect">
            <a:avLst/>
          </a:prstGeom>
          <a:solidFill>
            <a:srgbClr val="E67E22"/>
          </a:solidFill>
          <a:ln w="12700"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g3d96eeb11c7_0_50"/>
          <p:cNvSpPr/>
          <p:nvPr/>
        </p:nvSpPr>
        <p:spPr>
          <a:xfrm>
            <a:off x="3656340" y="2473943"/>
            <a:ext cx="914400" cy="207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67E22"/>
              </a:buClr>
              <a:buSzPts val="1600"/>
              <a:buFont typeface="Calibri"/>
              <a:buNone/>
            </a:pPr>
            <a:r>
              <a:rPr lang="en-US" sz="1600" b="1">
                <a:solidFill>
                  <a:srgbClr val="E67E22"/>
                </a:solidFill>
                <a:latin typeface="Calibri"/>
                <a:ea typeface="Calibri"/>
                <a:cs typeface="Calibri"/>
                <a:sym typeface="Calibri"/>
              </a:rPr>
              <a:t>30%</a:t>
            </a:r>
            <a:endParaRPr sz="1600">
              <a:solidFill>
                <a:schemeClr val="dk1"/>
              </a:solidFill>
              <a:latin typeface="Calibri"/>
              <a:ea typeface="Calibri"/>
              <a:cs typeface="Calibri"/>
              <a:sym typeface="Calibri"/>
            </a:endParaRPr>
          </a:p>
        </p:txBody>
      </p:sp>
      <p:sp>
        <p:nvSpPr>
          <p:cNvPr id="269" name="Google Shape;269;g3d96eeb11c7_0_50"/>
          <p:cNvSpPr/>
          <p:nvPr/>
        </p:nvSpPr>
        <p:spPr>
          <a:xfrm>
            <a:off x="4433580" y="2483887"/>
            <a:ext cx="2377500" cy="159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050"/>
              <a:buFont typeface="Calibri"/>
              <a:buNone/>
            </a:pPr>
            <a:r>
              <a:rPr lang="en-US" sz="1050">
                <a:solidFill>
                  <a:srgbClr val="0D1B2A"/>
                </a:solidFill>
                <a:latin typeface="Calibri"/>
                <a:ea typeface="Calibri"/>
                <a:cs typeface="Calibri"/>
                <a:sym typeface="Calibri"/>
              </a:rPr>
              <a:t>Cyclomoteur &lt;50cc</a:t>
            </a:r>
            <a:endParaRPr sz="1050">
              <a:solidFill>
                <a:schemeClr val="dk1"/>
              </a:solidFill>
              <a:latin typeface="Calibri"/>
              <a:ea typeface="Calibri"/>
              <a:cs typeface="Calibri"/>
              <a:sym typeface="Calibri"/>
            </a:endParaRPr>
          </a:p>
        </p:txBody>
      </p:sp>
      <p:sp>
        <p:nvSpPr>
          <p:cNvPr id="270" name="Google Shape;270;g3d96eeb11c7_0_50"/>
          <p:cNvSpPr/>
          <p:nvPr/>
        </p:nvSpPr>
        <p:spPr>
          <a:xfrm>
            <a:off x="3519175" y="2793975"/>
            <a:ext cx="2773500" cy="2469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g3d96eeb11c7_0_50"/>
          <p:cNvSpPr/>
          <p:nvPr/>
        </p:nvSpPr>
        <p:spPr>
          <a:xfrm>
            <a:off x="3519180" y="2793983"/>
            <a:ext cx="63900" cy="246900"/>
          </a:xfrm>
          <a:prstGeom prst="rect">
            <a:avLst/>
          </a:prstGeom>
          <a:solidFill>
            <a:srgbClr val="E67E22"/>
          </a:solidFill>
          <a:ln w="12700"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g3d96eeb11c7_0_50"/>
          <p:cNvSpPr/>
          <p:nvPr/>
        </p:nvSpPr>
        <p:spPr>
          <a:xfrm>
            <a:off x="3656340" y="2839703"/>
            <a:ext cx="914400" cy="207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67E22"/>
              </a:buClr>
              <a:buSzPts val="1600"/>
              <a:buFont typeface="Calibri"/>
              <a:buNone/>
            </a:pPr>
            <a:r>
              <a:rPr lang="en-US" sz="1600" b="1">
                <a:solidFill>
                  <a:srgbClr val="E67E22"/>
                </a:solidFill>
                <a:latin typeface="Calibri"/>
                <a:ea typeface="Calibri"/>
                <a:cs typeface="Calibri"/>
                <a:sym typeface="Calibri"/>
              </a:rPr>
              <a:t>29%</a:t>
            </a:r>
            <a:endParaRPr sz="1600">
              <a:solidFill>
                <a:schemeClr val="dk1"/>
              </a:solidFill>
              <a:latin typeface="Calibri"/>
              <a:ea typeface="Calibri"/>
              <a:cs typeface="Calibri"/>
              <a:sym typeface="Calibri"/>
            </a:endParaRPr>
          </a:p>
        </p:txBody>
      </p:sp>
      <p:sp>
        <p:nvSpPr>
          <p:cNvPr id="273" name="Google Shape;273;g3d96eeb11c7_0_50"/>
          <p:cNvSpPr/>
          <p:nvPr/>
        </p:nvSpPr>
        <p:spPr>
          <a:xfrm>
            <a:off x="4446643" y="2852555"/>
            <a:ext cx="2377500" cy="159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050"/>
              <a:buFont typeface="Calibri"/>
              <a:buNone/>
            </a:pPr>
            <a:r>
              <a:rPr lang="en-US" sz="1050">
                <a:solidFill>
                  <a:srgbClr val="0D1B2A"/>
                </a:solidFill>
                <a:latin typeface="Calibri"/>
                <a:ea typeface="Calibri"/>
                <a:cs typeface="Calibri"/>
                <a:sym typeface="Calibri"/>
              </a:rPr>
              <a:t>Bicyclette</a:t>
            </a:r>
            <a:endParaRPr sz="1050">
              <a:solidFill>
                <a:schemeClr val="dk1"/>
              </a:solidFill>
              <a:latin typeface="Calibri"/>
              <a:ea typeface="Calibri"/>
              <a:cs typeface="Calibri"/>
              <a:sym typeface="Calibri"/>
            </a:endParaRPr>
          </a:p>
        </p:txBody>
      </p:sp>
      <p:sp>
        <p:nvSpPr>
          <p:cNvPr id="274" name="Google Shape;274;g3d96eeb11c7_0_50"/>
          <p:cNvSpPr/>
          <p:nvPr/>
        </p:nvSpPr>
        <p:spPr>
          <a:xfrm>
            <a:off x="3519175" y="3117897"/>
            <a:ext cx="2773500" cy="2469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g3d96eeb11c7_0_50"/>
          <p:cNvSpPr/>
          <p:nvPr/>
        </p:nvSpPr>
        <p:spPr>
          <a:xfrm>
            <a:off x="3519180" y="3117901"/>
            <a:ext cx="63900" cy="246900"/>
          </a:xfrm>
          <a:prstGeom prst="rect">
            <a:avLst/>
          </a:prstGeom>
          <a:solidFill>
            <a:srgbClr val="1ABC9C"/>
          </a:solidFill>
          <a:ln w="12700" cap="flat" cmpd="sng">
            <a:solidFill>
              <a:srgbClr val="1ABC9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g3d96eeb11c7_0_50"/>
          <p:cNvSpPr/>
          <p:nvPr/>
        </p:nvSpPr>
        <p:spPr>
          <a:xfrm>
            <a:off x="3656340" y="3163621"/>
            <a:ext cx="914400" cy="207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BC9C"/>
              </a:buClr>
              <a:buSzPts val="1600"/>
              <a:buFont typeface="Calibri"/>
              <a:buNone/>
            </a:pPr>
            <a:r>
              <a:rPr lang="en-US" sz="1600" b="1">
                <a:solidFill>
                  <a:srgbClr val="1ABC9C"/>
                </a:solidFill>
                <a:latin typeface="Calibri"/>
                <a:ea typeface="Calibri"/>
                <a:cs typeface="Calibri"/>
                <a:sym typeface="Calibri"/>
              </a:rPr>
              <a:t>14%</a:t>
            </a:r>
            <a:endParaRPr sz="1600">
              <a:solidFill>
                <a:schemeClr val="dk1"/>
              </a:solidFill>
              <a:latin typeface="Calibri"/>
              <a:ea typeface="Calibri"/>
              <a:cs typeface="Calibri"/>
              <a:sym typeface="Calibri"/>
            </a:endParaRPr>
          </a:p>
        </p:txBody>
      </p:sp>
      <p:sp>
        <p:nvSpPr>
          <p:cNvPr id="277" name="Google Shape;277;g3d96eeb11c7_0_50"/>
          <p:cNvSpPr/>
          <p:nvPr/>
        </p:nvSpPr>
        <p:spPr>
          <a:xfrm>
            <a:off x="4433580" y="3169922"/>
            <a:ext cx="2377500" cy="159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D1B2A"/>
              </a:buClr>
              <a:buSzPts val="1050"/>
              <a:buFont typeface="Calibri"/>
              <a:buNone/>
            </a:pPr>
            <a:r>
              <a:rPr lang="en-US" sz="1050">
                <a:solidFill>
                  <a:srgbClr val="0D1B2A"/>
                </a:solidFill>
                <a:latin typeface="Calibri"/>
                <a:ea typeface="Calibri"/>
                <a:cs typeface="Calibri"/>
                <a:sym typeface="Calibri"/>
              </a:rPr>
              <a:t>Voiture légère (VL)</a:t>
            </a:r>
            <a:endParaRPr sz="1050">
              <a:solidFill>
                <a:schemeClr val="dk1"/>
              </a:solidFill>
              <a:latin typeface="Calibri"/>
              <a:ea typeface="Calibri"/>
              <a:cs typeface="Calibri"/>
              <a:sym typeface="Calibri"/>
            </a:endParaRPr>
          </a:p>
        </p:txBody>
      </p:sp>
      <p:sp>
        <p:nvSpPr>
          <p:cNvPr id="278" name="Google Shape;278;g3d96eeb11c7_0_50"/>
          <p:cNvSpPr/>
          <p:nvPr/>
        </p:nvSpPr>
        <p:spPr>
          <a:xfrm>
            <a:off x="296635" y="4371417"/>
            <a:ext cx="8595300" cy="6858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g3d96eeb11c7_0_50"/>
          <p:cNvSpPr/>
          <p:nvPr/>
        </p:nvSpPr>
        <p:spPr>
          <a:xfrm>
            <a:off x="479515" y="4444569"/>
            <a:ext cx="8229600" cy="502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1C40F"/>
              </a:buClr>
              <a:buSzPts val="1300"/>
              <a:buFont typeface="Calibri"/>
              <a:buNone/>
            </a:pPr>
            <a:r>
              <a:rPr lang="en-US" sz="1300" b="1" dirty="0">
                <a:solidFill>
                  <a:srgbClr val="F1C40F"/>
                </a:solidFill>
                <a:latin typeface="Calibri"/>
                <a:ea typeface="Calibri"/>
                <a:cs typeface="Calibri"/>
                <a:sym typeface="Calibri"/>
              </a:rPr>
              <a:t>💡 Les </a:t>
            </a:r>
            <a:r>
              <a:rPr lang="en-US" sz="1300" b="1" dirty="0" err="1">
                <a:solidFill>
                  <a:srgbClr val="F1C40F"/>
                </a:solidFill>
                <a:latin typeface="Calibri"/>
                <a:ea typeface="Calibri"/>
                <a:cs typeface="Calibri"/>
                <a:sym typeface="Calibri"/>
              </a:rPr>
              <a:t>véhicules</a:t>
            </a:r>
            <a:r>
              <a:rPr lang="en-US" sz="1300" b="1" dirty="0">
                <a:solidFill>
                  <a:srgbClr val="F1C40F"/>
                </a:solidFill>
                <a:latin typeface="Calibri"/>
                <a:ea typeface="Calibri"/>
                <a:cs typeface="Calibri"/>
                <a:sym typeface="Calibri"/>
              </a:rPr>
              <a:t> sans </a:t>
            </a:r>
            <a:r>
              <a:rPr lang="en-US" sz="1300" b="1" dirty="0" err="1">
                <a:solidFill>
                  <a:srgbClr val="F1C40F"/>
                </a:solidFill>
                <a:latin typeface="Calibri"/>
                <a:ea typeface="Calibri"/>
                <a:cs typeface="Calibri"/>
                <a:sym typeface="Calibri"/>
              </a:rPr>
              <a:t>habitacle</a:t>
            </a:r>
            <a:r>
              <a:rPr lang="en-US" sz="1300" b="1" dirty="0">
                <a:solidFill>
                  <a:srgbClr val="F1C40F"/>
                </a:solidFill>
                <a:latin typeface="Calibri"/>
                <a:ea typeface="Calibri"/>
                <a:cs typeface="Calibri"/>
                <a:sym typeface="Calibri"/>
              </a:rPr>
              <a:t> </a:t>
            </a:r>
            <a:r>
              <a:rPr lang="en-US" sz="1300" b="1" dirty="0" err="1">
                <a:solidFill>
                  <a:srgbClr val="F1C40F"/>
                </a:solidFill>
                <a:latin typeface="Calibri"/>
                <a:ea typeface="Calibri"/>
                <a:cs typeface="Calibri"/>
                <a:sym typeface="Calibri"/>
              </a:rPr>
              <a:t>ont</a:t>
            </a:r>
            <a:r>
              <a:rPr lang="en-US" sz="1300" b="1" dirty="0">
                <a:solidFill>
                  <a:srgbClr val="F1C40F"/>
                </a:solidFill>
                <a:latin typeface="Calibri"/>
                <a:ea typeface="Calibri"/>
                <a:cs typeface="Calibri"/>
                <a:sym typeface="Calibri"/>
              </a:rPr>
              <a:t> de plus fort </a:t>
            </a:r>
            <a:r>
              <a:rPr lang="en-US" sz="1300" b="1" dirty="0" err="1">
                <a:solidFill>
                  <a:srgbClr val="F1C40F"/>
                </a:solidFill>
                <a:latin typeface="Calibri"/>
                <a:ea typeface="Calibri"/>
                <a:cs typeface="Calibri"/>
                <a:sym typeface="Calibri"/>
              </a:rPr>
              <a:t>taux</a:t>
            </a:r>
            <a:r>
              <a:rPr lang="en-US" sz="1300" b="1" dirty="0">
                <a:solidFill>
                  <a:srgbClr val="F1C40F"/>
                </a:solidFill>
                <a:latin typeface="Calibri"/>
                <a:ea typeface="Calibri"/>
                <a:cs typeface="Calibri"/>
                <a:sym typeface="Calibri"/>
              </a:rPr>
              <a:t> </a:t>
            </a:r>
            <a:r>
              <a:rPr lang="en-US" sz="1300" b="1" dirty="0" err="1">
                <a:solidFill>
                  <a:srgbClr val="F1C40F"/>
                </a:solidFill>
                <a:latin typeface="Calibri"/>
                <a:ea typeface="Calibri"/>
                <a:cs typeface="Calibri"/>
                <a:sym typeface="Calibri"/>
              </a:rPr>
              <a:t>d’accident</a:t>
            </a:r>
            <a:r>
              <a:rPr lang="en-US" sz="1300" b="1" dirty="0">
                <a:solidFill>
                  <a:srgbClr val="F1C40F"/>
                </a:solidFill>
                <a:latin typeface="Calibri"/>
                <a:ea typeface="Calibri"/>
                <a:cs typeface="Calibri"/>
                <a:sym typeface="Calibri"/>
              </a:rPr>
              <a:t> grave que les voitures. Et le port de la ceinture </a:t>
            </a:r>
            <a:r>
              <a:rPr lang="en-US" sz="1300" b="1" dirty="0" err="1">
                <a:solidFill>
                  <a:srgbClr val="F1C40F"/>
                </a:solidFill>
                <a:latin typeface="Calibri"/>
                <a:ea typeface="Calibri"/>
                <a:cs typeface="Calibri"/>
                <a:sym typeface="Calibri"/>
              </a:rPr>
              <a:t>est</a:t>
            </a:r>
            <a:r>
              <a:rPr lang="en-US" sz="1300" b="1" dirty="0">
                <a:solidFill>
                  <a:srgbClr val="F1C40F"/>
                </a:solidFill>
                <a:latin typeface="Calibri"/>
                <a:ea typeface="Calibri"/>
                <a:cs typeface="Calibri"/>
                <a:sym typeface="Calibri"/>
              </a:rPr>
              <a:t> </a:t>
            </a:r>
            <a:r>
              <a:rPr lang="en-US" sz="1300" b="1" dirty="0" err="1">
                <a:solidFill>
                  <a:srgbClr val="F1C40F"/>
                </a:solidFill>
                <a:latin typeface="Calibri"/>
                <a:ea typeface="Calibri"/>
                <a:cs typeface="Calibri"/>
                <a:sym typeface="Calibri"/>
              </a:rPr>
              <a:t>déterminant</a:t>
            </a:r>
            <a:r>
              <a:rPr lang="en-US" sz="1300" b="1" dirty="0">
                <a:solidFill>
                  <a:srgbClr val="F1C40F"/>
                </a:solidFill>
                <a:latin typeface="Calibri"/>
                <a:ea typeface="Calibri"/>
                <a:cs typeface="Calibri"/>
                <a:sym typeface="Calibri"/>
              </a:rPr>
              <a:t> dans la classification de </a:t>
            </a:r>
            <a:r>
              <a:rPr lang="en-US" sz="1300" b="1" dirty="0" err="1">
                <a:solidFill>
                  <a:srgbClr val="F1C40F"/>
                </a:solidFill>
                <a:latin typeface="Calibri"/>
                <a:ea typeface="Calibri"/>
                <a:cs typeface="Calibri"/>
                <a:sym typeface="Calibri"/>
              </a:rPr>
              <a:t>l’accident</a:t>
            </a:r>
            <a:r>
              <a:rPr lang="en-US" sz="1300" b="1" dirty="0">
                <a:solidFill>
                  <a:srgbClr val="F1C40F"/>
                </a:solidFill>
                <a:latin typeface="Calibri"/>
                <a:ea typeface="Calibri"/>
                <a:cs typeface="Calibri"/>
                <a:sym typeface="Calibri"/>
              </a:rPr>
              <a:t>.</a:t>
            </a:r>
            <a:endParaRPr sz="1300" dirty="0">
              <a:solidFill>
                <a:schemeClr val="dk1"/>
              </a:solidFill>
              <a:latin typeface="Calibri"/>
              <a:ea typeface="Calibri"/>
              <a:cs typeface="Calibri"/>
              <a:sym typeface="Calibri"/>
            </a:endParaRPr>
          </a:p>
        </p:txBody>
      </p:sp>
      <p:sp>
        <p:nvSpPr>
          <p:cNvPr id="280" name="Google Shape;280;g3d96eeb11c7_0_50"/>
          <p:cNvSpPr/>
          <p:nvPr/>
        </p:nvSpPr>
        <p:spPr>
          <a:xfrm>
            <a:off x="650219" y="944195"/>
            <a:ext cx="1780200" cy="9144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g3d96eeb11c7_0_50"/>
          <p:cNvSpPr/>
          <p:nvPr/>
        </p:nvSpPr>
        <p:spPr>
          <a:xfrm>
            <a:off x="590876" y="957383"/>
            <a:ext cx="63900" cy="914400"/>
          </a:xfrm>
          <a:prstGeom prst="rect">
            <a:avLst/>
          </a:prstGeom>
          <a:solidFill>
            <a:srgbClr val="1ABC9C"/>
          </a:solidFill>
          <a:ln w="12700" cap="flat" cmpd="sng">
            <a:solidFill>
              <a:srgbClr val="1ABC9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g3d96eeb11c7_0_50"/>
          <p:cNvSpPr/>
          <p:nvPr/>
        </p:nvSpPr>
        <p:spPr>
          <a:xfrm>
            <a:off x="787380" y="1431875"/>
            <a:ext cx="15531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1B2A"/>
              </a:buClr>
              <a:buSzPts val="1100"/>
              <a:buFont typeface="Calibri"/>
              <a:buNone/>
            </a:pPr>
            <a:r>
              <a:rPr lang="en-US" sz="1100">
                <a:solidFill>
                  <a:srgbClr val="0D1B2A"/>
                </a:solidFill>
                <a:latin typeface="Calibri"/>
                <a:ea typeface="Calibri"/>
                <a:cs typeface="Calibri"/>
                <a:sym typeface="Calibri"/>
              </a:rPr>
              <a:t>de risque d’accident grave</a:t>
            </a:r>
            <a:endParaRPr/>
          </a:p>
          <a:p>
            <a:pPr marL="0" marR="0" lvl="0" indent="0" algn="l" rtl="0">
              <a:spcBef>
                <a:spcPts val="0"/>
              </a:spcBef>
              <a:spcAft>
                <a:spcPts val="0"/>
              </a:spcAft>
              <a:buClr>
                <a:srgbClr val="0D1B2A"/>
              </a:buClr>
              <a:buSzPts val="1100"/>
              <a:buFont typeface="Calibri"/>
              <a:buNone/>
            </a:pPr>
            <a:r>
              <a:rPr lang="en-US" sz="1100">
                <a:solidFill>
                  <a:srgbClr val="0D1B2A"/>
                </a:solidFill>
                <a:latin typeface="Calibri"/>
                <a:ea typeface="Calibri"/>
                <a:cs typeface="Calibri"/>
                <a:sym typeface="Calibri"/>
              </a:rPr>
              <a:t>avec ceinture</a:t>
            </a:r>
            <a:endParaRPr sz="1100">
              <a:solidFill>
                <a:schemeClr val="dk1"/>
              </a:solidFill>
              <a:latin typeface="Calibri"/>
              <a:ea typeface="Calibri"/>
              <a:cs typeface="Calibri"/>
              <a:sym typeface="Calibri"/>
            </a:endParaRPr>
          </a:p>
        </p:txBody>
      </p:sp>
      <p:sp>
        <p:nvSpPr>
          <p:cNvPr id="283" name="Google Shape;283;g3d96eeb11c7_0_50"/>
          <p:cNvSpPr/>
          <p:nvPr/>
        </p:nvSpPr>
        <p:spPr>
          <a:xfrm>
            <a:off x="839741" y="1042732"/>
            <a:ext cx="938400" cy="35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2400"/>
              <a:buFont typeface="Calibri"/>
              <a:buNone/>
            </a:pPr>
            <a:r>
              <a:rPr lang="en-US" sz="2400" b="1">
                <a:solidFill>
                  <a:srgbClr val="1ABC9C"/>
                </a:solidFill>
                <a:latin typeface="Calibri"/>
                <a:ea typeface="Calibri"/>
                <a:cs typeface="Calibri"/>
                <a:sym typeface="Calibri"/>
              </a:rPr>
              <a:t>-67%</a:t>
            </a:r>
            <a:endParaRPr sz="2400">
              <a:solidFill>
                <a:srgbClr val="1ABC9C"/>
              </a:solidFill>
              <a:latin typeface="Calibri"/>
              <a:ea typeface="Calibri"/>
              <a:cs typeface="Calibri"/>
              <a:sym typeface="Calibri"/>
            </a:endParaRPr>
          </a:p>
        </p:txBody>
      </p:sp>
      <p:sp>
        <p:nvSpPr>
          <p:cNvPr id="284" name="Google Shape;284;g3d96eeb11c7_0_50"/>
          <p:cNvSpPr/>
          <p:nvPr/>
        </p:nvSpPr>
        <p:spPr>
          <a:xfrm>
            <a:off x="6326600" y="2162650"/>
            <a:ext cx="605025" cy="1127650"/>
          </a:xfrm>
          <a:custGeom>
            <a:avLst/>
            <a:gdLst/>
            <a:ahLst/>
            <a:cxnLst/>
            <a:rect l="l" t="t" r="r" b="b"/>
            <a:pathLst>
              <a:path w="24201" h="45106" extrusionOk="0">
                <a:moveTo>
                  <a:pt x="0" y="0"/>
                </a:moveTo>
                <a:cubicBezTo>
                  <a:pt x="4026" y="3735"/>
                  <a:pt x="23765" y="14889"/>
                  <a:pt x="24153" y="22407"/>
                </a:cubicBezTo>
                <a:cubicBezTo>
                  <a:pt x="24541" y="29925"/>
                  <a:pt x="5966" y="41323"/>
                  <a:pt x="2328" y="45106"/>
                </a:cubicBezTo>
              </a:path>
            </a:pathLst>
          </a:custGeom>
          <a:noFill/>
          <a:ln w="9525" cap="flat" cmpd="sng">
            <a:solidFill>
              <a:schemeClr val="dk2"/>
            </a:solidFill>
            <a:prstDash val="solid"/>
            <a:round/>
            <a:headEnd type="none" w="med" len="med"/>
            <a:tailEnd type="triangle" w="med" len="med"/>
          </a:ln>
        </p:spPr>
      </p:sp>
      <p:sp>
        <p:nvSpPr>
          <p:cNvPr id="285" name="Google Shape;285;g3d96eeb11c7_0_50"/>
          <p:cNvSpPr/>
          <p:nvPr/>
        </p:nvSpPr>
        <p:spPr>
          <a:xfrm>
            <a:off x="6870430" y="2111957"/>
            <a:ext cx="1780200" cy="9144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g3d96eeb11c7_0_50"/>
          <p:cNvSpPr/>
          <p:nvPr/>
        </p:nvSpPr>
        <p:spPr>
          <a:xfrm>
            <a:off x="6811087" y="2125145"/>
            <a:ext cx="63900" cy="9144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g3d96eeb11c7_0_50"/>
          <p:cNvSpPr/>
          <p:nvPr/>
        </p:nvSpPr>
        <p:spPr>
          <a:xfrm>
            <a:off x="7007591" y="2599637"/>
            <a:ext cx="1553100" cy="365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D1B2A"/>
              </a:buClr>
              <a:buSzPts val="1100"/>
              <a:buFont typeface="Calibri"/>
              <a:buNone/>
            </a:pPr>
            <a:r>
              <a:rPr lang="en-US" sz="1100">
                <a:solidFill>
                  <a:srgbClr val="0D1B2A"/>
                </a:solidFill>
                <a:latin typeface="Calibri"/>
                <a:ea typeface="Calibri"/>
                <a:cs typeface="Calibri"/>
                <a:sym typeface="Calibri"/>
              </a:rPr>
              <a:t>risque d’accident grave</a:t>
            </a:r>
            <a:endParaRPr/>
          </a:p>
          <a:p>
            <a:pPr marL="0" marR="0" lvl="0" indent="0" algn="l" rtl="0">
              <a:spcBef>
                <a:spcPts val="0"/>
              </a:spcBef>
              <a:spcAft>
                <a:spcPts val="0"/>
              </a:spcAft>
              <a:buClr>
                <a:srgbClr val="0D1B2A"/>
              </a:buClr>
              <a:buSzPts val="1100"/>
              <a:buFont typeface="Calibri"/>
              <a:buNone/>
            </a:pPr>
            <a:r>
              <a:rPr lang="en-US" sz="1100">
                <a:solidFill>
                  <a:srgbClr val="0D1B2A"/>
                </a:solidFill>
                <a:latin typeface="Calibri"/>
                <a:ea typeface="Calibri"/>
                <a:cs typeface="Calibri"/>
                <a:sym typeface="Calibri"/>
              </a:rPr>
              <a:t>entre moto et voiture</a:t>
            </a:r>
            <a:endParaRPr sz="1100">
              <a:solidFill>
                <a:schemeClr val="dk1"/>
              </a:solidFill>
              <a:latin typeface="Calibri"/>
              <a:ea typeface="Calibri"/>
              <a:cs typeface="Calibri"/>
              <a:sym typeface="Calibri"/>
            </a:endParaRPr>
          </a:p>
        </p:txBody>
      </p:sp>
      <p:sp>
        <p:nvSpPr>
          <p:cNvPr id="288" name="Google Shape;288;g3d96eeb11c7_0_50"/>
          <p:cNvSpPr/>
          <p:nvPr/>
        </p:nvSpPr>
        <p:spPr>
          <a:xfrm>
            <a:off x="7059952" y="2210494"/>
            <a:ext cx="938400" cy="350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0392B"/>
              </a:buClr>
              <a:buSzPts val="2400"/>
              <a:buFont typeface="Calibri"/>
              <a:buNone/>
            </a:pPr>
            <a:r>
              <a:rPr lang="en-US" sz="2400" b="1">
                <a:solidFill>
                  <a:srgbClr val="C0392B"/>
                </a:solidFill>
                <a:latin typeface="Calibri"/>
                <a:ea typeface="Calibri"/>
                <a:cs typeface="Calibri"/>
                <a:sym typeface="Calibri"/>
              </a:rPr>
              <a:t>x3</a:t>
            </a:r>
            <a:endParaRPr sz="2400">
              <a:solidFill>
                <a:schemeClr val="dk1"/>
              </a:solidFill>
              <a:latin typeface="Calibri"/>
              <a:ea typeface="Calibri"/>
              <a:cs typeface="Calibri"/>
              <a:sym typeface="Calibri"/>
            </a:endParaRPr>
          </a:p>
        </p:txBody>
      </p:sp>
      <p:cxnSp>
        <p:nvCxnSpPr>
          <p:cNvPr id="289" name="Google Shape;289;g3d96eeb11c7_0_50"/>
          <p:cNvCxnSpPr/>
          <p:nvPr/>
        </p:nvCxnSpPr>
        <p:spPr>
          <a:xfrm>
            <a:off x="2974801" y="684704"/>
            <a:ext cx="0" cy="3690300"/>
          </a:xfrm>
          <a:prstGeom prst="straightConnector1">
            <a:avLst/>
          </a:prstGeom>
          <a:noFill/>
          <a:ln w="19050" cap="flat" cmpd="sng">
            <a:solidFill>
              <a:srgbClr val="C0392B"/>
            </a:solidFill>
            <a:prstDash val="dot"/>
            <a:round/>
            <a:headEnd type="none" w="med" len="med"/>
            <a:tailEnd type="none" w="med" len="med"/>
          </a:ln>
        </p:spPr>
      </p:cxnSp>
      <p:pic>
        <p:nvPicPr>
          <p:cNvPr id="290" name="Google Shape;290;g3d96eeb11c7_0_50"/>
          <p:cNvPicPr preferRelativeResize="0"/>
          <p:nvPr/>
        </p:nvPicPr>
        <p:blipFill>
          <a:blip r:embed="rId3">
            <a:alphaModFix/>
          </a:blip>
          <a:stretch>
            <a:fillRect/>
          </a:stretch>
        </p:blipFill>
        <p:spPr>
          <a:xfrm>
            <a:off x="480847" y="2131772"/>
            <a:ext cx="2118955" cy="1659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295"/>
        <p:cNvGrpSpPr/>
        <p:nvPr/>
      </p:nvGrpSpPr>
      <p:grpSpPr>
        <a:xfrm>
          <a:off x="0" y="0"/>
          <a:ext cx="0" cy="0"/>
          <a:chOff x="0" y="0"/>
          <a:chExt cx="0" cy="0"/>
        </a:xfrm>
      </p:grpSpPr>
      <p:sp>
        <p:nvSpPr>
          <p:cNvPr id="296" name="Google Shape;296;g3d91b19f9f7_4_7"/>
          <p:cNvSpPr/>
          <p:nvPr/>
        </p:nvSpPr>
        <p:spPr>
          <a:xfrm>
            <a:off x="0" y="0"/>
            <a:ext cx="9144000" cy="6402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g3d91b19f9f7_4_7"/>
          <p:cNvSpPr/>
          <p:nvPr/>
        </p:nvSpPr>
        <p:spPr>
          <a:xfrm>
            <a:off x="365760" y="91440"/>
            <a:ext cx="8412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  ACTIONS GOUVERNEMENTALES  •  Leçons de l'analyse macro</a:t>
            </a:r>
            <a:endParaRPr sz="1600">
              <a:solidFill>
                <a:schemeClr val="dk1"/>
              </a:solidFill>
              <a:latin typeface="Calibri"/>
              <a:ea typeface="Calibri"/>
              <a:cs typeface="Calibri"/>
              <a:sym typeface="Calibri"/>
            </a:endParaRPr>
          </a:p>
        </p:txBody>
      </p:sp>
      <p:sp>
        <p:nvSpPr>
          <p:cNvPr id="298" name="Google Shape;298;g3d91b19f9f7_4_7"/>
          <p:cNvSpPr/>
          <p:nvPr/>
        </p:nvSpPr>
        <p:spPr>
          <a:xfrm>
            <a:off x="4835940" y="1865144"/>
            <a:ext cx="4114800" cy="15087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g3d91b19f9f7_4_7"/>
          <p:cNvSpPr/>
          <p:nvPr/>
        </p:nvSpPr>
        <p:spPr>
          <a:xfrm>
            <a:off x="4835940" y="1865144"/>
            <a:ext cx="63900" cy="1508700"/>
          </a:xfrm>
          <a:prstGeom prst="rect">
            <a:avLst/>
          </a:prstGeom>
          <a:solidFill>
            <a:srgbClr val="1C4587"/>
          </a:solidFill>
          <a:ln w="1270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g3d91b19f9f7_4_7"/>
          <p:cNvSpPr/>
          <p:nvPr/>
        </p:nvSpPr>
        <p:spPr>
          <a:xfrm>
            <a:off x="4834320" y="1842289"/>
            <a:ext cx="4114800" cy="457200"/>
          </a:xfrm>
          <a:prstGeom prst="rect">
            <a:avLst/>
          </a:prstGeom>
          <a:solidFill>
            <a:srgbClr val="1C4587"/>
          </a:solid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1400"/>
              <a:buFont typeface="Calibri"/>
              <a:buNone/>
            </a:pPr>
            <a:endParaRPr b="1" dirty="0">
              <a:solidFill>
                <a:schemeClr val="accent4"/>
              </a:solidFill>
              <a:latin typeface="Calibri"/>
              <a:ea typeface="Calibri"/>
              <a:cs typeface="Calibri"/>
              <a:sym typeface="Calibri"/>
            </a:endParaRPr>
          </a:p>
          <a:p>
            <a:pPr marL="0" marR="0" lvl="0" indent="0" algn="ctr" rtl="0">
              <a:spcBef>
                <a:spcPts val="0"/>
              </a:spcBef>
              <a:spcAft>
                <a:spcPts val="0"/>
              </a:spcAft>
              <a:buClr>
                <a:srgbClr val="0D1B2A"/>
              </a:buClr>
              <a:buSzPts val="1400"/>
              <a:buFont typeface="Calibri"/>
              <a:buNone/>
            </a:pPr>
            <a:r>
              <a:rPr lang="en-US" b="1" dirty="0" err="1">
                <a:solidFill>
                  <a:schemeClr val="accent4"/>
                </a:solidFill>
                <a:latin typeface="Calibri"/>
                <a:ea typeface="Calibri"/>
                <a:cs typeface="Calibri"/>
                <a:sym typeface="Calibri"/>
              </a:rPr>
              <a:t>Renforcer</a:t>
            </a:r>
            <a:r>
              <a:rPr lang="en-US" b="1" dirty="0">
                <a:solidFill>
                  <a:schemeClr val="accent4"/>
                </a:solidFill>
                <a:latin typeface="Calibri"/>
                <a:ea typeface="Calibri"/>
                <a:cs typeface="Calibri"/>
                <a:sym typeface="Calibri"/>
              </a:rPr>
              <a:t> la vigilance + les </a:t>
            </a:r>
            <a:r>
              <a:rPr lang="en-US" b="1" dirty="0" err="1">
                <a:solidFill>
                  <a:schemeClr val="accent4"/>
                </a:solidFill>
                <a:latin typeface="Calibri"/>
                <a:ea typeface="Calibri"/>
                <a:cs typeface="Calibri"/>
                <a:sym typeface="Calibri"/>
              </a:rPr>
              <a:t>contrôles</a:t>
            </a:r>
            <a:r>
              <a:rPr lang="en-US" b="1" dirty="0">
                <a:solidFill>
                  <a:schemeClr val="accent4"/>
                </a:solidFill>
                <a:latin typeface="Calibri"/>
                <a:ea typeface="Calibri"/>
                <a:cs typeface="Calibri"/>
                <a:sym typeface="Calibri"/>
              </a:rPr>
              <a:t> </a:t>
            </a:r>
            <a:endParaRPr b="1" dirty="0">
              <a:solidFill>
                <a:schemeClr val="accent4"/>
              </a:solidFill>
              <a:latin typeface="Calibri"/>
              <a:ea typeface="Calibri"/>
              <a:cs typeface="Calibri"/>
              <a:sym typeface="Calibri"/>
            </a:endParaRPr>
          </a:p>
          <a:p>
            <a:pPr marL="0" marR="0" lvl="0" indent="0" algn="ctr" rtl="0">
              <a:spcBef>
                <a:spcPts val="0"/>
              </a:spcBef>
              <a:spcAft>
                <a:spcPts val="0"/>
              </a:spcAft>
              <a:buClr>
                <a:srgbClr val="0D1B2A"/>
              </a:buClr>
              <a:buSzPts val="1400"/>
              <a:buFont typeface="Calibri"/>
              <a:buNone/>
            </a:pPr>
            <a:r>
              <a:rPr lang="en-US" b="1" dirty="0">
                <a:solidFill>
                  <a:schemeClr val="accent4"/>
                </a:solidFill>
                <a:latin typeface="Calibri"/>
                <a:ea typeface="Calibri"/>
                <a:cs typeface="Calibri"/>
                <a:sym typeface="Calibri"/>
              </a:rPr>
              <a:t>sur les </a:t>
            </a:r>
            <a:r>
              <a:rPr lang="en-US" b="1" dirty="0" err="1">
                <a:solidFill>
                  <a:schemeClr val="accent4"/>
                </a:solidFill>
                <a:latin typeface="Calibri"/>
                <a:ea typeface="Calibri"/>
                <a:cs typeface="Calibri"/>
                <a:sym typeface="Calibri"/>
              </a:rPr>
              <a:t>départementales</a:t>
            </a:r>
            <a:r>
              <a:rPr lang="en-US" b="1" dirty="0">
                <a:solidFill>
                  <a:schemeClr val="accent4"/>
                </a:solidFill>
                <a:latin typeface="Calibri"/>
                <a:ea typeface="Calibri"/>
                <a:cs typeface="Calibri"/>
                <a:sym typeface="Calibri"/>
              </a:rPr>
              <a:t> à </a:t>
            </a:r>
            <a:r>
              <a:rPr lang="en-US" b="1" dirty="0" err="1">
                <a:solidFill>
                  <a:schemeClr val="accent4"/>
                </a:solidFill>
                <a:latin typeface="Calibri"/>
                <a:ea typeface="Calibri"/>
                <a:cs typeface="Calibri"/>
                <a:sym typeface="Calibri"/>
              </a:rPr>
              <a:t>risque</a:t>
            </a:r>
            <a:r>
              <a:rPr lang="en-US" b="1" dirty="0">
                <a:solidFill>
                  <a:schemeClr val="accent4"/>
                </a:solidFill>
                <a:latin typeface="Calibri"/>
                <a:ea typeface="Calibri"/>
                <a:cs typeface="Calibri"/>
                <a:sym typeface="Calibri"/>
              </a:rPr>
              <a:t>  et les zones rurales</a:t>
            </a:r>
            <a:endParaRPr b="1" dirty="0">
              <a:solidFill>
                <a:schemeClr val="accent4"/>
              </a:solidFill>
              <a:latin typeface="Calibri"/>
              <a:ea typeface="Calibri"/>
              <a:cs typeface="Calibri"/>
              <a:sym typeface="Calibri"/>
            </a:endParaRPr>
          </a:p>
          <a:p>
            <a:pPr marL="0" marR="0" lvl="0" indent="0" algn="l" rtl="0">
              <a:spcBef>
                <a:spcPts val="0"/>
              </a:spcBef>
              <a:spcAft>
                <a:spcPts val="0"/>
              </a:spcAft>
              <a:buClr>
                <a:srgbClr val="0D1B2A"/>
              </a:buClr>
              <a:buSzPts val="1400"/>
              <a:buFont typeface="Calibri"/>
              <a:buNone/>
            </a:pPr>
            <a:endParaRPr b="1" dirty="0">
              <a:solidFill>
                <a:schemeClr val="accent4"/>
              </a:solidFill>
              <a:latin typeface="Calibri"/>
              <a:ea typeface="Calibri"/>
              <a:cs typeface="Calibri"/>
              <a:sym typeface="Calibri"/>
            </a:endParaRPr>
          </a:p>
        </p:txBody>
      </p:sp>
      <p:sp>
        <p:nvSpPr>
          <p:cNvPr id="301" name="Google Shape;301;g3d91b19f9f7_4_7"/>
          <p:cNvSpPr txBox="1"/>
          <p:nvPr/>
        </p:nvSpPr>
        <p:spPr>
          <a:xfrm>
            <a:off x="4846245" y="2304007"/>
            <a:ext cx="4114800" cy="10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600" b="1" dirty="0">
                <a:solidFill>
                  <a:schemeClr val="dk1"/>
                </a:solidFill>
                <a:latin typeface="Calibri"/>
                <a:ea typeface="Calibri"/>
                <a:cs typeface="Calibri"/>
                <a:sym typeface="Calibri"/>
              </a:rPr>
              <a:t>•</a:t>
            </a:r>
            <a:r>
              <a:rPr lang="en-US" sz="1100" dirty="0">
                <a:solidFill>
                  <a:schemeClr val="dk1"/>
                </a:solidFill>
              </a:rPr>
              <a:t> </a:t>
            </a:r>
            <a:r>
              <a:rPr lang="en-US" sz="1100" b="1" dirty="0">
                <a:solidFill>
                  <a:schemeClr val="dk1"/>
                </a:solidFill>
              </a:rPr>
              <a:t>Augmenter les </a:t>
            </a:r>
            <a:r>
              <a:rPr lang="en-US" sz="1100" b="1" dirty="0" err="1">
                <a:solidFill>
                  <a:schemeClr val="dk1"/>
                </a:solidFill>
              </a:rPr>
              <a:t>contrôles</a:t>
            </a:r>
            <a:r>
              <a:rPr lang="en-US" sz="1100" dirty="0">
                <a:solidFill>
                  <a:schemeClr val="dk1"/>
                </a:solidFill>
              </a:rPr>
              <a:t> (radars, </a:t>
            </a:r>
            <a:r>
              <a:rPr lang="en-US" sz="1100" dirty="0" err="1">
                <a:solidFill>
                  <a:schemeClr val="dk1"/>
                </a:solidFill>
              </a:rPr>
              <a:t>contrôles</a:t>
            </a:r>
            <a:r>
              <a:rPr lang="en-US" sz="1100" dirty="0">
                <a:solidFill>
                  <a:schemeClr val="dk1"/>
                </a:solidFill>
              </a:rPr>
              <a:t> mobiles)</a:t>
            </a:r>
            <a:endParaRPr sz="1100" dirty="0">
              <a:solidFill>
                <a:schemeClr val="dk1"/>
              </a:solidFill>
            </a:endParaRPr>
          </a:p>
          <a:p>
            <a:pPr marL="0" lvl="0" indent="0" algn="l" rtl="0">
              <a:spcBef>
                <a:spcPts val="0"/>
              </a:spcBef>
              <a:spcAft>
                <a:spcPts val="0"/>
              </a:spcAft>
              <a:buNone/>
            </a:pPr>
            <a:r>
              <a:rPr lang="en-US" sz="1600" b="1" dirty="0">
                <a:solidFill>
                  <a:schemeClr val="dk1"/>
                </a:solidFill>
                <a:latin typeface="Calibri"/>
                <a:ea typeface="Calibri"/>
                <a:cs typeface="Calibri"/>
                <a:sym typeface="Calibri"/>
              </a:rPr>
              <a:t>•</a:t>
            </a:r>
            <a:r>
              <a:rPr lang="en-US" sz="1100" dirty="0">
                <a:solidFill>
                  <a:schemeClr val="dk1"/>
                </a:solidFill>
              </a:rPr>
              <a:t> </a:t>
            </a:r>
            <a:r>
              <a:rPr lang="en-US" sz="1100" b="1" dirty="0">
                <a:solidFill>
                  <a:schemeClr val="dk1"/>
                </a:solidFill>
              </a:rPr>
              <a:t>Augmenter la </a:t>
            </a:r>
            <a:r>
              <a:rPr lang="en-US" sz="1100" b="1" dirty="0" err="1">
                <a:solidFill>
                  <a:schemeClr val="dk1"/>
                </a:solidFill>
              </a:rPr>
              <a:t>vidéo</a:t>
            </a:r>
            <a:r>
              <a:rPr lang="en-US" sz="1100" b="1" dirty="0">
                <a:solidFill>
                  <a:schemeClr val="dk1"/>
                </a:solidFill>
              </a:rPr>
              <a:t> de </a:t>
            </a:r>
            <a:r>
              <a:rPr lang="en-US" sz="1100" b="1" dirty="0" err="1">
                <a:solidFill>
                  <a:schemeClr val="dk1"/>
                </a:solidFill>
              </a:rPr>
              <a:t>verbalisation</a:t>
            </a:r>
            <a:r>
              <a:rPr lang="en-US" sz="1100" dirty="0">
                <a:solidFill>
                  <a:schemeClr val="dk1"/>
                </a:solidFill>
              </a:rPr>
              <a:t> pour les ceintures et les </a:t>
            </a:r>
            <a:r>
              <a:rPr lang="en-US" sz="1100" dirty="0" err="1">
                <a:solidFill>
                  <a:schemeClr val="dk1"/>
                </a:solidFill>
              </a:rPr>
              <a:t>équipements</a:t>
            </a:r>
            <a:r>
              <a:rPr lang="en-US" sz="1100" dirty="0">
                <a:solidFill>
                  <a:schemeClr val="dk1"/>
                </a:solidFill>
              </a:rPr>
              <a:t> des </a:t>
            </a:r>
            <a:r>
              <a:rPr lang="en-US" sz="1100" dirty="0" err="1">
                <a:solidFill>
                  <a:schemeClr val="dk1"/>
                </a:solidFill>
              </a:rPr>
              <a:t>motards</a:t>
            </a:r>
            <a:r>
              <a:rPr lang="en-US" sz="1100" dirty="0">
                <a:solidFill>
                  <a:schemeClr val="dk1"/>
                </a:solidFill>
              </a:rPr>
              <a:t> (manteau, </a:t>
            </a:r>
            <a:r>
              <a:rPr lang="en-US" sz="1100" dirty="0" err="1">
                <a:solidFill>
                  <a:schemeClr val="dk1"/>
                </a:solidFill>
              </a:rPr>
              <a:t>gants</a:t>
            </a:r>
            <a:r>
              <a:rPr lang="en-US" sz="1100" dirty="0">
                <a:solidFill>
                  <a:schemeClr val="dk1"/>
                </a:solidFill>
              </a:rPr>
              <a:t>, </a:t>
            </a:r>
            <a:r>
              <a:rPr lang="en-US" sz="1100" dirty="0" err="1">
                <a:solidFill>
                  <a:schemeClr val="dk1"/>
                </a:solidFill>
              </a:rPr>
              <a:t>etc</a:t>
            </a:r>
            <a:r>
              <a:rPr lang="en-US" sz="1100" dirty="0">
                <a:solidFill>
                  <a:schemeClr val="dk1"/>
                </a:solidFill>
              </a:rPr>
              <a:t>)</a:t>
            </a:r>
            <a:endParaRPr sz="1100" dirty="0">
              <a:solidFill>
                <a:schemeClr val="dk1"/>
              </a:solidFill>
            </a:endParaRPr>
          </a:p>
        </p:txBody>
      </p:sp>
      <p:sp>
        <p:nvSpPr>
          <p:cNvPr id="302" name="Google Shape;302;g3d91b19f9f7_4_7"/>
          <p:cNvSpPr/>
          <p:nvPr/>
        </p:nvSpPr>
        <p:spPr>
          <a:xfrm>
            <a:off x="528402" y="2936159"/>
            <a:ext cx="4114800" cy="127087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g3d91b19f9f7_4_7"/>
          <p:cNvSpPr/>
          <p:nvPr/>
        </p:nvSpPr>
        <p:spPr>
          <a:xfrm>
            <a:off x="529926" y="2936159"/>
            <a:ext cx="63900" cy="1270870"/>
          </a:xfrm>
          <a:prstGeom prst="rect">
            <a:avLst/>
          </a:prstGeom>
          <a:solidFill>
            <a:srgbClr val="073763"/>
          </a:solidFill>
          <a:ln w="1270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g3d91b19f9f7_4_7"/>
          <p:cNvSpPr/>
          <p:nvPr/>
        </p:nvSpPr>
        <p:spPr>
          <a:xfrm>
            <a:off x="529806" y="2931207"/>
            <a:ext cx="4114800" cy="411600"/>
          </a:xfrm>
          <a:prstGeom prst="rect">
            <a:avLst/>
          </a:prstGeom>
          <a:solidFill>
            <a:srgbClr val="1C4587"/>
          </a:solid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1400"/>
              <a:buFont typeface="Calibri"/>
              <a:buNone/>
            </a:pPr>
            <a:r>
              <a:rPr lang="en-US" b="1" dirty="0">
                <a:solidFill>
                  <a:schemeClr val="accent4"/>
                </a:solidFill>
                <a:latin typeface="Calibri"/>
                <a:ea typeface="Calibri"/>
                <a:cs typeface="Calibri"/>
                <a:sym typeface="Calibri"/>
              </a:rPr>
              <a:t> </a:t>
            </a:r>
            <a:r>
              <a:rPr lang="en-US" b="1" dirty="0" err="1">
                <a:solidFill>
                  <a:schemeClr val="accent4"/>
                </a:solidFill>
                <a:latin typeface="Calibri"/>
                <a:ea typeface="Calibri"/>
                <a:cs typeface="Calibri"/>
                <a:sym typeface="Calibri"/>
              </a:rPr>
              <a:t>Renforcer</a:t>
            </a:r>
            <a:r>
              <a:rPr lang="en-US" b="1" dirty="0">
                <a:solidFill>
                  <a:schemeClr val="accent4"/>
                </a:solidFill>
                <a:latin typeface="Calibri"/>
                <a:ea typeface="Calibri"/>
                <a:cs typeface="Calibri"/>
                <a:sym typeface="Calibri"/>
              </a:rPr>
              <a:t> </a:t>
            </a:r>
            <a:r>
              <a:rPr lang="en-US" b="1" dirty="0" err="1">
                <a:solidFill>
                  <a:schemeClr val="accent4"/>
                </a:solidFill>
                <a:latin typeface="Calibri"/>
                <a:ea typeface="Calibri"/>
                <a:cs typeface="Calibri"/>
                <a:sym typeface="Calibri"/>
              </a:rPr>
              <a:t>l’éclairage</a:t>
            </a:r>
            <a:r>
              <a:rPr lang="en-US" b="1" dirty="0">
                <a:solidFill>
                  <a:schemeClr val="accent4"/>
                </a:solidFill>
                <a:latin typeface="Calibri"/>
                <a:ea typeface="Calibri"/>
                <a:cs typeface="Calibri"/>
                <a:sym typeface="Calibri"/>
              </a:rPr>
              <a:t> dans les zones </a:t>
            </a:r>
            <a:r>
              <a:rPr lang="en-US" b="1" dirty="0" err="1">
                <a:solidFill>
                  <a:schemeClr val="accent4"/>
                </a:solidFill>
                <a:latin typeface="Calibri"/>
                <a:ea typeface="Calibri"/>
                <a:cs typeface="Calibri"/>
                <a:sym typeface="Calibri"/>
              </a:rPr>
              <a:t>accidentogènes</a:t>
            </a:r>
            <a:r>
              <a:rPr lang="en-US" b="1" dirty="0">
                <a:solidFill>
                  <a:schemeClr val="accent4"/>
                </a:solidFill>
                <a:latin typeface="Calibri"/>
                <a:ea typeface="Calibri"/>
                <a:cs typeface="Calibri"/>
                <a:sym typeface="Calibri"/>
              </a:rPr>
              <a:t> </a:t>
            </a:r>
            <a:endParaRPr b="1" dirty="0">
              <a:solidFill>
                <a:schemeClr val="accent4"/>
              </a:solidFill>
              <a:latin typeface="Calibri"/>
              <a:ea typeface="Calibri"/>
              <a:cs typeface="Calibri"/>
              <a:sym typeface="Calibri"/>
            </a:endParaRPr>
          </a:p>
        </p:txBody>
      </p:sp>
      <p:sp>
        <p:nvSpPr>
          <p:cNvPr id="305" name="Google Shape;305;g3d91b19f9f7_4_7"/>
          <p:cNvSpPr txBox="1"/>
          <p:nvPr/>
        </p:nvSpPr>
        <p:spPr>
          <a:xfrm>
            <a:off x="540252" y="3350757"/>
            <a:ext cx="4114800" cy="73244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600" b="1" dirty="0">
                <a:solidFill>
                  <a:schemeClr val="dk1"/>
                </a:solidFill>
                <a:latin typeface="Calibri"/>
                <a:ea typeface="Calibri"/>
                <a:cs typeface="Calibri"/>
                <a:sym typeface="Calibri"/>
              </a:rPr>
              <a:t>•</a:t>
            </a:r>
            <a:r>
              <a:rPr lang="en-US" sz="1100" dirty="0">
                <a:solidFill>
                  <a:schemeClr val="dk1"/>
                </a:solidFill>
              </a:rPr>
              <a:t> </a:t>
            </a:r>
            <a:r>
              <a:rPr lang="en-US" sz="1100" b="1" dirty="0">
                <a:solidFill>
                  <a:schemeClr val="dk1"/>
                </a:solidFill>
              </a:rPr>
              <a:t>Pose de </a:t>
            </a:r>
            <a:r>
              <a:rPr lang="en-US" sz="1100" b="1" dirty="0" err="1">
                <a:solidFill>
                  <a:schemeClr val="dk1"/>
                </a:solidFill>
              </a:rPr>
              <a:t>lampadaire</a:t>
            </a:r>
            <a:r>
              <a:rPr lang="en-US" sz="1100" b="1" dirty="0">
                <a:solidFill>
                  <a:schemeClr val="dk1"/>
                </a:solidFill>
              </a:rPr>
              <a:t> à led </a:t>
            </a:r>
            <a:r>
              <a:rPr lang="en-US" sz="1100" dirty="0">
                <a:solidFill>
                  <a:schemeClr val="dk1"/>
                </a:solidFill>
              </a:rPr>
              <a:t>dans zones non </a:t>
            </a:r>
            <a:r>
              <a:rPr lang="en-US" sz="1100" dirty="0" err="1">
                <a:solidFill>
                  <a:schemeClr val="dk1"/>
                </a:solidFill>
              </a:rPr>
              <a:t>éclairés</a:t>
            </a:r>
            <a:endParaRPr sz="1100" dirty="0">
              <a:solidFill>
                <a:schemeClr val="dk1"/>
              </a:solidFill>
            </a:endParaRPr>
          </a:p>
          <a:p>
            <a:pPr marL="0" lvl="0" indent="0" algn="l" rtl="0">
              <a:spcBef>
                <a:spcPts val="0"/>
              </a:spcBef>
              <a:spcAft>
                <a:spcPts val="0"/>
              </a:spcAft>
              <a:buNone/>
            </a:pPr>
            <a:endParaRPr sz="1100" dirty="0">
              <a:solidFill>
                <a:schemeClr val="dk1"/>
              </a:solidFill>
            </a:endParaRPr>
          </a:p>
        </p:txBody>
      </p:sp>
      <p:sp>
        <p:nvSpPr>
          <p:cNvPr id="306" name="Google Shape;306;g3d91b19f9f7_4_7"/>
          <p:cNvSpPr/>
          <p:nvPr/>
        </p:nvSpPr>
        <p:spPr>
          <a:xfrm>
            <a:off x="502400" y="757427"/>
            <a:ext cx="4114800" cy="18195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6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g3d91b19f9f7_4_7"/>
          <p:cNvSpPr/>
          <p:nvPr/>
        </p:nvSpPr>
        <p:spPr>
          <a:xfrm>
            <a:off x="503924" y="757427"/>
            <a:ext cx="63900" cy="1819500"/>
          </a:xfrm>
          <a:prstGeom prst="rect">
            <a:avLst/>
          </a:prstGeom>
          <a:solidFill>
            <a:srgbClr val="073763"/>
          </a:solidFill>
          <a:ln w="1270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g3d91b19f9f7_4_7"/>
          <p:cNvSpPr/>
          <p:nvPr/>
        </p:nvSpPr>
        <p:spPr>
          <a:xfrm>
            <a:off x="503804" y="752475"/>
            <a:ext cx="4114800" cy="411600"/>
          </a:xfrm>
          <a:prstGeom prst="rect">
            <a:avLst/>
          </a:prstGeom>
          <a:solidFill>
            <a:srgbClr val="1C4587"/>
          </a:solid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1400"/>
              <a:buFont typeface="Calibri"/>
              <a:buNone/>
            </a:pPr>
            <a:r>
              <a:rPr lang="en-US" b="1">
                <a:solidFill>
                  <a:schemeClr val="accent4"/>
                </a:solidFill>
                <a:latin typeface="Calibri"/>
                <a:ea typeface="Calibri"/>
                <a:cs typeface="Calibri"/>
                <a:sym typeface="Calibri"/>
              </a:rPr>
              <a:t> Renforcer la sensibilisation sur la population à risque</a:t>
            </a:r>
            <a:endParaRPr b="1">
              <a:solidFill>
                <a:schemeClr val="accent4"/>
              </a:solidFill>
              <a:latin typeface="Calibri"/>
              <a:ea typeface="Calibri"/>
              <a:cs typeface="Calibri"/>
              <a:sym typeface="Calibri"/>
            </a:endParaRPr>
          </a:p>
        </p:txBody>
      </p:sp>
      <p:sp>
        <p:nvSpPr>
          <p:cNvPr id="309" name="Google Shape;309;g3d91b19f9f7_4_7"/>
          <p:cNvSpPr txBox="1"/>
          <p:nvPr/>
        </p:nvSpPr>
        <p:spPr>
          <a:xfrm>
            <a:off x="514250" y="1172025"/>
            <a:ext cx="4114800" cy="1344584"/>
          </a:xfrm>
          <a:prstGeom prst="rect">
            <a:avLst/>
          </a:prstGeom>
          <a:noFill/>
          <a:ln>
            <a:noFill/>
          </a:ln>
        </p:spPr>
        <p:txBody>
          <a:bodyPr spcFirstLastPara="1" wrap="square" lIns="91425" tIns="91425" rIns="91425" bIns="91425" anchor="ctr" anchorCtr="0">
            <a:noAutofit/>
          </a:bodyPr>
          <a:lstStyle/>
          <a:p>
            <a:pPr marL="457200" lvl="0" indent="-317500" algn="l" rtl="0">
              <a:spcBef>
                <a:spcPts val="0"/>
              </a:spcBef>
              <a:spcAft>
                <a:spcPts val="0"/>
              </a:spcAft>
              <a:buClr>
                <a:schemeClr val="dk1"/>
              </a:buClr>
              <a:buSzPts val="1400"/>
              <a:buFont typeface="Calibri"/>
              <a:buChar char="●"/>
            </a:pPr>
            <a:r>
              <a:rPr lang="en-US" sz="1100" b="1" dirty="0" err="1">
                <a:solidFill>
                  <a:schemeClr val="dk1"/>
                </a:solidFill>
                <a:latin typeface="Arial" panose="020B0604020202020204" pitchFamily="34" charset="0"/>
                <a:ea typeface="Calibri"/>
                <a:cs typeface="Arial" panose="020B0604020202020204" pitchFamily="34" charset="0"/>
                <a:sym typeface="Calibri"/>
              </a:rPr>
              <a:t>Jeunes</a:t>
            </a:r>
            <a:r>
              <a:rPr lang="en-US" sz="1100" b="1" dirty="0">
                <a:solidFill>
                  <a:schemeClr val="dk1"/>
                </a:solidFill>
                <a:latin typeface="Arial" panose="020B0604020202020204" pitchFamily="34" charset="0"/>
                <a:ea typeface="Calibri"/>
                <a:cs typeface="Arial" panose="020B0604020202020204" pitchFamily="34" charset="0"/>
                <a:sym typeface="Calibri"/>
              </a:rPr>
              <a:t> 15-25 </a:t>
            </a:r>
            <a:r>
              <a:rPr lang="en-US" sz="1100" b="1" dirty="0" err="1">
                <a:solidFill>
                  <a:schemeClr val="dk1"/>
                </a:solidFill>
                <a:latin typeface="Arial" panose="020B0604020202020204" pitchFamily="34" charset="0"/>
                <a:ea typeface="Calibri"/>
                <a:cs typeface="Arial" panose="020B0604020202020204" pitchFamily="34" charset="0"/>
                <a:sym typeface="Calibri"/>
              </a:rPr>
              <a:t>ans</a:t>
            </a:r>
            <a:r>
              <a:rPr lang="en-US" sz="1100" b="1" dirty="0">
                <a:solidFill>
                  <a:schemeClr val="dk1"/>
                </a:solidFill>
                <a:latin typeface="Arial" panose="020B0604020202020204" pitchFamily="34" charset="0"/>
                <a:ea typeface="Calibri"/>
                <a:cs typeface="Arial" panose="020B0604020202020204" pitchFamily="34" charset="0"/>
                <a:sym typeface="Calibri"/>
              </a:rPr>
              <a:t> </a:t>
            </a:r>
            <a:r>
              <a:rPr lang="en-US" sz="1300" dirty="0">
                <a:solidFill>
                  <a:schemeClr val="dk1"/>
                </a:solidFill>
                <a:latin typeface="Calibri"/>
                <a:ea typeface="Calibri"/>
                <a:cs typeface="Calibri"/>
                <a:sym typeface="Calibri"/>
              </a:rPr>
              <a:t>: </a:t>
            </a:r>
            <a:r>
              <a:rPr lang="en-US" sz="1200" dirty="0" err="1">
                <a:solidFill>
                  <a:schemeClr val="dk1"/>
                </a:solidFill>
                <a:latin typeface="Calibri"/>
                <a:ea typeface="Calibri"/>
                <a:cs typeface="Calibri"/>
                <a:sym typeface="Calibri"/>
              </a:rPr>
              <a:t>campagne</a:t>
            </a:r>
            <a:r>
              <a:rPr lang="en-US" sz="1200" dirty="0">
                <a:solidFill>
                  <a:schemeClr val="dk1"/>
                </a:solidFill>
                <a:latin typeface="Calibri"/>
                <a:ea typeface="Calibri"/>
                <a:cs typeface="Calibri"/>
                <a:sym typeface="Calibri"/>
              </a:rPr>
              <a:t> sur les réseaux </a:t>
            </a:r>
            <a:r>
              <a:rPr lang="en-US" sz="1200" dirty="0" err="1">
                <a:solidFill>
                  <a:schemeClr val="dk1"/>
                </a:solidFill>
                <a:latin typeface="Calibri"/>
                <a:ea typeface="Calibri"/>
                <a:cs typeface="Calibri"/>
                <a:sym typeface="Calibri"/>
              </a:rPr>
              <a:t>sociaux</a:t>
            </a:r>
            <a:r>
              <a:rPr lang="en-US" sz="1200" dirty="0">
                <a:solidFill>
                  <a:schemeClr val="dk1"/>
                </a:solidFill>
                <a:latin typeface="Calibri"/>
                <a:ea typeface="Calibri"/>
                <a:cs typeface="Calibri"/>
                <a:sym typeface="Calibri"/>
              </a:rPr>
              <a:t> (port ceinture, gravité des accidents </a:t>
            </a:r>
            <a:r>
              <a:rPr lang="en-US" sz="1200" dirty="0" err="1">
                <a:solidFill>
                  <a:schemeClr val="dk1"/>
                </a:solidFill>
                <a:latin typeface="Calibri"/>
                <a:ea typeface="Calibri"/>
                <a:cs typeface="Calibri"/>
                <a:sym typeface="Calibri"/>
              </a:rPr>
              <a:t>jeunes</a:t>
            </a:r>
            <a:r>
              <a:rPr lang="en-US" sz="1200" dirty="0">
                <a:solidFill>
                  <a:schemeClr val="dk1"/>
                </a:solidFill>
                <a:latin typeface="Calibri"/>
                <a:ea typeface="Calibri"/>
                <a:cs typeface="Calibri"/>
                <a:sym typeface="Calibri"/>
              </a:rPr>
              <a:t>)</a:t>
            </a:r>
            <a:endParaRPr sz="1200" dirty="0">
              <a:solidFill>
                <a:schemeClr val="dk1"/>
              </a:solidFill>
            </a:endParaRPr>
          </a:p>
          <a:p>
            <a:pPr marL="457200" lvl="0" indent="-317500" algn="l" rtl="0">
              <a:spcBef>
                <a:spcPts val="0"/>
              </a:spcBef>
              <a:spcAft>
                <a:spcPts val="0"/>
              </a:spcAft>
              <a:buClr>
                <a:schemeClr val="dk1"/>
              </a:buClr>
              <a:buSzPts val="1400"/>
              <a:buFont typeface="Calibri"/>
              <a:buChar char="●"/>
            </a:pPr>
            <a:r>
              <a:rPr lang="en-US" sz="1100" b="1" dirty="0">
                <a:solidFill>
                  <a:schemeClr val="dk1"/>
                </a:solidFill>
                <a:latin typeface="Arial" panose="020B0604020202020204" pitchFamily="34" charset="0"/>
                <a:ea typeface="Calibri"/>
                <a:cs typeface="Arial" panose="020B0604020202020204" pitchFamily="34" charset="0"/>
                <a:sym typeface="Calibri"/>
              </a:rPr>
              <a:t>Seniors 65+ </a:t>
            </a:r>
            <a:r>
              <a:rPr lang="en-US" sz="1100" b="1" dirty="0" err="1">
                <a:solidFill>
                  <a:schemeClr val="dk1"/>
                </a:solidFill>
                <a:latin typeface="Arial" panose="020B0604020202020204" pitchFamily="34" charset="0"/>
                <a:ea typeface="Calibri"/>
                <a:cs typeface="Arial" panose="020B0604020202020204" pitchFamily="34" charset="0"/>
                <a:sym typeface="Calibri"/>
              </a:rPr>
              <a:t>ans</a:t>
            </a:r>
            <a:r>
              <a:rPr lang="en-US" sz="1100" b="1" dirty="0">
                <a:solidFill>
                  <a:schemeClr val="dk1"/>
                </a:solidFill>
                <a:latin typeface="Arial" panose="020B0604020202020204" pitchFamily="34" charset="0"/>
                <a:ea typeface="Calibri"/>
                <a:cs typeface="Arial" panose="020B0604020202020204" pitchFamily="34" charset="0"/>
                <a:sym typeface="Calibri"/>
              </a:rPr>
              <a:t> </a:t>
            </a:r>
            <a:r>
              <a:rPr lang="en-US" sz="1300" dirty="0">
                <a:solidFill>
                  <a:schemeClr val="dk1"/>
                </a:solidFill>
                <a:latin typeface="Calibri"/>
                <a:ea typeface="Calibri"/>
                <a:cs typeface="Calibri"/>
                <a:sym typeface="Calibri"/>
              </a:rPr>
              <a:t>: </a:t>
            </a:r>
            <a:r>
              <a:rPr lang="en-US" sz="1200" dirty="0">
                <a:solidFill>
                  <a:schemeClr val="dk1"/>
                </a:solidFill>
                <a:latin typeface="Calibri"/>
                <a:ea typeface="Calibri"/>
                <a:cs typeface="Calibri"/>
                <a:sym typeface="Calibri"/>
              </a:rPr>
              <a:t>formation </a:t>
            </a:r>
            <a:r>
              <a:rPr lang="en-US" sz="1200" dirty="0" err="1">
                <a:solidFill>
                  <a:schemeClr val="dk1"/>
                </a:solidFill>
                <a:latin typeface="Calibri"/>
                <a:ea typeface="Calibri"/>
                <a:cs typeface="Calibri"/>
                <a:sym typeface="Calibri"/>
              </a:rPr>
              <a:t>obligatoire</a:t>
            </a:r>
            <a:r>
              <a:rPr lang="en-US" sz="1200" dirty="0">
                <a:solidFill>
                  <a:schemeClr val="dk1"/>
                </a:solidFill>
                <a:latin typeface="Calibri"/>
                <a:ea typeface="Calibri"/>
                <a:cs typeface="Calibri"/>
                <a:sym typeface="Calibri"/>
              </a:rPr>
              <a:t> de remise à </a:t>
            </a:r>
            <a:r>
              <a:rPr lang="en-US" sz="1200" dirty="0" err="1">
                <a:solidFill>
                  <a:schemeClr val="dk1"/>
                </a:solidFill>
                <a:latin typeface="Calibri"/>
                <a:ea typeface="Calibri"/>
                <a:cs typeface="Calibri"/>
                <a:sym typeface="Calibri"/>
              </a:rPr>
              <a:t>niveau</a:t>
            </a:r>
            <a:r>
              <a:rPr lang="en-US" sz="1200" dirty="0">
                <a:solidFill>
                  <a:schemeClr val="dk1"/>
                </a:solidFill>
                <a:latin typeface="Calibri"/>
                <a:ea typeface="Calibri"/>
                <a:cs typeface="Calibri"/>
                <a:sym typeface="Calibri"/>
              </a:rPr>
              <a:t> pour </a:t>
            </a:r>
            <a:r>
              <a:rPr lang="en-US" sz="1200" dirty="0" err="1">
                <a:solidFill>
                  <a:schemeClr val="dk1"/>
                </a:solidFill>
                <a:latin typeface="Calibri"/>
                <a:ea typeface="Calibri"/>
                <a:cs typeface="Calibri"/>
                <a:sym typeface="Calibri"/>
              </a:rPr>
              <a:t>anticiper</a:t>
            </a:r>
            <a:r>
              <a:rPr lang="en-US" sz="1200" dirty="0">
                <a:solidFill>
                  <a:schemeClr val="dk1"/>
                </a:solidFill>
                <a:latin typeface="Calibri"/>
                <a:ea typeface="Calibri"/>
                <a:cs typeface="Calibri"/>
                <a:sym typeface="Calibri"/>
              </a:rPr>
              <a:t> le </a:t>
            </a:r>
            <a:r>
              <a:rPr lang="en-US" sz="1200" dirty="0" err="1">
                <a:solidFill>
                  <a:schemeClr val="dk1"/>
                </a:solidFill>
                <a:latin typeface="Calibri"/>
                <a:ea typeface="Calibri"/>
                <a:cs typeface="Calibri"/>
                <a:sym typeface="Calibri"/>
              </a:rPr>
              <a:t>déclin</a:t>
            </a:r>
            <a:r>
              <a:rPr lang="en-US" sz="1200" dirty="0">
                <a:solidFill>
                  <a:schemeClr val="dk1"/>
                </a:solidFill>
                <a:latin typeface="Calibri"/>
                <a:ea typeface="Calibri"/>
                <a:cs typeface="Calibri"/>
                <a:sym typeface="Calibri"/>
              </a:rPr>
              <a:t> des </a:t>
            </a:r>
            <a:r>
              <a:rPr lang="en-US" sz="1200" dirty="0" err="1">
                <a:solidFill>
                  <a:schemeClr val="dk1"/>
                </a:solidFill>
                <a:latin typeface="Calibri"/>
                <a:ea typeface="Calibri"/>
                <a:cs typeface="Calibri"/>
                <a:sym typeface="Calibri"/>
              </a:rPr>
              <a:t>capacités</a:t>
            </a:r>
            <a:endParaRPr sz="1200" dirty="0">
              <a:solidFill>
                <a:schemeClr val="dk1"/>
              </a:solidFill>
            </a:endParaRPr>
          </a:p>
          <a:p>
            <a:pPr marL="457200" lvl="0" indent="-317500" algn="l" rtl="0">
              <a:spcBef>
                <a:spcPts val="0"/>
              </a:spcBef>
              <a:spcAft>
                <a:spcPts val="0"/>
              </a:spcAft>
              <a:buSzPts val="1400"/>
              <a:buChar char="●"/>
            </a:pPr>
            <a:r>
              <a:rPr lang="en-US" sz="1100" b="1" dirty="0" err="1">
                <a:solidFill>
                  <a:schemeClr val="dk1"/>
                </a:solidFill>
                <a:latin typeface="+mj-lt"/>
                <a:ea typeface="Calibri"/>
                <a:cs typeface="Calibri"/>
                <a:sym typeface="Calibri"/>
              </a:rPr>
              <a:t>Motards</a:t>
            </a:r>
            <a:r>
              <a:rPr lang="en-US" sz="1100" dirty="0">
                <a:solidFill>
                  <a:schemeClr val="dk1"/>
                </a:solidFill>
                <a:latin typeface="+mj-lt"/>
              </a:rPr>
              <a:t> </a:t>
            </a:r>
            <a:r>
              <a:rPr lang="en-US" sz="1100" dirty="0">
                <a:solidFill>
                  <a:schemeClr val="dk1"/>
                </a:solidFill>
              </a:rPr>
              <a:t>: </a:t>
            </a:r>
            <a:r>
              <a:rPr lang="en-US" sz="1200" dirty="0" err="1">
                <a:solidFill>
                  <a:schemeClr val="dk1"/>
                </a:solidFill>
                <a:latin typeface="Calibri"/>
                <a:ea typeface="Calibri"/>
                <a:cs typeface="Calibri"/>
                <a:sym typeface="Calibri"/>
              </a:rPr>
              <a:t>campagne</a:t>
            </a:r>
            <a:r>
              <a:rPr lang="en-US" sz="1200" dirty="0">
                <a:solidFill>
                  <a:schemeClr val="dk1"/>
                </a:solidFill>
                <a:latin typeface="Calibri"/>
                <a:ea typeface="Calibri"/>
                <a:cs typeface="Calibri"/>
                <a:sym typeface="Calibri"/>
              </a:rPr>
              <a:t> </a:t>
            </a:r>
            <a:r>
              <a:rPr lang="en-US" sz="1200" dirty="0" err="1">
                <a:solidFill>
                  <a:schemeClr val="dk1"/>
                </a:solidFill>
                <a:latin typeface="Calibri"/>
                <a:ea typeface="Calibri"/>
                <a:cs typeface="Calibri"/>
                <a:sym typeface="Calibri"/>
              </a:rPr>
              <a:t>télévisée</a:t>
            </a:r>
            <a:r>
              <a:rPr lang="en-US" sz="1200" dirty="0">
                <a:solidFill>
                  <a:schemeClr val="dk1"/>
                </a:solidFill>
                <a:latin typeface="Calibri"/>
                <a:ea typeface="Calibri"/>
                <a:cs typeface="Calibri"/>
                <a:sym typeface="Calibri"/>
              </a:rPr>
              <a:t> choc</a:t>
            </a:r>
            <a:endParaRPr sz="1100" dirty="0">
              <a:solidFill>
                <a:schemeClr val="dk1"/>
              </a:solidFill>
            </a:endParaRPr>
          </a:p>
          <a:p>
            <a:pPr marL="0" lvl="0" indent="0" algn="l" rtl="0">
              <a:spcBef>
                <a:spcPts val="0"/>
              </a:spcBef>
              <a:spcAft>
                <a:spcPts val="0"/>
              </a:spcAft>
              <a:buNone/>
            </a:pPr>
            <a:endParaRPr sz="1100" dirty="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320"/>
        <p:cNvGrpSpPr/>
        <p:nvPr/>
      </p:nvGrpSpPr>
      <p:grpSpPr>
        <a:xfrm>
          <a:off x="0" y="0"/>
          <a:ext cx="0" cy="0"/>
          <a:chOff x="0" y="0"/>
          <a:chExt cx="0" cy="0"/>
        </a:xfrm>
      </p:grpSpPr>
      <p:sp>
        <p:nvSpPr>
          <p:cNvPr id="321" name="Google Shape;321;p14"/>
          <p:cNvSpPr/>
          <p:nvPr/>
        </p:nvSpPr>
        <p:spPr>
          <a:xfrm>
            <a:off x="0" y="-39050"/>
            <a:ext cx="9144000" cy="640200"/>
          </a:xfrm>
          <a:prstGeom prst="rect">
            <a:avLst/>
          </a:prstGeom>
          <a:solidFill>
            <a:srgbClr val="0D1B2A"/>
          </a:solidFill>
          <a:ln w="12700" cap="flat" cmpd="sng">
            <a:solidFill>
              <a:srgbClr val="0D1B2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4"/>
          <p:cNvSpPr/>
          <p:nvPr/>
        </p:nvSpPr>
        <p:spPr>
          <a:xfrm>
            <a:off x="365760" y="91440"/>
            <a:ext cx="84126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  </a:t>
            </a:r>
            <a:r>
              <a:rPr lang="en-US" sz="1600" b="1">
                <a:solidFill>
                  <a:schemeClr val="lt1"/>
                </a:solidFill>
                <a:latin typeface="Calibri"/>
                <a:ea typeface="Calibri"/>
                <a:cs typeface="Calibri"/>
                <a:sym typeface="Calibri"/>
              </a:rPr>
              <a:t>Ouvertures et axes d’amélioration</a:t>
            </a:r>
            <a:endParaRPr sz="1600">
              <a:solidFill>
                <a:schemeClr val="lt1"/>
              </a:solidFill>
              <a:latin typeface="Calibri"/>
              <a:ea typeface="Calibri"/>
              <a:cs typeface="Calibri"/>
              <a:sym typeface="Calibri"/>
            </a:endParaRPr>
          </a:p>
        </p:txBody>
      </p:sp>
      <p:sp>
        <p:nvSpPr>
          <p:cNvPr id="323" name="Google Shape;323;p14"/>
          <p:cNvSpPr/>
          <p:nvPr/>
        </p:nvSpPr>
        <p:spPr>
          <a:xfrm>
            <a:off x="274320" y="927838"/>
            <a:ext cx="4114800" cy="15087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4" name="Google Shape;324;p14"/>
          <p:cNvSpPr/>
          <p:nvPr/>
        </p:nvSpPr>
        <p:spPr>
          <a:xfrm>
            <a:off x="274320" y="927838"/>
            <a:ext cx="63900" cy="1508700"/>
          </a:xfrm>
          <a:prstGeom prst="rect">
            <a:avLst/>
          </a:prstGeom>
          <a:solidFill>
            <a:srgbClr val="1C4587"/>
          </a:solidFill>
          <a:ln w="1270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4"/>
          <p:cNvSpPr/>
          <p:nvPr/>
        </p:nvSpPr>
        <p:spPr>
          <a:xfrm>
            <a:off x="411475" y="1334500"/>
            <a:ext cx="3731400" cy="1101900"/>
          </a:xfrm>
          <a:prstGeom prst="rect">
            <a:avLst/>
          </a:prstGeom>
          <a:noFill/>
          <a:ln>
            <a:noFill/>
          </a:ln>
        </p:spPr>
        <p:txBody>
          <a:bodyPr spcFirstLastPara="1" wrap="square" lIns="0" tIns="0" rIns="0" bIns="0" anchor="t" anchorCtr="0">
            <a:noAutofit/>
          </a:bodyPr>
          <a:lstStyle/>
          <a:p>
            <a:pPr marL="457200" marR="0" lvl="0" indent="0" algn="l" rtl="0">
              <a:spcBef>
                <a:spcPts val="0"/>
              </a:spcBef>
              <a:spcAft>
                <a:spcPts val="0"/>
              </a:spcAft>
              <a:buNone/>
            </a:pPr>
            <a:endParaRPr sz="1200" b="1" u="sng" dirty="0">
              <a:solidFill>
                <a:srgbClr val="444444"/>
              </a:solidFill>
              <a:latin typeface="Calibri"/>
              <a:ea typeface="Calibri"/>
              <a:cs typeface="Calibri"/>
              <a:sym typeface="Calibri"/>
            </a:endParaRPr>
          </a:p>
          <a:p>
            <a:pPr marL="457200" marR="0" lvl="0" indent="-298450" algn="l" rtl="0">
              <a:spcBef>
                <a:spcPts val="0"/>
              </a:spcBef>
              <a:spcAft>
                <a:spcPts val="0"/>
              </a:spcAft>
              <a:buClr>
                <a:srgbClr val="444444"/>
              </a:buClr>
              <a:buSzPts val="1100"/>
              <a:buChar char="●"/>
            </a:pPr>
            <a:r>
              <a:rPr lang="en-US" sz="1100" b="1" dirty="0" err="1">
                <a:solidFill>
                  <a:srgbClr val="444444"/>
                </a:solidFill>
              </a:rPr>
              <a:t>Facteurs</a:t>
            </a:r>
            <a:r>
              <a:rPr lang="en-US" sz="1100" b="1" dirty="0">
                <a:solidFill>
                  <a:srgbClr val="444444"/>
                </a:solidFill>
              </a:rPr>
              <a:t> </a:t>
            </a:r>
            <a:r>
              <a:rPr lang="en-US" sz="1100" b="1" dirty="0" err="1">
                <a:solidFill>
                  <a:srgbClr val="444444"/>
                </a:solidFill>
              </a:rPr>
              <a:t>comportementaux</a:t>
            </a:r>
            <a:r>
              <a:rPr lang="en-US" sz="1100" dirty="0">
                <a:solidFill>
                  <a:srgbClr val="444444"/>
                </a:solidFill>
              </a:rPr>
              <a:t> (</a:t>
            </a:r>
            <a:r>
              <a:rPr lang="en-US" sz="1100" dirty="0" err="1">
                <a:solidFill>
                  <a:srgbClr val="444444"/>
                </a:solidFill>
              </a:rPr>
              <a:t>alcoolémie</a:t>
            </a:r>
            <a:r>
              <a:rPr lang="en-US" sz="1100" dirty="0">
                <a:solidFill>
                  <a:srgbClr val="444444"/>
                </a:solidFill>
              </a:rPr>
              <a:t>, fatigue et inattention)</a:t>
            </a:r>
            <a:endParaRPr sz="1100" dirty="0">
              <a:solidFill>
                <a:srgbClr val="444444"/>
              </a:solidFill>
            </a:endParaRPr>
          </a:p>
          <a:p>
            <a:pPr marL="457200" marR="0" lvl="0" indent="-298450" algn="l" rtl="0">
              <a:spcBef>
                <a:spcPts val="0"/>
              </a:spcBef>
              <a:spcAft>
                <a:spcPts val="0"/>
              </a:spcAft>
              <a:buClr>
                <a:srgbClr val="444444"/>
              </a:buClr>
              <a:buSzPts val="1100"/>
              <a:buChar char="●"/>
            </a:pPr>
            <a:r>
              <a:rPr lang="en-US" sz="1100" b="1" dirty="0" err="1">
                <a:solidFill>
                  <a:srgbClr val="444444"/>
                </a:solidFill>
              </a:rPr>
              <a:t>Facteurs</a:t>
            </a:r>
            <a:r>
              <a:rPr lang="en-US" sz="1100" b="1" dirty="0">
                <a:solidFill>
                  <a:srgbClr val="444444"/>
                </a:solidFill>
              </a:rPr>
              <a:t> </a:t>
            </a:r>
            <a:r>
              <a:rPr lang="en-US" sz="1100" b="1" dirty="0" err="1">
                <a:solidFill>
                  <a:srgbClr val="444444"/>
                </a:solidFill>
              </a:rPr>
              <a:t>légaux</a:t>
            </a:r>
            <a:r>
              <a:rPr lang="en-US" sz="1100" dirty="0">
                <a:solidFill>
                  <a:srgbClr val="444444"/>
                </a:solidFill>
              </a:rPr>
              <a:t> (</a:t>
            </a:r>
            <a:r>
              <a:rPr lang="en-US" sz="1100" dirty="0" err="1">
                <a:solidFill>
                  <a:srgbClr val="444444"/>
                </a:solidFill>
              </a:rPr>
              <a:t>vétusté</a:t>
            </a:r>
            <a:r>
              <a:rPr lang="en-US" sz="1100" dirty="0">
                <a:solidFill>
                  <a:srgbClr val="444444"/>
                </a:solidFill>
              </a:rPr>
              <a:t> du véhicule, </a:t>
            </a:r>
            <a:r>
              <a:rPr lang="en-US" sz="1100" dirty="0" err="1">
                <a:solidFill>
                  <a:srgbClr val="444444"/>
                </a:solidFill>
              </a:rPr>
              <a:t>permis</a:t>
            </a:r>
            <a:r>
              <a:rPr lang="en-US" sz="1100" dirty="0">
                <a:solidFill>
                  <a:srgbClr val="444444"/>
                </a:solidFill>
              </a:rPr>
              <a:t> </a:t>
            </a:r>
            <a:r>
              <a:rPr lang="en-US" sz="1100" dirty="0" err="1">
                <a:solidFill>
                  <a:srgbClr val="444444"/>
                </a:solidFill>
              </a:rPr>
              <a:t>valide</a:t>
            </a:r>
            <a:r>
              <a:rPr lang="en-US" sz="1100" dirty="0">
                <a:solidFill>
                  <a:srgbClr val="444444"/>
                </a:solidFill>
              </a:rPr>
              <a:t>, points </a:t>
            </a:r>
            <a:r>
              <a:rPr lang="en-US" sz="1100" dirty="0" err="1">
                <a:solidFill>
                  <a:srgbClr val="444444"/>
                </a:solidFill>
              </a:rPr>
              <a:t>restants</a:t>
            </a:r>
            <a:r>
              <a:rPr lang="en-US" sz="1100" dirty="0">
                <a:solidFill>
                  <a:srgbClr val="444444"/>
                </a:solidFill>
              </a:rPr>
              <a:t>)</a:t>
            </a:r>
            <a:endParaRPr sz="1200" dirty="0">
              <a:solidFill>
                <a:schemeClr val="dk1"/>
              </a:solidFill>
              <a:latin typeface="Calibri"/>
              <a:ea typeface="Calibri"/>
              <a:cs typeface="Calibri"/>
              <a:sym typeface="Calibri"/>
            </a:endParaRPr>
          </a:p>
        </p:txBody>
      </p:sp>
      <p:sp>
        <p:nvSpPr>
          <p:cNvPr id="326" name="Google Shape;326;p14"/>
          <p:cNvSpPr/>
          <p:nvPr/>
        </p:nvSpPr>
        <p:spPr>
          <a:xfrm>
            <a:off x="4709160" y="927838"/>
            <a:ext cx="4114800" cy="1508700"/>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4"/>
          <p:cNvSpPr/>
          <p:nvPr/>
        </p:nvSpPr>
        <p:spPr>
          <a:xfrm>
            <a:off x="4709160" y="927838"/>
            <a:ext cx="63900" cy="1508700"/>
          </a:xfrm>
          <a:prstGeom prst="rect">
            <a:avLst/>
          </a:prstGeom>
          <a:solidFill>
            <a:srgbClr val="1C4587"/>
          </a:solidFill>
          <a:ln w="1270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4"/>
          <p:cNvSpPr/>
          <p:nvPr/>
        </p:nvSpPr>
        <p:spPr>
          <a:xfrm>
            <a:off x="4846325" y="1339373"/>
            <a:ext cx="3840600" cy="1101900"/>
          </a:xfrm>
          <a:prstGeom prst="rect">
            <a:avLst/>
          </a:prstGeom>
          <a:noFill/>
          <a:ln>
            <a:noFill/>
          </a:ln>
        </p:spPr>
        <p:txBody>
          <a:bodyPr spcFirstLastPara="1" wrap="square" lIns="0" tIns="0" rIns="0" bIns="0" anchor="ctr" anchorCtr="0">
            <a:noAutofit/>
          </a:bodyPr>
          <a:lstStyle/>
          <a:p>
            <a:pPr marL="457200" marR="0" lvl="0" indent="-298450" algn="l" rtl="0">
              <a:spcBef>
                <a:spcPts val="0"/>
              </a:spcBef>
              <a:spcAft>
                <a:spcPts val="0"/>
              </a:spcAft>
              <a:buClr>
                <a:srgbClr val="444444"/>
              </a:buClr>
              <a:buSzPts val="1100"/>
              <a:buChar char="●"/>
            </a:pPr>
            <a:r>
              <a:rPr lang="en-US" sz="1100" dirty="0" err="1">
                <a:solidFill>
                  <a:srgbClr val="444444"/>
                </a:solidFill>
              </a:rPr>
              <a:t>Analyser</a:t>
            </a:r>
            <a:r>
              <a:rPr lang="en-US" sz="1100" dirty="0">
                <a:solidFill>
                  <a:srgbClr val="444444"/>
                </a:solidFill>
              </a:rPr>
              <a:t> </a:t>
            </a:r>
            <a:r>
              <a:rPr lang="en-US" sz="1100" dirty="0" err="1">
                <a:solidFill>
                  <a:srgbClr val="444444"/>
                </a:solidFill>
              </a:rPr>
              <a:t>l’impact</a:t>
            </a:r>
            <a:r>
              <a:rPr lang="en-US" sz="1100" dirty="0">
                <a:solidFill>
                  <a:srgbClr val="444444"/>
                </a:solidFill>
              </a:rPr>
              <a:t> de </a:t>
            </a:r>
            <a:r>
              <a:rPr lang="en-US" sz="1100" dirty="0" err="1">
                <a:solidFill>
                  <a:srgbClr val="444444"/>
                </a:solidFill>
              </a:rPr>
              <a:t>l'implantation</a:t>
            </a:r>
            <a:r>
              <a:rPr lang="en-US" sz="1100" dirty="0">
                <a:solidFill>
                  <a:srgbClr val="444444"/>
                </a:solidFill>
              </a:rPr>
              <a:t> de radars sur des zones </a:t>
            </a:r>
            <a:r>
              <a:rPr lang="en-US" sz="1100" dirty="0" err="1">
                <a:solidFill>
                  <a:srgbClr val="444444"/>
                </a:solidFill>
              </a:rPr>
              <a:t>accidentogènes</a:t>
            </a:r>
            <a:r>
              <a:rPr lang="en-US" sz="1100" dirty="0">
                <a:solidFill>
                  <a:srgbClr val="444444"/>
                </a:solidFill>
              </a:rPr>
              <a:t> graves </a:t>
            </a:r>
          </a:p>
        </p:txBody>
      </p:sp>
      <p:sp>
        <p:nvSpPr>
          <p:cNvPr id="332" name="Google Shape;332;p14"/>
          <p:cNvSpPr/>
          <p:nvPr/>
        </p:nvSpPr>
        <p:spPr>
          <a:xfrm>
            <a:off x="2577706" y="2786143"/>
            <a:ext cx="4114800" cy="1573355"/>
          </a:xfrm>
          <a:prstGeom prst="rect">
            <a:avLst/>
          </a:prstGeom>
          <a:solidFill>
            <a:srgbClr val="FFFFFF"/>
          </a:solidFill>
          <a:ln w="12700" cap="flat" cmpd="sng">
            <a:solidFill>
              <a:srgbClr val="FFFFFF"/>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4"/>
          <p:cNvSpPr/>
          <p:nvPr/>
        </p:nvSpPr>
        <p:spPr>
          <a:xfrm>
            <a:off x="2577706" y="2786144"/>
            <a:ext cx="62463" cy="1573354"/>
          </a:xfrm>
          <a:prstGeom prst="rect">
            <a:avLst/>
          </a:prstGeom>
          <a:solidFill>
            <a:srgbClr val="1C4587"/>
          </a:solidFill>
          <a:ln w="12700"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4"/>
          <p:cNvSpPr/>
          <p:nvPr/>
        </p:nvSpPr>
        <p:spPr>
          <a:xfrm>
            <a:off x="2714871" y="3195689"/>
            <a:ext cx="3840600" cy="1101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44444"/>
              </a:buClr>
              <a:buSzPts val="1200"/>
              <a:buFont typeface="Calibri"/>
              <a:buNone/>
            </a:pPr>
            <a:r>
              <a:rPr lang="en-US" sz="1600" b="1" dirty="0">
                <a:solidFill>
                  <a:schemeClr val="dk1"/>
                </a:solidFill>
              </a:rPr>
              <a:t>• </a:t>
            </a:r>
            <a:r>
              <a:rPr lang="en-US" sz="1100" dirty="0" err="1">
                <a:solidFill>
                  <a:srgbClr val="444444"/>
                </a:solidFill>
              </a:rPr>
              <a:t>Modèle</a:t>
            </a:r>
            <a:r>
              <a:rPr lang="en-US" sz="1100" dirty="0">
                <a:solidFill>
                  <a:srgbClr val="444444"/>
                </a:solidFill>
              </a:rPr>
              <a:t> </a:t>
            </a:r>
            <a:r>
              <a:rPr lang="en-US" sz="1100" dirty="0" err="1">
                <a:solidFill>
                  <a:srgbClr val="444444"/>
                </a:solidFill>
              </a:rPr>
              <a:t>prédictif</a:t>
            </a:r>
            <a:r>
              <a:rPr lang="en-US" sz="1100" dirty="0">
                <a:solidFill>
                  <a:srgbClr val="444444"/>
                </a:solidFill>
              </a:rPr>
              <a:t> pour </a:t>
            </a:r>
            <a:r>
              <a:rPr lang="en-US" sz="1100" dirty="0" err="1">
                <a:solidFill>
                  <a:srgbClr val="444444"/>
                </a:solidFill>
              </a:rPr>
              <a:t>anticiper</a:t>
            </a:r>
            <a:r>
              <a:rPr lang="en-US" sz="1100" dirty="0">
                <a:solidFill>
                  <a:srgbClr val="444444"/>
                </a:solidFill>
              </a:rPr>
              <a:t> les pics de risques </a:t>
            </a:r>
            <a:r>
              <a:rPr lang="en-US" sz="1100" dirty="0" err="1">
                <a:solidFill>
                  <a:srgbClr val="444444"/>
                </a:solidFill>
              </a:rPr>
              <a:t>selon</a:t>
            </a:r>
            <a:r>
              <a:rPr lang="en-US" sz="1100" dirty="0">
                <a:solidFill>
                  <a:srgbClr val="444444"/>
                </a:solidFill>
              </a:rPr>
              <a:t> la </a:t>
            </a:r>
            <a:r>
              <a:rPr lang="en-US" sz="1100" dirty="0" err="1">
                <a:solidFill>
                  <a:srgbClr val="444444"/>
                </a:solidFill>
              </a:rPr>
              <a:t>météo</a:t>
            </a:r>
            <a:r>
              <a:rPr lang="en-US" sz="1100" dirty="0">
                <a:solidFill>
                  <a:srgbClr val="444444"/>
                </a:solidFill>
              </a:rPr>
              <a:t> et le </a:t>
            </a:r>
            <a:r>
              <a:rPr lang="en-US" sz="1100" dirty="0" err="1">
                <a:solidFill>
                  <a:srgbClr val="444444"/>
                </a:solidFill>
              </a:rPr>
              <a:t>calendrier</a:t>
            </a:r>
            <a:r>
              <a:rPr lang="en-US" sz="1100" dirty="0">
                <a:solidFill>
                  <a:srgbClr val="444444"/>
                </a:solidFill>
              </a:rPr>
              <a:t> et </a:t>
            </a:r>
            <a:r>
              <a:rPr lang="en-US" sz="1100" dirty="0" err="1">
                <a:solidFill>
                  <a:srgbClr val="444444"/>
                </a:solidFill>
              </a:rPr>
              <a:t>déploier</a:t>
            </a:r>
            <a:r>
              <a:rPr lang="en-US" sz="1100" dirty="0">
                <a:solidFill>
                  <a:srgbClr val="444444"/>
                </a:solidFill>
              </a:rPr>
              <a:t> des </a:t>
            </a:r>
            <a:r>
              <a:rPr lang="en-US" sz="1100" dirty="0" err="1">
                <a:solidFill>
                  <a:srgbClr val="444444"/>
                </a:solidFill>
              </a:rPr>
              <a:t>contrôles</a:t>
            </a:r>
            <a:r>
              <a:rPr lang="en-US" sz="1100" dirty="0">
                <a:solidFill>
                  <a:srgbClr val="444444"/>
                </a:solidFill>
              </a:rPr>
              <a:t> ad hoc </a:t>
            </a:r>
            <a:r>
              <a:rPr lang="en-US" sz="1100" dirty="0" err="1">
                <a:solidFill>
                  <a:srgbClr val="444444"/>
                </a:solidFill>
              </a:rPr>
              <a:t>routier</a:t>
            </a:r>
            <a:endParaRPr lang="en-US" sz="1100" dirty="0">
              <a:solidFill>
                <a:srgbClr val="444444"/>
              </a:solidFill>
            </a:endParaRPr>
          </a:p>
          <a:p>
            <a:pPr marL="0" marR="0" lvl="0" indent="0" algn="l" rtl="0">
              <a:spcBef>
                <a:spcPts val="0"/>
              </a:spcBef>
              <a:spcAft>
                <a:spcPts val="0"/>
              </a:spcAft>
              <a:buClr>
                <a:srgbClr val="444444"/>
              </a:buClr>
              <a:buSzPts val="1200"/>
              <a:buFont typeface="Calibri"/>
              <a:buNone/>
            </a:pPr>
            <a:endParaRPr lang="en-US" sz="1100" dirty="0">
              <a:solidFill>
                <a:srgbClr val="444444"/>
              </a:solidFill>
            </a:endParaRPr>
          </a:p>
          <a:p>
            <a:pPr marL="0" marR="0" lvl="0" indent="0" algn="l" rtl="0">
              <a:spcBef>
                <a:spcPts val="0"/>
              </a:spcBef>
              <a:spcAft>
                <a:spcPts val="0"/>
              </a:spcAft>
              <a:buClr>
                <a:srgbClr val="444444"/>
              </a:buClr>
              <a:buSzPts val="1200"/>
              <a:buFont typeface="Calibri"/>
              <a:buNone/>
            </a:pPr>
            <a:r>
              <a:rPr lang="en-US" sz="1600" b="1" dirty="0">
                <a:solidFill>
                  <a:schemeClr val="dk1"/>
                </a:solidFill>
              </a:rPr>
              <a:t>•</a:t>
            </a:r>
            <a:r>
              <a:rPr lang="en-US" sz="1100" dirty="0">
                <a:solidFill>
                  <a:srgbClr val="444444"/>
                </a:solidFill>
              </a:rPr>
              <a:t> </a:t>
            </a:r>
            <a:r>
              <a:rPr lang="en-US" sz="1100" dirty="0" err="1">
                <a:solidFill>
                  <a:srgbClr val="444444"/>
                </a:solidFill>
              </a:rPr>
              <a:t>Modèle</a:t>
            </a:r>
            <a:r>
              <a:rPr lang="en-US" sz="1100" dirty="0">
                <a:solidFill>
                  <a:srgbClr val="444444"/>
                </a:solidFill>
              </a:rPr>
              <a:t> de clustering pour </a:t>
            </a:r>
            <a:r>
              <a:rPr lang="en-US" sz="1100" dirty="0" err="1">
                <a:solidFill>
                  <a:srgbClr val="444444"/>
                </a:solidFill>
              </a:rPr>
              <a:t>déterminer</a:t>
            </a:r>
            <a:r>
              <a:rPr lang="en-US" sz="1100" dirty="0">
                <a:solidFill>
                  <a:srgbClr val="444444"/>
                </a:solidFill>
              </a:rPr>
              <a:t> comment </a:t>
            </a:r>
            <a:r>
              <a:rPr lang="en-US" sz="1100" dirty="0" err="1">
                <a:solidFill>
                  <a:srgbClr val="444444"/>
                </a:solidFill>
              </a:rPr>
              <a:t>répartir</a:t>
            </a:r>
            <a:r>
              <a:rPr lang="en-US" sz="1100" dirty="0">
                <a:solidFill>
                  <a:srgbClr val="444444"/>
                </a:solidFill>
              </a:rPr>
              <a:t> le budget de </a:t>
            </a:r>
            <a:r>
              <a:rPr lang="en-US" sz="1100" dirty="0" err="1">
                <a:solidFill>
                  <a:srgbClr val="444444"/>
                </a:solidFill>
              </a:rPr>
              <a:t>sécurité</a:t>
            </a:r>
            <a:r>
              <a:rPr lang="en-US" sz="1100" dirty="0">
                <a:solidFill>
                  <a:srgbClr val="444444"/>
                </a:solidFill>
              </a:rPr>
              <a:t> </a:t>
            </a:r>
            <a:r>
              <a:rPr lang="en-US" sz="1100" dirty="0" err="1">
                <a:solidFill>
                  <a:srgbClr val="444444"/>
                </a:solidFill>
              </a:rPr>
              <a:t>routière</a:t>
            </a:r>
            <a:r>
              <a:rPr lang="en-US" sz="1100" dirty="0">
                <a:solidFill>
                  <a:srgbClr val="444444"/>
                </a:solidFill>
              </a:rPr>
              <a:t> par region/département</a:t>
            </a:r>
          </a:p>
        </p:txBody>
      </p:sp>
      <p:sp>
        <p:nvSpPr>
          <p:cNvPr id="335" name="Google Shape;335;p14"/>
          <p:cNvSpPr/>
          <p:nvPr/>
        </p:nvSpPr>
        <p:spPr>
          <a:xfrm>
            <a:off x="284625" y="922898"/>
            <a:ext cx="4114800" cy="411600"/>
          </a:xfrm>
          <a:prstGeom prst="rect">
            <a:avLst/>
          </a:prstGeom>
          <a:solidFill>
            <a:srgbClr val="1C4587"/>
          </a:solid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1400"/>
              <a:buFont typeface="Calibri"/>
              <a:buNone/>
            </a:pPr>
            <a:r>
              <a:rPr lang="en-US" b="1">
                <a:solidFill>
                  <a:schemeClr val="lt1"/>
                </a:solidFill>
                <a:latin typeface="Calibri"/>
                <a:ea typeface="Calibri"/>
                <a:cs typeface="Calibri"/>
                <a:sym typeface="Calibri"/>
              </a:rPr>
              <a:t>Intégration de données suppl. décisives</a:t>
            </a:r>
            <a:endParaRPr b="1">
              <a:solidFill>
                <a:schemeClr val="lt1"/>
              </a:solidFill>
              <a:latin typeface="Calibri"/>
              <a:ea typeface="Calibri"/>
              <a:cs typeface="Calibri"/>
              <a:sym typeface="Calibri"/>
            </a:endParaRPr>
          </a:p>
        </p:txBody>
      </p:sp>
      <p:sp>
        <p:nvSpPr>
          <p:cNvPr id="336" name="Google Shape;336;p14"/>
          <p:cNvSpPr/>
          <p:nvPr/>
        </p:nvSpPr>
        <p:spPr>
          <a:xfrm>
            <a:off x="4709150" y="917340"/>
            <a:ext cx="4114800" cy="411600"/>
          </a:xfrm>
          <a:prstGeom prst="rect">
            <a:avLst/>
          </a:prstGeom>
          <a:solidFill>
            <a:srgbClr val="1C4587"/>
          </a:solid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1400"/>
              <a:buFont typeface="Calibri"/>
              <a:buNone/>
            </a:pPr>
            <a:endParaRPr b="1">
              <a:solidFill>
                <a:schemeClr val="lt1"/>
              </a:solidFill>
              <a:latin typeface="Calibri"/>
              <a:ea typeface="Calibri"/>
              <a:cs typeface="Calibri"/>
              <a:sym typeface="Calibri"/>
            </a:endParaRPr>
          </a:p>
          <a:p>
            <a:pPr marL="0" marR="0" lvl="0" indent="0" algn="ctr" rtl="0">
              <a:spcBef>
                <a:spcPts val="0"/>
              </a:spcBef>
              <a:spcAft>
                <a:spcPts val="0"/>
              </a:spcAft>
              <a:buClr>
                <a:srgbClr val="0D1B2A"/>
              </a:buClr>
              <a:buSzPts val="1400"/>
              <a:buFont typeface="Calibri"/>
              <a:buNone/>
            </a:pPr>
            <a:r>
              <a:rPr lang="en-US" b="1">
                <a:solidFill>
                  <a:schemeClr val="lt1"/>
                </a:solidFill>
                <a:latin typeface="Calibri"/>
                <a:ea typeface="Calibri"/>
                <a:cs typeface="Calibri"/>
                <a:sym typeface="Calibri"/>
              </a:rPr>
              <a:t>Corrélation avec les dispositifs de contrôle</a:t>
            </a:r>
            <a:endParaRPr b="1">
              <a:solidFill>
                <a:schemeClr val="lt1"/>
              </a:solidFill>
              <a:latin typeface="Calibri"/>
              <a:ea typeface="Calibri"/>
              <a:cs typeface="Calibri"/>
              <a:sym typeface="Calibri"/>
            </a:endParaRPr>
          </a:p>
          <a:p>
            <a:pPr marL="0" marR="0" lvl="0" indent="0" algn="l" rtl="0">
              <a:spcBef>
                <a:spcPts val="0"/>
              </a:spcBef>
              <a:spcAft>
                <a:spcPts val="0"/>
              </a:spcAft>
              <a:buClr>
                <a:srgbClr val="0D1B2A"/>
              </a:buClr>
              <a:buSzPts val="1400"/>
              <a:buFont typeface="Calibri"/>
              <a:buNone/>
            </a:pPr>
            <a:endParaRPr b="1">
              <a:solidFill>
                <a:schemeClr val="lt1"/>
              </a:solidFill>
              <a:latin typeface="Calibri"/>
              <a:ea typeface="Calibri"/>
              <a:cs typeface="Calibri"/>
              <a:sym typeface="Calibri"/>
            </a:endParaRPr>
          </a:p>
        </p:txBody>
      </p:sp>
      <p:sp>
        <p:nvSpPr>
          <p:cNvPr id="338" name="Google Shape;338;p14"/>
          <p:cNvSpPr/>
          <p:nvPr/>
        </p:nvSpPr>
        <p:spPr>
          <a:xfrm>
            <a:off x="2577709" y="2763226"/>
            <a:ext cx="4114800" cy="411600"/>
          </a:xfrm>
          <a:prstGeom prst="rect">
            <a:avLst/>
          </a:prstGeom>
          <a:solidFill>
            <a:srgbClr val="1C4587"/>
          </a:solid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1400"/>
              <a:buFont typeface="Calibri"/>
              <a:buNone/>
            </a:pPr>
            <a:endParaRPr b="1" dirty="0">
              <a:solidFill>
                <a:schemeClr val="lt1"/>
              </a:solidFill>
              <a:latin typeface="Calibri"/>
              <a:ea typeface="Calibri"/>
              <a:cs typeface="Calibri"/>
              <a:sym typeface="Calibri"/>
            </a:endParaRPr>
          </a:p>
          <a:p>
            <a:pPr marL="0" marR="0" lvl="0" indent="0" algn="ctr" rtl="0">
              <a:spcBef>
                <a:spcPts val="0"/>
              </a:spcBef>
              <a:spcAft>
                <a:spcPts val="0"/>
              </a:spcAft>
              <a:buClr>
                <a:srgbClr val="0D1B2A"/>
              </a:buClr>
              <a:buSzPts val="1400"/>
              <a:buFont typeface="Calibri"/>
              <a:buNone/>
            </a:pPr>
            <a:r>
              <a:rPr lang="en-US" b="1" dirty="0">
                <a:solidFill>
                  <a:schemeClr val="lt1"/>
                </a:solidFill>
                <a:latin typeface="Calibri"/>
                <a:ea typeface="Calibri"/>
                <a:cs typeface="Calibri"/>
                <a:sym typeface="Calibri"/>
              </a:rPr>
              <a:t>Mise </a:t>
            </a:r>
            <a:r>
              <a:rPr lang="en-US" b="1" dirty="0" err="1">
                <a:solidFill>
                  <a:schemeClr val="lt1"/>
                </a:solidFill>
                <a:latin typeface="Calibri"/>
                <a:ea typeface="Calibri"/>
                <a:cs typeface="Calibri"/>
                <a:sym typeface="Calibri"/>
              </a:rPr>
              <a:t>en</a:t>
            </a:r>
            <a:r>
              <a:rPr lang="en-US" b="1" dirty="0">
                <a:solidFill>
                  <a:schemeClr val="lt1"/>
                </a:solidFill>
                <a:latin typeface="Calibri"/>
                <a:ea typeface="Calibri"/>
                <a:cs typeface="Calibri"/>
                <a:sym typeface="Calibri"/>
              </a:rPr>
              <a:t> place d’un </a:t>
            </a:r>
            <a:r>
              <a:rPr lang="en-US" b="1" dirty="0" err="1">
                <a:solidFill>
                  <a:schemeClr val="lt1"/>
                </a:solidFill>
                <a:latin typeface="Calibri"/>
                <a:ea typeface="Calibri"/>
                <a:cs typeface="Calibri"/>
                <a:sym typeface="Calibri"/>
              </a:rPr>
              <a:t>modèle</a:t>
            </a:r>
            <a:r>
              <a:rPr lang="en-US" b="1" dirty="0">
                <a:solidFill>
                  <a:schemeClr val="lt1"/>
                </a:solidFill>
                <a:latin typeface="Calibri"/>
                <a:ea typeface="Calibri"/>
                <a:cs typeface="Calibri"/>
                <a:sym typeface="Calibri"/>
              </a:rPr>
              <a:t> de ML</a:t>
            </a:r>
            <a:endParaRPr b="1" dirty="0">
              <a:solidFill>
                <a:schemeClr val="lt1"/>
              </a:solidFill>
              <a:latin typeface="Calibri"/>
              <a:ea typeface="Calibri"/>
              <a:cs typeface="Calibri"/>
              <a:sym typeface="Calibri"/>
            </a:endParaRPr>
          </a:p>
          <a:p>
            <a:pPr marL="0" marR="0" lvl="0" indent="0" algn="l" rtl="0">
              <a:spcBef>
                <a:spcPts val="0"/>
              </a:spcBef>
              <a:spcAft>
                <a:spcPts val="0"/>
              </a:spcAft>
              <a:buClr>
                <a:srgbClr val="0D1B2A"/>
              </a:buClr>
              <a:buSzPts val="1400"/>
              <a:buFont typeface="Calibri"/>
              <a:buNone/>
            </a:pPr>
            <a:endParaRPr b="1" dirty="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343"/>
        <p:cNvGrpSpPr/>
        <p:nvPr/>
      </p:nvGrpSpPr>
      <p:grpSpPr>
        <a:xfrm>
          <a:off x="0" y="0"/>
          <a:ext cx="0" cy="0"/>
          <a:chOff x="0" y="0"/>
          <a:chExt cx="0" cy="0"/>
        </a:xfrm>
      </p:grpSpPr>
      <p:sp>
        <p:nvSpPr>
          <p:cNvPr id="344" name="Google Shape;344;g3d98e0c5024_2_36"/>
          <p:cNvSpPr txBox="1"/>
          <p:nvPr/>
        </p:nvSpPr>
        <p:spPr>
          <a:xfrm>
            <a:off x="1296500" y="1211450"/>
            <a:ext cx="5815800" cy="273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5300" b="1">
                <a:solidFill>
                  <a:schemeClr val="lt1"/>
                </a:solidFill>
                <a:latin typeface="Calibri"/>
                <a:ea typeface="Calibri"/>
                <a:cs typeface="Calibri"/>
                <a:sym typeface="Calibri"/>
              </a:rPr>
              <a:t>Merci</a:t>
            </a:r>
            <a:endParaRPr sz="5300" b="1">
              <a:solidFill>
                <a:schemeClr val="lt1"/>
              </a:solidFill>
              <a:latin typeface="Calibri"/>
              <a:ea typeface="Calibri"/>
              <a:cs typeface="Calibri"/>
              <a:sym typeface="Calibri"/>
            </a:endParaRPr>
          </a:p>
          <a:p>
            <a:pPr marL="0" lvl="0" indent="0" algn="l" rtl="0">
              <a:spcBef>
                <a:spcPts val="0"/>
              </a:spcBef>
              <a:spcAft>
                <a:spcPts val="0"/>
              </a:spcAft>
              <a:buNone/>
            </a:pPr>
            <a:endParaRPr sz="5300" b="1">
              <a:solidFill>
                <a:schemeClr val="lt1"/>
              </a:solidFill>
              <a:latin typeface="Calibri"/>
              <a:ea typeface="Calibri"/>
              <a:cs typeface="Calibri"/>
              <a:sym typeface="Calibri"/>
            </a:endParaRPr>
          </a:p>
          <a:p>
            <a:pPr marL="0" lvl="0" indent="0" algn="l" rtl="0">
              <a:spcBef>
                <a:spcPts val="0"/>
              </a:spcBef>
              <a:spcAft>
                <a:spcPts val="0"/>
              </a:spcAft>
              <a:buNone/>
            </a:pPr>
            <a:r>
              <a:rPr lang="en-US" sz="3700">
                <a:solidFill>
                  <a:srgbClr val="F1C40F"/>
                </a:solidFill>
                <a:latin typeface="Calibri"/>
                <a:ea typeface="Calibri"/>
                <a:cs typeface="Calibri"/>
                <a:sym typeface="Calibri"/>
              </a:rPr>
              <a:t>Des questions? </a:t>
            </a:r>
            <a:endParaRPr sz="5300" b="1">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5620</TotalTime>
  <Words>1924</Words>
  <Application>Microsoft Office PowerPoint</Application>
  <PresentationFormat>Affichage à l'écran (16:9)</PresentationFormat>
  <Paragraphs>227</Paragraphs>
  <Slides>14</Slides>
  <Notes>14</Notes>
  <HiddenSlides>0</HiddenSlides>
  <MMClips>1</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14</vt:i4>
      </vt:variant>
    </vt:vector>
  </HeadingPairs>
  <TitlesOfParts>
    <vt:vector size="18" baseType="lpstr">
      <vt:lpstr>Arial</vt:lpstr>
      <vt:lpstr>Calibri</vt:lpstr>
      <vt:lpstr>Google Sans Text</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Paul Merieux</cp:lastModifiedBy>
  <cp:revision>6</cp:revision>
  <dcterms:created xsi:type="dcterms:W3CDTF">2026-04-24T06:01:39Z</dcterms:created>
  <dcterms:modified xsi:type="dcterms:W3CDTF">2026-07-06T11:02:13Z</dcterms:modified>
</cp:coreProperties>
</file>